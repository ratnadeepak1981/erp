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3" d="100"/>
          <a:sy n="113" d="100"/>
        </p:scale>
        <p:origin x="47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375752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proposal as a cloud-based, subscription-controlled ERP SaaS platform for small and medium-sized Sri Lankan businesses. The core product combines tenant and subscription management with Purchasing, Inventory and Sales. Manufacturing is optional, and AI business intelligence is a future enhancement. The phrase intelligent decisions tomorrow deliberately separates what the BRD defines as the first operational scope from later AI ambitions.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the BRD targets Sri Lankan SMEs operating in sectors such as wholesale, distribution, retail, hardware, industrial supplies, and import/export. There are three needs highlighted by the documents: connected workflow records, better supply-chain visibility, and decision support. Do not state that all named competitors lack these features; those comparisons were not independently verified. The AI capabilities shown here are future objectives rather than an existing deployed product.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 the product in three layers. At the bottom, the mandatory SaaS Platform and Subscription Management establish tenants, accounts, security, entitlements, usage limits and plans. The core business offering has Purchasing, Inventory and Sales. Manufacturing is an optional subscription add-on, while AI Business Intelligence and agents will be introduced progressively. Exact subscription plan names, allowances and prices are not defined by the documents, so this slide intentionally omits pricing.</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operational process in one example. The business raises a purchase requisition; after approval it becomes a purchase order. When products arrive, the goods receipt note records actual received quantities, including partial receipts. Inventory tracks warehouse locations, receipts, transfers and adjustments. The Sales module accepts customer orders, checks availability, reserves stock and manages picking and dispatch. Traceable stock movements and reports join these flows together. StockLedger is the inventory movement record; this is an illustrative explanation of the BRD's stock movement history requirement.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addresses the SaaS business model and critical security requirements. Multiple customer organisations use the common platform, but tenant, company and branch permissions must be enforced on the backend. Each customer's subscription controls access to protected modules, feature entitlements and usage limits. The design permits shared or dedicated database deployment based on applicable plans and technical needs. Tenant activation, suspension, provisioning, security-sensitive audit trails, backup and recovery are explicit platform requirements.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all five products discussed in the USP file: Profit Plus, AccSoft ERP, Enhanzer eZuite, Specta Solutions and ERPNext via a local implementation partner. State the existing-market strength reported in the supplied document, then explain the proposed differentiation. These are positioning claims from a project document, not independently audited competitor comparisons. It would be inappropriate to claim that no competitor offers these features without market validation. Some concepts, including trilingual engagement and detailed margin guard, exceed the first implementation scope in the BRD.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frontend is Angular, and the authoritative business engine is .NET / ASP.NET Core. The BRD separates PlatformDB, SecurityDB, and DomainDB for platform, access-control and ERP transaction data. Python / FastAPI services form a separate AI foundation. The critical rule is that AI obtains information through authenticated .NET APIs and never connects directly to the protected databases. Initially AI is advisory and read-only: it can analyse stock shortages or recommend replenishment, but cannot independently authorise purchasing or inventory transactions. Profit Leak Guard and What-if Simulation come from the separate USP document and must be scheduled as future concepts, not initial completed functionality.</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delivery sequence defined by the BRD. First establish the SaaS foundation and subscription enforcement. Then implement Purchasing, Inventory, Sales and associated reporting. Only after reliable data and APIs are in place should the shared AI foundation, assistant and inventory intelligence be introduced. Manufacturing remains a separately subscribed optional capability according to business readiness. Success means secure tenant registration and permissions, correctly enforced entitlements, authorised end-to-end workflows, traceable stock balances, working reports, AI respect for permissions and automated tests. Finance/General Ledger, accounts payable/receivable, payroll, advanced manufacturing and autonomous AI execution are outside the initial scope. No specific timeline or pricing has been approved in the source documents.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ASE">
    <p:bg>
      <p:bgPr>
        <a:solidFill>
          <a:srgbClr val="0A1323"/>
        </a:solidFill>
        <a:effectLst/>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84280" y="6519672"/>
            <a:ext cx="800000" cy="300000"/>
          </a:xfrm>
          <a:prstGeom prst="rect">
            <a:avLst/>
          </a:prstGeom>
          <a:extLst>
            <a:ext uri="{C572A759-6A51-4108-AA02-DFA0A04FC94B}">
              <ma14:wrappingTextBoxFlag xmlns="" xmlns:ma14="http://schemas.microsoft.com/office/mac/drawingml/2011/main" val="0"/>
            </a:ext>
          </a:extLst>
        </p:spPr>
        <p:txBody>
          <a:bodyPr/>
          <a:lstStyle>
            <a:lvl1pPr>
              <a:defRPr sz="800">
                <a:solidFill>
                  <a:srgbClr val="8EA0B9"/>
                </a:solidFill>
                <a:latin typeface="Inter"/>
                <a:ea typeface="Inter"/>
                <a:cs typeface="Inter"/>
              </a:defRPr>
            </a:lvl1pPr>
          </a:lstStyle>
          <a:p>
            <a:pPr algn="l"/>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84280" y="6519672"/>
            <a:ext cx="800000" cy="300000"/>
          </a:xfrm>
          <a:prstGeom prst="rect">
            <a:avLst/>
          </a:prstGeom>
          <a:extLst>
            <a:ext uri="{C572A759-6A51-4108-AA02-DFA0A04FC94B}">
              <ma14:wrappingTextBoxFlag xmlns="" xmlns:ma14="http://schemas.microsoft.com/office/mac/drawingml/2011/main" val="0"/>
            </a:ext>
          </a:extLst>
        </p:spPr>
        <p:txBody>
          <a:bodyPr/>
          <a:lstStyle>
            <a:lvl1pPr>
              <a:defRPr sz="800">
                <a:solidFill>
                  <a:srgbClr val="8EA0B9"/>
                </a:solidFill>
                <a:latin typeface="Inter"/>
                <a:ea typeface="Inter"/>
                <a:cs typeface="Inter"/>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7.png"/><Relationship Id="rId7"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image" Target="../media/image8.png"/><Relationship Id="rId9" Type="http://schemas.openxmlformats.org/officeDocument/2006/relationships/image" Target="../media/image11.png"/></Relationships>
</file>

<file path=ppt/slides/_rels/slide4.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 Id="rId9" Type="http://schemas.openxmlformats.org/officeDocument/2006/relationships/image" Target="../media/image18.png"/></Relationships>
</file>

<file path=ppt/slides/_rels/slide5.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21.png"/><Relationship Id="rId10" Type="http://schemas.openxmlformats.org/officeDocument/2006/relationships/image" Target="../media/image26.png"/><Relationship Id="rId4" Type="http://schemas.openxmlformats.org/officeDocument/2006/relationships/image" Target="../media/image20.png"/><Relationship Id="rId9" Type="http://schemas.openxmlformats.org/officeDocument/2006/relationships/image" Target="../media/image25.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7.png"/><Relationship Id="rId7" Type="http://schemas.openxmlformats.org/officeDocument/2006/relationships/image" Target="../media/image29.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22.png"/><Relationship Id="rId4" Type="http://schemas.openxmlformats.org/officeDocument/2006/relationships/image" Target="../media/image28.png"/></Relationships>
</file>

<file path=ppt/slides/_rels/slide8.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30.png"/><Relationship Id="rId7"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32.png"/><Relationship Id="rId4" Type="http://schemas.openxmlformats.org/officeDocument/2006/relationships/image" Target="../media/image31.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323"/>
        </a:solidFill>
        <a:effectLst/>
      </p:bgPr>
    </p:bg>
    <p:spTree>
      <p:nvGrpSpPr>
        <p:cNvPr id="1" name=""/>
        <p:cNvGrpSpPr/>
        <p:nvPr/>
      </p:nvGrpSpPr>
      <p:grpSpPr>
        <a:xfrm>
          <a:off x="0" y="0"/>
          <a:ext cx="0" cy="0"/>
          <a:chOff x="0" y="0"/>
          <a:chExt cx="0" cy="0"/>
        </a:xfrm>
      </p:grpSpPr>
      <p:sp>
        <p:nvSpPr>
          <p:cNvPr id="2" name="Shape 0"/>
          <p:cNvSpPr/>
          <p:nvPr/>
        </p:nvSpPr>
        <p:spPr>
          <a:xfrm>
            <a:off x="0" y="0"/>
            <a:ext cx="123444" cy="6858000"/>
          </a:xfrm>
          <a:prstGeom prst="rect">
            <a:avLst/>
          </a:prstGeom>
          <a:solidFill>
            <a:srgbClr val="2CD7C4"/>
          </a:solidFill>
          <a:ln w="12700">
            <a:solidFill>
              <a:srgbClr val="FFFFFF">
                <a:alpha val="0"/>
              </a:srgbClr>
            </a:solidFill>
            <a:prstDash val="solid"/>
          </a:ln>
        </p:spPr>
      </p:sp>
      <p:sp>
        <p:nvSpPr>
          <p:cNvPr id="3" name="Shape 1"/>
          <p:cNvSpPr/>
          <p:nvPr/>
        </p:nvSpPr>
        <p:spPr>
          <a:xfrm>
            <a:off x="6958584" y="630936"/>
            <a:ext cx="5138928" cy="5138928"/>
          </a:xfrm>
          <a:prstGeom prst="ellipse">
            <a:avLst/>
          </a:prstGeom>
          <a:solidFill>
            <a:srgbClr val="0A1323">
              <a:alpha val="0"/>
            </a:srgbClr>
          </a:solidFill>
          <a:ln w="17780">
            <a:solidFill>
              <a:srgbClr val="234162"/>
            </a:solidFill>
            <a:prstDash val="solid"/>
          </a:ln>
        </p:spPr>
      </p:sp>
      <p:sp>
        <p:nvSpPr>
          <p:cNvPr id="4" name="Shape 2"/>
          <p:cNvSpPr/>
          <p:nvPr/>
        </p:nvSpPr>
        <p:spPr>
          <a:xfrm>
            <a:off x="7424928" y="1097280"/>
            <a:ext cx="4206240" cy="4206240"/>
          </a:xfrm>
          <a:prstGeom prst="ellipse">
            <a:avLst/>
          </a:prstGeom>
          <a:solidFill>
            <a:srgbClr val="0A1323">
              <a:alpha val="0"/>
            </a:srgbClr>
          </a:solidFill>
          <a:ln w="15240">
            <a:solidFill>
              <a:srgbClr val="315477"/>
            </a:solidFill>
            <a:prstDash val="solid"/>
          </a:ln>
        </p:spPr>
      </p:sp>
      <p:sp>
        <p:nvSpPr>
          <p:cNvPr id="5" name="Shape 3"/>
          <p:cNvSpPr/>
          <p:nvPr/>
        </p:nvSpPr>
        <p:spPr>
          <a:xfrm>
            <a:off x="7955280" y="1618488"/>
            <a:ext cx="3163824" cy="3163824"/>
          </a:xfrm>
          <a:prstGeom prst="ellipse">
            <a:avLst/>
          </a:prstGeom>
          <a:solidFill>
            <a:srgbClr val="0A1323">
              <a:alpha val="0"/>
            </a:srgbClr>
          </a:solidFill>
          <a:ln w="16510">
            <a:solidFill>
              <a:srgbClr val="3D6F8B"/>
            </a:solidFill>
            <a:prstDash val="solid"/>
          </a:ln>
        </p:spPr>
      </p:sp>
      <p:sp>
        <p:nvSpPr>
          <p:cNvPr id="6" name="Shape 4"/>
          <p:cNvSpPr/>
          <p:nvPr/>
        </p:nvSpPr>
        <p:spPr>
          <a:xfrm>
            <a:off x="8531352" y="2194560"/>
            <a:ext cx="1984248" cy="1984248"/>
          </a:xfrm>
          <a:prstGeom prst="ellipse">
            <a:avLst/>
          </a:prstGeom>
          <a:solidFill>
            <a:srgbClr val="112D42"/>
          </a:solidFill>
          <a:ln w="22860">
            <a:solidFill>
              <a:srgbClr val="2CD7C4"/>
            </a:solidFill>
            <a:prstDash val="solid"/>
          </a:ln>
        </p:spPr>
      </p:sp>
      <p:sp>
        <p:nvSpPr>
          <p:cNvPr id="7" name="Shape 5"/>
          <p:cNvSpPr/>
          <p:nvPr/>
        </p:nvSpPr>
        <p:spPr>
          <a:xfrm>
            <a:off x="8887968" y="2551176"/>
            <a:ext cx="1271016" cy="1271016"/>
          </a:xfrm>
          <a:prstGeom prst="ellipse">
            <a:avLst/>
          </a:prstGeom>
          <a:solidFill>
            <a:srgbClr val="1A4455"/>
          </a:solidFill>
          <a:ln w="13970">
            <a:solidFill>
              <a:srgbClr val="518BFF"/>
            </a:solidFill>
            <a:prstDash val="solid"/>
          </a:ln>
        </p:spPr>
      </p:sp>
      <p:sp>
        <p:nvSpPr>
          <p:cNvPr id="8" name="Text 6"/>
          <p:cNvSpPr/>
          <p:nvPr/>
        </p:nvSpPr>
        <p:spPr>
          <a:xfrm>
            <a:off x="9079992" y="2926080"/>
            <a:ext cx="896112" cy="448056"/>
          </a:xfrm>
          <a:prstGeom prst="rect">
            <a:avLst/>
          </a:prstGeom>
          <a:noFill/>
          <a:ln/>
        </p:spPr>
        <p:txBody>
          <a:bodyPr wrap="square" lIns="0" tIns="0" rIns="0" bIns="0" rtlCol="0" anchor="ctr">
            <a:normAutofit/>
          </a:bodyPr>
          <a:lstStyle/>
          <a:p>
            <a:pPr marL="0" indent="0" algn="ctr">
              <a:buNone/>
            </a:pPr>
            <a:r>
              <a:rPr lang="en-US" sz="2900" b="1" dirty="0">
                <a:solidFill>
                  <a:srgbClr val="FFFFFF"/>
                </a:solidFill>
                <a:latin typeface="Inter Display" pitchFamily="34" charset="0"/>
                <a:ea typeface="Inter Display" pitchFamily="34" charset="-122"/>
                <a:cs typeface="Inter Display" pitchFamily="34" charset="-120"/>
              </a:rPr>
              <a:t>ERP</a:t>
            </a:r>
            <a:endParaRPr lang="en-US" sz="2900" dirty="0"/>
          </a:p>
        </p:txBody>
      </p:sp>
      <p:sp>
        <p:nvSpPr>
          <p:cNvPr id="9" name="Shape 7"/>
          <p:cNvSpPr/>
          <p:nvPr/>
        </p:nvSpPr>
        <p:spPr>
          <a:xfrm>
            <a:off x="8412480" y="2011680"/>
            <a:ext cx="0" cy="0"/>
          </a:xfrm>
          <a:prstGeom prst="line">
            <a:avLst/>
          </a:prstGeom>
          <a:noFill/>
          <a:ln w="15240">
            <a:solidFill>
              <a:srgbClr val="2B5577"/>
            </a:solidFill>
            <a:prstDash val="solid"/>
          </a:ln>
        </p:spPr>
      </p:sp>
      <p:sp>
        <p:nvSpPr>
          <p:cNvPr id="10" name="Shape 8"/>
          <p:cNvSpPr/>
          <p:nvPr/>
        </p:nvSpPr>
        <p:spPr>
          <a:xfrm>
            <a:off x="10497312" y="2880360"/>
            <a:ext cx="539496" cy="0"/>
          </a:xfrm>
          <a:prstGeom prst="line">
            <a:avLst/>
          </a:prstGeom>
          <a:noFill/>
          <a:ln w="15240">
            <a:solidFill>
              <a:srgbClr val="2B5577"/>
            </a:solidFill>
            <a:prstDash val="solid"/>
          </a:ln>
        </p:spPr>
      </p:sp>
      <p:sp>
        <p:nvSpPr>
          <p:cNvPr id="11" name="Shape 9"/>
          <p:cNvSpPr/>
          <p:nvPr/>
        </p:nvSpPr>
        <p:spPr>
          <a:xfrm>
            <a:off x="9454896" y="4197096"/>
            <a:ext cx="905256" cy="804672"/>
          </a:xfrm>
          <a:prstGeom prst="line">
            <a:avLst/>
          </a:prstGeom>
          <a:noFill/>
          <a:ln w="15240">
            <a:solidFill>
              <a:srgbClr val="2B5577"/>
            </a:solidFill>
            <a:prstDash val="solid"/>
          </a:ln>
        </p:spPr>
      </p:sp>
      <p:sp>
        <p:nvSpPr>
          <p:cNvPr id="12" name="Shape 10"/>
          <p:cNvSpPr/>
          <p:nvPr/>
        </p:nvSpPr>
        <p:spPr>
          <a:xfrm>
            <a:off x="6858000" y="1014984"/>
            <a:ext cx="1856232" cy="566928"/>
          </a:xfrm>
          <a:prstGeom prst="roundRect">
            <a:avLst>
              <a:gd name="adj" fmla="val 25806"/>
            </a:avLst>
          </a:prstGeom>
          <a:solidFill>
            <a:srgbClr val="172B44"/>
          </a:solidFill>
          <a:ln w="10160">
            <a:solidFill>
              <a:srgbClr val="2F5171"/>
            </a:solidFill>
            <a:prstDash val="solid"/>
          </a:ln>
        </p:spPr>
      </p:sp>
      <p:pic>
        <p:nvPicPr>
          <p:cNvPr id="13" name="Image 0" descr="/mnt/data/erp_deck_assets/faCartShopping_2CD7C4.png"/>
          <p:cNvPicPr>
            <a:picLocks noChangeAspect="1"/>
          </p:cNvPicPr>
          <p:nvPr/>
        </p:nvPicPr>
        <p:blipFill>
          <a:blip r:embed="rId3"/>
          <a:stretch>
            <a:fillRect/>
          </a:stretch>
        </p:blipFill>
        <p:spPr>
          <a:xfrm>
            <a:off x="6995160" y="1188720"/>
            <a:ext cx="210312" cy="210312"/>
          </a:xfrm>
          <a:prstGeom prst="rect">
            <a:avLst/>
          </a:prstGeom>
        </p:spPr>
      </p:pic>
      <p:sp>
        <p:nvSpPr>
          <p:cNvPr id="14" name="Text 11"/>
          <p:cNvSpPr/>
          <p:nvPr/>
        </p:nvSpPr>
        <p:spPr>
          <a:xfrm>
            <a:off x="7278624" y="1161288"/>
            <a:ext cx="1380744" cy="283464"/>
          </a:xfrm>
          <a:prstGeom prst="rect">
            <a:avLst/>
          </a:prstGeom>
          <a:noFill/>
          <a:ln/>
        </p:spPr>
        <p:txBody>
          <a:bodyPr wrap="square" lIns="0" tIns="0" rIns="0" bIns="0" rtlCol="0" anchor="ctr">
            <a:normAutofit/>
          </a:bodyPr>
          <a:lstStyle/>
          <a:p>
            <a:pPr marL="0" indent="0" algn="l">
              <a:buNone/>
            </a:pPr>
            <a:r>
              <a:rPr lang="en-US" sz="920" b="1" kern="0" spc="60" dirty="0">
                <a:solidFill>
                  <a:srgbClr val="FFFFFF"/>
                </a:solidFill>
                <a:latin typeface="Inter" pitchFamily="34" charset="0"/>
                <a:ea typeface="Inter" pitchFamily="34" charset="-122"/>
                <a:cs typeface="Inter" pitchFamily="34" charset="-120"/>
              </a:rPr>
              <a:t>PURCHASING</a:t>
            </a:r>
            <a:endParaRPr lang="en-US" sz="920" dirty="0"/>
          </a:p>
        </p:txBody>
      </p:sp>
      <p:sp>
        <p:nvSpPr>
          <p:cNvPr id="15" name="Shape 12"/>
          <p:cNvSpPr/>
          <p:nvPr/>
        </p:nvSpPr>
        <p:spPr>
          <a:xfrm>
            <a:off x="10415016" y="1938528"/>
            <a:ext cx="1536192" cy="566928"/>
          </a:xfrm>
          <a:prstGeom prst="roundRect">
            <a:avLst>
              <a:gd name="adj" fmla="val 25806"/>
            </a:avLst>
          </a:prstGeom>
          <a:solidFill>
            <a:srgbClr val="172B44"/>
          </a:solidFill>
          <a:ln w="10160">
            <a:solidFill>
              <a:srgbClr val="2F5171"/>
            </a:solidFill>
            <a:prstDash val="solid"/>
          </a:ln>
        </p:spPr>
      </p:sp>
      <p:pic>
        <p:nvPicPr>
          <p:cNvPr id="16" name="Image 1" descr="/mnt/data/erp_deck_assets/faWarehouse_2CD7C4.png"/>
          <p:cNvPicPr>
            <a:picLocks noChangeAspect="1"/>
          </p:cNvPicPr>
          <p:nvPr/>
        </p:nvPicPr>
        <p:blipFill>
          <a:blip r:embed="rId4"/>
          <a:stretch>
            <a:fillRect/>
          </a:stretch>
        </p:blipFill>
        <p:spPr>
          <a:xfrm>
            <a:off x="10552176" y="2112264"/>
            <a:ext cx="210312" cy="210312"/>
          </a:xfrm>
          <a:prstGeom prst="rect">
            <a:avLst/>
          </a:prstGeom>
        </p:spPr>
      </p:pic>
      <p:sp>
        <p:nvSpPr>
          <p:cNvPr id="17" name="Text 13"/>
          <p:cNvSpPr/>
          <p:nvPr/>
        </p:nvSpPr>
        <p:spPr>
          <a:xfrm>
            <a:off x="10835640" y="2084832"/>
            <a:ext cx="1060704" cy="283464"/>
          </a:xfrm>
          <a:prstGeom prst="rect">
            <a:avLst/>
          </a:prstGeom>
          <a:noFill/>
          <a:ln/>
        </p:spPr>
        <p:txBody>
          <a:bodyPr wrap="square" lIns="0" tIns="0" rIns="0" bIns="0" rtlCol="0" anchor="ctr">
            <a:normAutofit/>
          </a:bodyPr>
          <a:lstStyle/>
          <a:p>
            <a:pPr marL="0" indent="0" algn="l">
              <a:buNone/>
            </a:pPr>
            <a:r>
              <a:rPr lang="en-US" sz="920" b="1" kern="0" spc="60" dirty="0">
                <a:solidFill>
                  <a:srgbClr val="FFFFFF"/>
                </a:solidFill>
                <a:latin typeface="Inter" pitchFamily="34" charset="0"/>
                <a:ea typeface="Inter" pitchFamily="34" charset="-122"/>
                <a:cs typeface="Inter" pitchFamily="34" charset="-120"/>
              </a:rPr>
              <a:t>INVENTORY</a:t>
            </a:r>
            <a:endParaRPr lang="en-US" sz="920" dirty="0"/>
          </a:p>
        </p:txBody>
      </p:sp>
      <p:sp>
        <p:nvSpPr>
          <p:cNvPr id="18" name="Shape 14"/>
          <p:cNvSpPr/>
          <p:nvPr/>
        </p:nvSpPr>
        <p:spPr>
          <a:xfrm>
            <a:off x="9784080" y="4782312"/>
            <a:ext cx="1728216" cy="566928"/>
          </a:xfrm>
          <a:prstGeom prst="roundRect">
            <a:avLst>
              <a:gd name="adj" fmla="val 25806"/>
            </a:avLst>
          </a:prstGeom>
          <a:solidFill>
            <a:srgbClr val="172B44"/>
          </a:solidFill>
          <a:ln w="10160">
            <a:solidFill>
              <a:srgbClr val="2F5171"/>
            </a:solidFill>
            <a:prstDash val="solid"/>
          </a:ln>
        </p:spPr>
      </p:sp>
      <p:pic>
        <p:nvPicPr>
          <p:cNvPr id="19" name="Image 2" descr="/mnt/data/erp_deck_assets/faArrowTrendUp_FFC36A.png"/>
          <p:cNvPicPr>
            <a:picLocks noChangeAspect="1"/>
          </p:cNvPicPr>
          <p:nvPr/>
        </p:nvPicPr>
        <p:blipFill>
          <a:blip r:embed="rId5"/>
          <a:stretch>
            <a:fillRect/>
          </a:stretch>
        </p:blipFill>
        <p:spPr>
          <a:xfrm>
            <a:off x="9921240" y="4956048"/>
            <a:ext cx="210312" cy="210312"/>
          </a:xfrm>
          <a:prstGeom prst="rect">
            <a:avLst/>
          </a:prstGeom>
        </p:spPr>
      </p:pic>
      <p:sp>
        <p:nvSpPr>
          <p:cNvPr id="20" name="Text 15"/>
          <p:cNvSpPr/>
          <p:nvPr/>
        </p:nvSpPr>
        <p:spPr>
          <a:xfrm>
            <a:off x="10204704" y="4928616"/>
            <a:ext cx="1252728" cy="283464"/>
          </a:xfrm>
          <a:prstGeom prst="rect">
            <a:avLst/>
          </a:prstGeom>
          <a:noFill/>
          <a:ln/>
        </p:spPr>
        <p:txBody>
          <a:bodyPr wrap="square" lIns="0" tIns="0" rIns="0" bIns="0" rtlCol="0" anchor="ctr">
            <a:normAutofit/>
          </a:bodyPr>
          <a:lstStyle/>
          <a:p>
            <a:pPr marL="0" indent="0" algn="l">
              <a:buNone/>
            </a:pPr>
            <a:r>
              <a:rPr lang="en-US" sz="920" b="1" kern="0" spc="60" dirty="0">
                <a:solidFill>
                  <a:srgbClr val="FFFFFF"/>
                </a:solidFill>
                <a:latin typeface="Inter" pitchFamily="34" charset="0"/>
                <a:ea typeface="Inter" pitchFamily="34" charset="-122"/>
                <a:cs typeface="Inter" pitchFamily="34" charset="-120"/>
              </a:rPr>
              <a:t>SALES</a:t>
            </a:r>
            <a:endParaRPr lang="en-US" sz="920" dirty="0"/>
          </a:p>
        </p:txBody>
      </p:sp>
      <p:sp>
        <p:nvSpPr>
          <p:cNvPr id="21" name="Shape 16"/>
          <p:cNvSpPr/>
          <p:nvPr/>
        </p:nvSpPr>
        <p:spPr>
          <a:xfrm>
            <a:off x="704088" y="612648"/>
            <a:ext cx="2468880" cy="301752"/>
          </a:xfrm>
          <a:prstGeom prst="roundRect">
            <a:avLst>
              <a:gd name="adj" fmla="val 42424"/>
            </a:avLst>
          </a:prstGeom>
          <a:solidFill>
            <a:srgbClr val="16273F"/>
          </a:solidFill>
          <a:ln w="12700">
            <a:solidFill>
              <a:srgbClr val="FFFFFF">
                <a:alpha val="0"/>
              </a:srgbClr>
            </a:solidFill>
            <a:prstDash val="solid"/>
          </a:ln>
        </p:spPr>
      </p:sp>
      <p:sp>
        <p:nvSpPr>
          <p:cNvPr id="22" name="Text 17"/>
          <p:cNvSpPr/>
          <p:nvPr/>
        </p:nvSpPr>
        <p:spPr>
          <a:xfrm>
            <a:off x="813816" y="621792"/>
            <a:ext cx="2249424" cy="283464"/>
          </a:xfrm>
          <a:prstGeom prst="rect">
            <a:avLst/>
          </a:prstGeom>
          <a:noFill/>
          <a:ln/>
        </p:spPr>
        <p:txBody>
          <a:bodyPr wrap="square" lIns="0" tIns="0" rIns="0" bIns="0" rtlCol="0" anchor="ctr">
            <a:normAutofit/>
          </a:bodyPr>
          <a:lstStyle/>
          <a:p>
            <a:pPr marL="0" indent="0" algn="l">
              <a:buNone/>
            </a:pPr>
            <a:r>
              <a:rPr lang="en-US" sz="915" b="1" kern="0" spc="55" dirty="0">
                <a:solidFill>
                  <a:srgbClr val="2CD7C4"/>
                </a:solidFill>
                <a:latin typeface="Inter" pitchFamily="34" charset="0"/>
                <a:ea typeface="Inter" pitchFamily="34" charset="-122"/>
                <a:cs typeface="Inter" pitchFamily="34" charset="-120"/>
              </a:rPr>
              <a:t>STRATEGY / PRODUCT CONCEPT</a:t>
            </a:r>
            <a:endParaRPr lang="en-US" sz="915" dirty="0"/>
          </a:p>
        </p:txBody>
      </p:sp>
      <p:sp>
        <p:nvSpPr>
          <p:cNvPr id="23" name="Text 18"/>
          <p:cNvSpPr/>
          <p:nvPr/>
        </p:nvSpPr>
        <p:spPr>
          <a:xfrm>
            <a:off x="685800" y="1399032"/>
            <a:ext cx="5980176" cy="2395728"/>
          </a:xfrm>
          <a:prstGeom prst="rect">
            <a:avLst/>
          </a:prstGeom>
          <a:noFill/>
          <a:ln/>
        </p:spPr>
        <p:txBody>
          <a:bodyPr wrap="square" lIns="0" tIns="0" rIns="0" bIns="0" rtlCol="0" anchor="ctr">
            <a:normAutofit/>
          </a:bodyPr>
          <a:lstStyle/>
          <a:p>
            <a:pPr marL="0" indent="0" algn="l">
              <a:buNone/>
            </a:pPr>
            <a:r>
              <a:rPr lang="en-US" sz="4300" b="1" dirty="0">
                <a:solidFill>
                  <a:srgbClr val="FFFFFF"/>
                </a:solidFill>
                <a:latin typeface="Inter Display" pitchFamily="34" charset="0"/>
                <a:ea typeface="Inter Display" pitchFamily="34" charset="-122"/>
                <a:cs typeface="Inter Display" pitchFamily="34" charset="-120"/>
              </a:rPr>
              <a:t>AI-Powered</a:t>
            </a:r>
            <a:endParaRPr lang="en-US" sz="4300" dirty="0"/>
          </a:p>
          <a:p>
            <a:pPr marL="0" indent="0" algn="l">
              <a:buNone/>
            </a:pPr>
            <a:r>
              <a:rPr lang="en-US" sz="4300" b="1" dirty="0">
                <a:solidFill>
                  <a:srgbClr val="FFFFFF"/>
                </a:solidFill>
                <a:latin typeface="Inter Display" pitchFamily="34" charset="0"/>
                <a:ea typeface="Inter Display" pitchFamily="34" charset="-122"/>
                <a:cs typeface="Inter Display" pitchFamily="34" charset="-120"/>
              </a:rPr>
              <a:t>Multi-Tenant</a:t>
            </a:r>
            <a:endParaRPr lang="en-US" sz="4300" dirty="0"/>
          </a:p>
          <a:p>
            <a:pPr marL="0" indent="0" algn="l">
              <a:buNone/>
            </a:pPr>
            <a:r>
              <a:rPr lang="en-US" sz="4300" b="1" dirty="0">
                <a:solidFill>
                  <a:srgbClr val="FFFFFF"/>
                </a:solidFill>
                <a:latin typeface="Inter Display" pitchFamily="34" charset="0"/>
                <a:ea typeface="Inter Display" pitchFamily="34" charset="-122"/>
                <a:cs typeface="Inter Display" pitchFamily="34" charset="-120"/>
              </a:rPr>
              <a:t>ERP SaaS</a:t>
            </a:r>
            <a:endParaRPr lang="en-US" sz="4300" dirty="0"/>
          </a:p>
        </p:txBody>
      </p:sp>
      <p:sp>
        <p:nvSpPr>
          <p:cNvPr id="24" name="Shape 19"/>
          <p:cNvSpPr/>
          <p:nvPr/>
        </p:nvSpPr>
        <p:spPr>
          <a:xfrm>
            <a:off x="713232" y="4059936"/>
            <a:ext cx="594360" cy="41148"/>
          </a:xfrm>
          <a:prstGeom prst="rect">
            <a:avLst/>
          </a:prstGeom>
          <a:solidFill>
            <a:srgbClr val="2CD7C4"/>
          </a:solidFill>
          <a:ln w="12700">
            <a:solidFill>
              <a:srgbClr val="FFFFFF">
                <a:alpha val="0"/>
              </a:srgbClr>
            </a:solidFill>
            <a:prstDash val="solid"/>
          </a:ln>
        </p:spPr>
      </p:sp>
      <p:sp>
        <p:nvSpPr>
          <p:cNvPr id="25" name="Text 20"/>
          <p:cNvSpPr/>
          <p:nvPr/>
        </p:nvSpPr>
        <p:spPr>
          <a:xfrm>
            <a:off x="704088" y="4279392"/>
            <a:ext cx="5824728" cy="786384"/>
          </a:xfrm>
          <a:prstGeom prst="rect">
            <a:avLst/>
          </a:prstGeom>
          <a:noFill/>
          <a:ln/>
        </p:spPr>
        <p:txBody>
          <a:bodyPr wrap="square" lIns="0" tIns="0" rIns="0" bIns="0" rtlCol="0" anchor="ctr">
            <a:normAutofit/>
          </a:bodyPr>
          <a:lstStyle/>
          <a:p>
            <a:pPr marL="0" indent="0" algn="l">
              <a:buNone/>
            </a:pPr>
            <a:r>
              <a:rPr lang="en-US" sz="1500" dirty="0">
                <a:solidFill>
                  <a:srgbClr val="9CADC4"/>
                </a:solidFill>
                <a:latin typeface="Inter" pitchFamily="34" charset="0"/>
                <a:ea typeface="Inter" pitchFamily="34" charset="-122"/>
                <a:cs typeface="Inter" pitchFamily="34" charset="-120"/>
              </a:rPr>
              <a:t>A trusted operational backbone today.</a:t>
            </a:r>
            <a:endParaRPr lang="en-US" sz="1500" dirty="0"/>
          </a:p>
          <a:p>
            <a:pPr marL="0" indent="0" algn="l">
              <a:buNone/>
            </a:pPr>
            <a:r>
              <a:rPr lang="en-US" sz="1500" dirty="0">
                <a:solidFill>
                  <a:srgbClr val="9CADC4"/>
                </a:solidFill>
                <a:latin typeface="Inter" pitchFamily="34" charset="0"/>
                <a:ea typeface="Inter" pitchFamily="34" charset="-122"/>
                <a:cs typeface="Inter" pitchFamily="34" charset="-120"/>
              </a:rPr>
              <a:t>Intelligent business decisions tomorrow.</a:t>
            </a:r>
            <a:endParaRPr lang="en-US" sz="1500" dirty="0"/>
          </a:p>
        </p:txBody>
      </p:sp>
      <p:sp>
        <p:nvSpPr>
          <p:cNvPr id="26" name="Shape 21"/>
          <p:cNvSpPr/>
          <p:nvPr/>
        </p:nvSpPr>
        <p:spPr>
          <a:xfrm>
            <a:off x="713232" y="5340096"/>
            <a:ext cx="1682496" cy="301752"/>
          </a:xfrm>
          <a:prstGeom prst="roundRect">
            <a:avLst>
              <a:gd name="adj" fmla="val 42424"/>
            </a:avLst>
          </a:prstGeom>
          <a:solidFill>
            <a:srgbClr val="192E47"/>
          </a:solidFill>
          <a:ln w="12700">
            <a:solidFill>
              <a:srgbClr val="FFFFFF">
                <a:alpha val="0"/>
              </a:srgbClr>
            </a:solidFill>
            <a:prstDash val="solid"/>
          </a:ln>
        </p:spPr>
      </p:sp>
      <p:sp>
        <p:nvSpPr>
          <p:cNvPr id="27" name="Text 22"/>
          <p:cNvSpPr/>
          <p:nvPr/>
        </p:nvSpPr>
        <p:spPr>
          <a:xfrm>
            <a:off x="822960" y="5349240"/>
            <a:ext cx="1463040" cy="283464"/>
          </a:xfrm>
          <a:prstGeom prst="rect">
            <a:avLst/>
          </a:prstGeom>
          <a:noFill/>
          <a:ln/>
        </p:spPr>
        <p:txBody>
          <a:bodyPr wrap="square" lIns="0" tIns="0" rIns="0" bIns="0" rtlCol="0" anchor="ctr">
            <a:normAutofit/>
          </a:bodyPr>
          <a:lstStyle/>
          <a:p>
            <a:pPr marL="0" indent="0" algn="l">
              <a:buNone/>
            </a:pPr>
            <a:r>
              <a:rPr lang="en-US" sz="845" b="1" kern="0" spc="55" dirty="0">
                <a:solidFill>
                  <a:srgbClr val="FFFFFF"/>
                </a:solidFill>
                <a:latin typeface="Inter" pitchFamily="34" charset="0"/>
                <a:ea typeface="Inter" pitchFamily="34" charset="-122"/>
                <a:cs typeface="Inter" pitchFamily="34" charset="-120"/>
              </a:rPr>
              <a:t>SRI LANKAN SMEs</a:t>
            </a:r>
            <a:endParaRPr lang="en-US" sz="845" dirty="0"/>
          </a:p>
        </p:txBody>
      </p:sp>
      <p:sp>
        <p:nvSpPr>
          <p:cNvPr id="28" name="Shape 23"/>
          <p:cNvSpPr/>
          <p:nvPr/>
        </p:nvSpPr>
        <p:spPr>
          <a:xfrm>
            <a:off x="2505456" y="5340096"/>
            <a:ext cx="1481328" cy="301752"/>
          </a:xfrm>
          <a:prstGeom prst="roundRect">
            <a:avLst>
              <a:gd name="adj" fmla="val 42424"/>
            </a:avLst>
          </a:prstGeom>
          <a:solidFill>
            <a:srgbClr val="192E47"/>
          </a:solidFill>
          <a:ln w="12700">
            <a:solidFill>
              <a:srgbClr val="FFFFFF">
                <a:alpha val="0"/>
              </a:srgbClr>
            </a:solidFill>
            <a:prstDash val="solid"/>
          </a:ln>
        </p:spPr>
      </p:sp>
      <p:sp>
        <p:nvSpPr>
          <p:cNvPr id="29" name="Text 24"/>
          <p:cNvSpPr/>
          <p:nvPr/>
        </p:nvSpPr>
        <p:spPr>
          <a:xfrm>
            <a:off x="2615184" y="5349240"/>
            <a:ext cx="1261872" cy="283464"/>
          </a:xfrm>
          <a:prstGeom prst="rect">
            <a:avLst/>
          </a:prstGeom>
          <a:noFill/>
          <a:ln/>
        </p:spPr>
        <p:txBody>
          <a:bodyPr wrap="square" lIns="0" tIns="0" rIns="0" bIns="0" rtlCol="0" anchor="ctr">
            <a:normAutofit/>
          </a:bodyPr>
          <a:lstStyle/>
          <a:p>
            <a:pPr marL="0" indent="0" algn="l">
              <a:buNone/>
            </a:pPr>
            <a:r>
              <a:rPr lang="en-US" sz="845" b="1" kern="0" spc="55" dirty="0">
                <a:solidFill>
                  <a:srgbClr val="FFFFFF"/>
                </a:solidFill>
                <a:latin typeface="Inter" pitchFamily="34" charset="0"/>
                <a:ea typeface="Inter" pitchFamily="34" charset="-122"/>
                <a:cs typeface="Inter" pitchFamily="34" charset="-120"/>
              </a:rPr>
              <a:t>CLOUD-BASED</a:t>
            </a:r>
            <a:endParaRPr lang="en-US" sz="845" dirty="0"/>
          </a:p>
        </p:txBody>
      </p:sp>
      <p:sp>
        <p:nvSpPr>
          <p:cNvPr id="30" name="Shape 25"/>
          <p:cNvSpPr/>
          <p:nvPr/>
        </p:nvSpPr>
        <p:spPr>
          <a:xfrm>
            <a:off x="4105656" y="5340096"/>
            <a:ext cx="1892808" cy="301752"/>
          </a:xfrm>
          <a:prstGeom prst="roundRect">
            <a:avLst>
              <a:gd name="adj" fmla="val 42424"/>
            </a:avLst>
          </a:prstGeom>
          <a:solidFill>
            <a:srgbClr val="192E47"/>
          </a:solidFill>
          <a:ln w="12700">
            <a:solidFill>
              <a:srgbClr val="FFFFFF">
                <a:alpha val="0"/>
              </a:srgbClr>
            </a:solidFill>
            <a:prstDash val="solid"/>
          </a:ln>
        </p:spPr>
      </p:sp>
      <p:sp>
        <p:nvSpPr>
          <p:cNvPr id="31" name="Text 26"/>
          <p:cNvSpPr/>
          <p:nvPr/>
        </p:nvSpPr>
        <p:spPr>
          <a:xfrm>
            <a:off x="4215384" y="5349240"/>
            <a:ext cx="1673352" cy="283464"/>
          </a:xfrm>
          <a:prstGeom prst="rect">
            <a:avLst/>
          </a:prstGeom>
          <a:noFill/>
          <a:ln/>
        </p:spPr>
        <p:txBody>
          <a:bodyPr wrap="square" lIns="0" tIns="0" rIns="0" bIns="0" rtlCol="0" anchor="ctr">
            <a:normAutofit/>
          </a:bodyPr>
          <a:lstStyle/>
          <a:p>
            <a:pPr marL="0" indent="0" algn="l">
              <a:buNone/>
            </a:pPr>
            <a:r>
              <a:rPr lang="en-US" sz="845" b="1" kern="0" spc="55" dirty="0">
                <a:solidFill>
                  <a:srgbClr val="FFFFFF"/>
                </a:solidFill>
                <a:latin typeface="Inter" pitchFamily="34" charset="0"/>
                <a:ea typeface="Inter" pitchFamily="34" charset="-122"/>
                <a:cs typeface="Inter" pitchFamily="34" charset="-120"/>
              </a:rPr>
              <a:t>MODULAR + SECURE</a:t>
            </a:r>
            <a:endParaRPr lang="en-US" sz="845" dirty="0"/>
          </a:p>
        </p:txBody>
      </p:sp>
      <p:sp>
        <p:nvSpPr>
          <p:cNvPr id="32" name="Text 27"/>
          <p:cNvSpPr/>
          <p:nvPr/>
        </p:nvSpPr>
        <p:spPr>
          <a:xfrm>
            <a:off x="713232" y="6208776"/>
            <a:ext cx="6190488" cy="219456"/>
          </a:xfrm>
          <a:prstGeom prst="rect">
            <a:avLst/>
          </a:prstGeom>
          <a:noFill/>
          <a:ln/>
        </p:spPr>
        <p:txBody>
          <a:bodyPr wrap="square" lIns="0" tIns="0" rIns="0" bIns="0" rtlCol="0" anchor="ctr">
            <a:normAutofit/>
          </a:bodyPr>
          <a:lstStyle/>
          <a:p>
            <a:pPr marL="0" indent="0" algn="l">
              <a:buNone/>
            </a:pPr>
            <a:r>
              <a:rPr lang="en-US" sz="960" dirty="0">
                <a:solidFill>
                  <a:srgbClr val="718BA8"/>
                </a:solidFill>
                <a:latin typeface="Inter" pitchFamily="34" charset="0"/>
                <a:ea typeface="Inter" pitchFamily="34" charset="-122"/>
                <a:cs typeface="Inter" pitchFamily="34" charset="-120"/>
              </a:rPr>
              <a:t>Built from the Business Requirements Document + Proposed USP Comparison</a:t>
            </a:r>
            <a:endParaRPr lang="en-US" sz="96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8FC"/>
        </a:solidFill>
        <a:effectLst/>
      </p:bgPr>
    </p:bg>
    <p:spTree>
      <p:nvGrpSpPr>
        <p:cNvPr id="1" name=""/>
        <p:cNvGrpSpPr/>
        <p:nvPr/>
      </p:nvGrpSpPr>
      <p:grpSpPr>
        <a:xfrm>
          <a:off x="0" y="0"/>
          <a:ext cx="0" cy="0"/>
          <a:chOff x="0" y="0"/>
          <a:chExt cx="0" cy="0"/>
        </a:xfrm>
      </p:grpSpPr>
      <p:sp>
        <p:nvSpPr>
          <p:cNvPr id="2" name="Text 0"/>
          <p:cNvSpPr/>
          <p:nvPr/>
        </p:nvSpPr>
        <p:spPr>
          <a:xfrm>
            <a:off x="658368" y="429768"/>
            <a:ext cx="10789920" cy="237744"/>
          </a:xfrm>
          <a:prstGeom prst="rect">
            <a:avLst/>
          </a:prstGeom>
          <a:noFill/>
          <a:ln/>
        </p:spPr>
        <p:txBody>
          <a:bodyPr wrap="square" lIns="0" tIns="0" rIns="0" bIns="0" rtlCol="0" anchor="ctr">
            <a:normAutofit/>
          </a:bodyPr>
          <a:lstStyle/>
          <a:p>
            <a:pPr marL="0" indent="0" algn="l">
              <a:buNone/>
            </a:pPr>
            <a:r>
              <a:rPr lang="en-US" sz="930" b="1" kern="0" spc="185" dirty="0">
                <a:solidFill>
                  <a:srgbClr val="2563EB"/>
                </a:solidFill>
                <a:latin typeface="Inter" pitchFamily="34" charset="0"/>
                <a:ea typeface="Inter" pitchFamily="34" charset="-122"/>
                <a:cs typeface="Inter" pitchFamily="34" charset="-120"/>
              </a:rPr>
              <a:t>01 / THE OPPORTUNITY</a:t>
            </a:r>
            <a:endParaRPr lang="en-US" sz="930" dirty="0"/>
          </a:p>
        </p:txBody>
      </p:sp>
      <p:sp>
        <p:nvSpPr>
          <p:cNvPr id="3" name="Text 1"/>
          <p:cNvSpPr/>
          <p:nvPr/>
        </p:nvSpPr>
        <p:spPr>
          <a:xfrm>
            <a:off x="640080" y="786384"/>
            <a:ext cx="10917936" cy="502920"/>
          </a:xfrm>
          <a:prstGeom prst="rect">
            <a:avLst/>
          </a:prstGeom>
          <a:noFill/>
          <a:ln/>
        </p:spPr>
        <p:txBody>
          <a:bodyPr wrap="square" lIns="0" tIns="0" rIns="0" bIns="0" rtlCol="0" anchor="ctr">
            <a:normAutofit/>
          </a:bodyPr>
          <a:lstStyle/>
          <a:p>
            <a:pPr marL="0" indent="0" algn="l">
              <a:buNone/>
            </a:pPr>
            <a:r>
              <a:rPr lang="en-US" sz="2850" b="1" dirty="0">
                <a:solidFill>
                  <a:srgbClr val="172439"/>
                </a:solidFill>
                <a:latin typeface="Inter Display" pitchFamily="34" charset="0"/>
                <a:ea typeface="Inter Display" pitchFamily="34" charset="-122"/>
                <a:cs typeface="Inter Display" pitchFamily="34" charset="-120"/>
              </a:rPr>
              <a:t>From recording transactions to managing outcomes.</a:t>
            </a:r>
            <a:endParaRPr lang="en-US" sz="2850" dirty="0"/>
          </a:p>
        </p:txBody>
      </p:sp>
      <p:sp>
        <p:nvSpPr>
          <p:cNvPr id="4" name="Text 2"/>
          <p:cNvSpPr/>
          <p:nvPr/>
        </p:nvSpPr>
        <p:spPr>
          <a:xfrm>
            <a:off x="658368" y="1380744"/>
            <a:ext cx="10826496" cy="338328"/>
          </a:xfrm>
          <a:prstGeom prst="rect">
            <a:avLst/>
          </a:prstGeom>
          <a:noFill/>
          <a:ln/>
        </p:spPr>
        <p:txBody>
          <a:bodyPr wrap="square" lIns="0" tIns="0" rIns="0" bIns="0" rtlCol="0" anchor="ctr">
            <a:normAutofit/>
          </a:bodyPr>
          <a:lstStyle/>
          <a:p>
            <a:pPr marL="0" indent="0" algn="l">
              <a:buNone/>
            </a:pPr>
            <a:r>
              <a:rPr lang="en-US" sz="1250" dirty="0">
                <a:solidFill>
                  <a:srgbClr val="677995"/>
                </a:solidFill>
                <a:latin typeface="Inter" pitchFamily="34" charset="0"/>
                <a:ea typeface="Inter" pitchFamily="34" charset="-122"/>
                <a:cs typeface="Inter" pitchFamily="34" charset="-120"/>
              </a:rPr>
              <a:t>The documents frame a move from fragmented, reactive processes to an integrated ERP with future advisory intelligence.</a:t>
            </a:r>
            <a:endParaRPr lang="en-US" sz="1250" dirty="0"/>
          </a:p>
        </p:txBody>
      </p:sp>
      <p:sp>
        <p:nvSpPr>
          <p:cNvPr id="5" name="Shape 3"/>
          <p:cNvSpPr/>
          <p:nvPr/>
        </p:nvSpPr>
        <p:spPr>
          <a:xfrm>
            <a:off x="667512" y="2029968"/>
            <a:ext cx="3447288" cy="2779776"/>
          </a:xfrm>
          <a:prstGeom prst="roundRect">
            <a:avLst>
              <a:gd name="adj" fmla="val 5592"/>
            </a:avLst>
          </a:prstGeom>
          <a:solidFill>
            <a:srgbClr val="FFFFFF"/>
          </a:solidFill>
          <a:ln w="10160">
            <a:solidFill>
              <a:srgbClr val="E0E8F1"/>
            </a:solidFill>
            <a:prstDash val="solid"/>
          </a:ln>
          <a:effectLst>
            <a:outerShdw blurRad="38100" dist="50800" dir="2700000" algn="bl" rotWithShape="0">
              <a:srgbClr val="000000">
                <a:alpha val="12000"/>
              </a:srgbClr>
            </a:outerShdw>
          </a:effectLst>
        </p:spPr>
      </p:sp>
      <p:sp>
        <p:nvSpPr>
          <p:cNvPr id="6" name="Shape 4"/>
          <p:cNvSpPr/>
          <p:nvPr/>
        </p:nvSpPr>
        <p:spPr>
          <a:xfrm>
            <a:off x="905256" y="2267712"/>
            <a:ext cx="649224" cy="649224"/>
          </a:xfrm>
          <a:prstGeom prst="ellipse">
            <a:avLst/>
          </a:prstGeom>
          <a:solidFill>
            <a:srgbClr val="EAF1FF"/>
          </a:solidFill>
          <a:ln w="12700">
            <a:solidFill>
              <a:srgbClr val="FFFFFF">
                <a:alpha val="0"/>
              </a:srgbClr>
            </a:solidFill>
            <a:prstDash val="solid"/>
          </a:ln>
        </p:spPr>
      </p:sp>
      <p:pic>
        <p:nvPicPr>
          <p:cNvPr id="7" name="Image 0" descr="/mnt/data/erp_deck_assets/faLink_518BFF.png"/>
          <p:cNvPicPr>
            <a:picLocks noChangeAspect="1"/>
          </p:cNvPicPr>
          <p:nvPr/>
        </p:nvPicPr>
        <p:blipFill>
          <a:blip r:embed="rId3"/>
          <a:stretch>
            <a:fillRect/>
          </a:stretch>
        </p:blipFill>
        <p:spPr>
          <a:xfrm>
            <a:off x="1074420" y="2432304"/>
            <a:ext cx="310896" cy="310896"/>
          </a:xfrm>
          <a:prstGeom prst="rect">
            <a:avLst/>
          </a:prstGeom>
        </p:spPr>
      </p:pic>
      <p:sp>
        <p:nvSpPr>
          <p:cNvPr id="8" name="Text 5"/>
          <p:cNvSpPr/>
          <p:nvPr/>
        </p:nvSpPr>
        <p:spPr>
          <a:xfrm>
            <a:off x="3456432" y="2286000"/>
            <a:ext cx="420624" cy="210312"/>
          </a:xfrm>
          <a:prstGeom prst="rect">
            <a:avLst/>
          </a:prstGeom>
          <a:noFill/>
          <a:ln/>
        </p:spPr>
        <p:txBody>
          <a:bodyPr wrap="square" lIns="0" tIns="0" rIns="0" bIns="0" rtlCol="0" anchor="ctr">
            <a:normAutofit/>
          </a:bodyPr>
          <a:lstStyle/>
          <a:p>
            <a:pPr marL="0" indent="0" algn="r">
              <a:buNone/>
            </a:pPr>
            <a:r>
              <a:rPr lang="en-US" sz="1100" b="1" dirty="0">
                <a:solidFill>
                  <a:srgbClr val="9AADBF"/>
                </a:solidFill>
                <a:latin typeface="Inter" pitchFamily="34" charset="0"/>
                <a:ea typeface="Inter" pitchFamily="34" charset="-122"/>
                <a:cs typeface="Inter" pitchFamily="34" charset="-120"/>
              </a:rPr>
              <a:t>01</a:t>
            </a:r>
            <a:endParaRPr lang="en-US" sz="1100" dirty="0"/>
          </a:p>
        </p:txBody>
      </p:sp>
      <p:sp>
        <p:nvSpPr>
          <p:cNvPr id="9" name="Text 6"/>
          <p:cNvSpPr/>
          <p:nvPr/>
        </p:nvSpPr>
        <p:spPr>
          <a:xfrm>
            <a:off x="896112" y="3026664"/>
            <a:ext cx="2971800" cy="347472"/>
          </a:xfrm>
          <a:prstGeom prst="rect">
            <a:avLst/>
          </a:prstGeom>
          <a:noFill/>
          <a:ln/>
        </p:spPr>
        <p:txBody>
          <a:bodyPr wrap="square" lIns="0" tIns="0" rIns="0" bIns="0" rtlCol="0" anchor="ctr">
            <a:normAutofit/>
          </a:bodyPr>
          <a:lstStyle/>
          <a:p>
            <a:pPr marL="0" indent="0" algn="l">
              <a:buNone/>
            </a:pPr>
            <a:r>
              <a:rPr lang="en-US" sz="1710" b="1" dirty="0">
                <a:solidFill>
                  <a:srgbClr val="172439"/>
                </a:solidFill>
                <a:latin typeface="Inter Display" pitchFamily="34" charset="0"/>
                <a:ea typeface="Inter Display" pitchFamily="34" charset="-122"/>
                <a:cs typeface="Inter Display" pitchFamily="34" charset="-120"/>
              </a:rPr>
              <a:t>Connected operations</a:t>
            </a:r>
            <a:endParaRPr lang="en-US" sz="1710" dirty="0"/>
          </a:p>
        </p:txBody>
      </p:sp>
      <p:sp>
        <p:nvSpPr>
          <p:cNvPr id="10" name="Text 7"/>
          <p:cNvSpPr/>
          <p:nvPr/>
        </p:nvSpPr>
        <p:spPr>
          <a:xfrm>
            <a:off x="905256" y="3511296"/>
            <a:ext cx="2926080" cy="566928"/>
          </a:xfrm>
          <a:prstGeom prst="rect">
            <a:avLst/>
          </a:prstGeom>
          <a:noFill/>
          <a:ln/>
        </p:spPr>
        <p:txBody>
          <a:bodyPr wrap="square" lIns="0" tIns="0" rIns="0" bIns="0" rtlCol="0" anchor="ctr">
            <a:normAutofit/>
          </a:bodyPr>
          <a:lstStyle/>
          <a:p>
            <a:pPr marL="0" indent="0" algn="l">
              <a:buNone/>
            </a:pPr>
            <a:r>
              <a:rPr lang="en-US" sz="1125" dirty="0">
                <a:solidFill>
                  <a:srgbClr val="677995"/>
                </a:solidFill>
                <a:latin typeface="Inter" pitchFamily="34" charset="0"/>
                <a:ea typeface="Inter" pitchFamily="34" charset="-122"/>
                <a:cs typeface="Inter" pitchFamily="34" charset="-120"/>
              </a:rPr>
              <a:t>Purchasing, stock and sales must work as one traceable flow.</a:t>
            </a:r>
            <a:endParaRPr lang="en-US" sz="1125" dirty="0"/>
          </a:p>
        </p:txBody>
      </p:sp>
      <p:sp>
        <p:nvSpPr>
          <p:cNvPr id="11" name="Shape 8"/>
          <p:cNvSpPr/>
          <p:nvPr/>
        </p:nvSpPr>
        <p:spPr>
          <a:xfrm>
            <a:off x="905256" y="4169664"/>
            <a:ext cx="2944368" cy="0"/>
          </a:xfrm>
          <a:prstGeom prst="line">
            <a:avLst/>
          </a:prstGeom>
          <a:noFill/>
          <a:ln w="10160">
            <a:solidFill>
              <a:srgbClr val="E4EAF2"/>
            </a:solidFill>
            <a:prstDash val="solid"/>
          </a:ln>
        </p:spPr>
      </p:sp>
      <p:sp>
        <p:nvSpPr>
          <p:cNvPr id="12" name="Text 9"/>
          <p:cNvSpPr/>
          <p:nvPr/>
        </p:nvSpPr>
        <p:spPr>
          <a:xfrm>
            <a:off x="905256" y="4279392"/>
            <a:ext cx="2926080" cy="384048"/>
          </a:xfrm>
          <a:prstGeom prst="rect">
            <a:avLst/>
          </a:prstGeom>
          <a:noFill/>
          <a:ln/>
        </p:spPr>
        <p:txBody>
          <a:bodyPr wrap="square" lIns="0" tIns="0" rIns="0" bIns="0" rtlCol="0" anchor="ctr">
            <a:normAutofit/>
          </a:bodyPr>
          <a:lstStyle/>
          <a:p>
            <a:pPr marL="0" indent="0" algn="l">
              <a:buNone/>
            </a:pPr>
            <a:r>
              <a:rPr lang="en-US" sz="1020" b="1" dirty="0">
                <a:solidFill>
                  <a:srgbClr val="2563EB"/>
                </a:solidFill>
                <a:latin typeface="Inter" pitchFamily="34" charset="0"/>
                <a:ea typeface="Inter" pitchFamily="34" charset="-122"/>
                <a:cs typeface="Inter" pitchFamily="34" charset="-120"/>
              </a:rPr>
              <a:t>Replace disconnected handoffs with consistent operational records.</a:t>
            </a:r>
            <a:endParaRPr lang="en-US" sz="1020" dirty="0"/>
          </a:p>
        </p:txBody>
      </p:sp>
      <p:sp>
        <p:nvSpPr>
          <p:cNvPr id="13" name="Shape 10"/>
          <p:cNvSpPr/>
          <p:nvPr/>
        </p:nvSpPr>
        <p:spPr>
          <a:xfrm>
            <a:off x="4379976" y="2029968"/>
            <a:ext cx="3447288" cy="2779776"/>
          </a:xfrm>
          <a:prstGeom prst="roundRect">
            <a:avLst>
              <a:gd name="adj" fmla="val 5592"/>
            </a:avLst>
          </a:prstGeom>
          <a:solidFill>
            <a:srgbClr val="FFFFFF"/>
          </a:solidFill>
          <a:ln w="10160">
            <a:solidFill>
              <a:srgbClr val="E0E8F1"/>
            </a:solidFill>
            <a:prstDash val="solid"/>
          </a:ln>
          <a:effectLst>
            <a:outerShdw blurRad="38100" dist="50800" dir="2700000" algn="bl" rotWithShape="0">
              <a:srgbClr val="000000">
                <a:alpha val="12000"/>
              </a:srgbClr>
            </a:outerShdw>
          </a:effectLst>
        </p:spPr>
      </p:sp>
      <p:sp>
        <p:nvSpPr>
          <p:cNvPr id="14" name="Shape 11"/>
          <p:cNvSpPr/>
          <p:nvPr/>
        </p:nvSpPr>
        <p:spPr>
          <a:xfrm>
            <a:off x="4617720" y="2267712"/>
            <a:ext cx="649224" cy="649224"/>
          </a:xfrm>
          <a:prstGeom prst="ellipse">
            <a:avLst/>
          </a:prstGeom>
          <a:solidFill>
            <a:srgbClr val="E1F8F4"/>
          </a:solidFill>
          <a:ln w="12700">
            <a:solidFill>
              <a:srgbClr val="FFFFFF">
                <a:alpha val="0"/>
              </a:srgbClr>
            </a:solidFill>
            <a:prstDash val="solid"/>
          </a:ln>
        </p:spPr>
      </p:sp>
      <p:pic>
        <p:nvPicPr>
          <p:cNvPr id="15" name="Image 1" descr="/mnt/data/erp_deck_assets/faTriangleExclamation_2CD7C4.png"/>
          <p:cNvPicPr>
            <a:picLocks noChangeAspect="1"/>
          </p:cNvPicPr>
          <p:nvPr/>
        </p:nvPicPr>
        <p:blipFill>
          <a:blip r:embed="rId4"/>
          <a:stretch>
            <a:fillRect/>
          </a:stretch>
        </p:blipFill>
        <p:spPr>
          <a:xfrm>
            <a:off x="4786884" y="2432304"/>
            <a:ext cx="310896" cy="310896"/>
          </a:xfrm>
          <a:prstGeom prst="rect">
            <a:avLst/>
          </a:prstGeom>
        </p:spPr>
      </p:pic>
      <p:sp>
        <p:nvSpPr>
          <p:cNvPr id="16" name="Text 12"/>
          <p:cNvSpPr/>
          <p:nvPr/>
        </p:nvSpPr>
        <p:spPr>
          <a:xfrm>
            <a:off x="7168896" y="2286000"/>
            <a:ext cx="420624" cy="210312"/>
          </a:xfrm>
          <a:prstGeom prst="rect">
            <a:avLst/>
          </a:prstGeom>
          <a:noFill/>
          <a:ln/>
        </p:spPr>
        <p:txBody>
          <a:bodyPr wrap="square" lIns="0" tIns="0" rIns="0" bIns="0" rtlCol="0" anchor="ctr">
            <a:normAutofit/>
          </a:bodyPr>
          <a:lstStyle/>
          <a:p>
            <a:pPr marL="0" indent="0" algn="r">
              <a:buNone/>
            </a:pPr>
            <a:r>
              <a:rPr lang="en-US" sz="1100" b="1" dirty="0">
                <a:solidFill>
                  <a:srgbClr val="9AADBF"/>
                </a:solidFill>
                <a:latin typeface="Inter" pitchFamily="34" charset="0"/>
                <a:ea typeface="Inter" pitchFamily="34" charset="-122"/>
                <a:cs typeface="Inter" pitchFamily="34" charset="-120"/>
              </a:rPr>
              <a:t>02</a:t>
            </a:r>
            <a:endParaRPr lang="en-US" sz="1100" dirty="0"/>
          </a:p>
        </p:txBody>
      </p:sp>
      <p:sp>
        <p:nvSpPr>
          <p:cNvPr id="17" name="Text 13"/>
          <p:cNvSpPr/>
          <p:nvPr/>
        </p:nvSpPr>
        <p:spPr>
          <a:xfrm>
            <a:off x="4608576" y="3026664"/>
            <a:ext cx="2971800" cy="347472"/>
          </a:xfrm>
          <a:prstGeom prst="rect">
            <a:avLst/>
          </a:prstGeom>
          <a:noFill/>
          <a:ln/>
        </p:spPr>
        <p:txBody>
          <a:bodyPr wrap="square" lIns="0" tIns="0" rIns="0" bIns="0" rtlCol="0" anchor="ctr">
            <a:normAutofit/>
          </a:bodyPr>
          <a:lstStyle/>
          <a:p>
            <a:pPr marL="0" indent="0" algn="l">
              <a:buNone/>
            </a:pPr>
            <a:r>
              <a:rPr lang="en-US" sz="1710" b="1" dirty="0">
                <a:solidFill>
                  <a:srgbClr val="172439"/>
                </a:solidFill>
                <a:latin typeface="Inter Display" pitchFamily="34" charset="0"/>
                <a:ea typeface="Inter Display" pitchFamily="34" charset="-122"/>
                <a:cs typeface="Inter Display" pitchFamily="34" charset="-120"/>
              </a:rPr>
              <a:t>Earlier stock visibility</a:t>
            </a:r>
            <a:endParaRPr lang="en-US" sz="1710" dirty="0"/>
          </a:p>
        </p:txBody>
      </p:sp>
      <p:sp>
        <p:nvSpPr>
          <p:cNvPr id="18" name="Text 14"/>
          <p:cNvSpPr/>
          <p:nvPr/>
        </p:nvSpPr>
        <p:spPr>
          <a:xfrm>
            <a:off x="4617720" y="3511296"/>
            <a:ext cx="2926080" cy="566928"/>
          </a:xfrm>
          <a:prstGeom prst="rect">
            <a:avLst/>
          </a:prstGeom>
          <a:noFill/>
          <a:ln/>
        </p:spPr>
        <p:txBody>
          <a:bodyPr wrap="square" lIns="0" tIns="0" rIns="0" bIns="0" rtlCol="0" anchor="ctr">
            <a:normAutofit/>
          </a:bodyPr>
          <a:lstStyle/>
          <a:p>
            <a:pPr marL="0" indent="0" algn="l">
              <a:buNone/>
            </a:pPr>
            <a:r>
              <a:rPr lang="en-US" sz="1125" dirty="0">
                <a:solidFill>
                  <a:srgbClr val="677995"/>
                </a:solidFill>
                <a:latin typeface="Inter" pitchFamily="34" charset="0"/>
                <a:ea typeface="Inter" pitchFamily="34" charset="-122"/>
                <a:cs typeface="Inter" pitchFamily="34" charset="-120"/>
              </a:rPr>
              <a:t>Monitor reorder levels, overdue deliveries and outstanding orders.</a:t>
            </a:r>
            <a:endParaRPr lang="en-US" sz="1125" dirty="0"/>
          </a:p>
        </p:txBody>
      </p:sp>
      <p:sp>
        <p:nvSpPr>
          <p:cNvPr id="19" name="Shape 15"/>
          <p:cNvSpPr/>
          <p:nvPr/>
        </p:nvSpPr>
        <p:spPr>
          <a:xfrm>
            <a:off x="4617720" y="4169664"/>
            <a:ext cx="2944368" cy="0"/>
          </a:xfrm>
          <a:prstGeom prst="line">
            <a:avLst/>
          </a:prstGeom>
          <a:noFill/>
          <a:ln w="10160">
            <a:solidFill>
              <a:srgbClr val="E4EAF2"/>
            </a:solidFill>
            <a:prstDash val="solid"/>
          </a:ln>
        </p:spPr>
      </p:sp>
      <p:sp>
        <p:nvSpPr>
          <p:cNvPr id="20" name="Text 16"/>
          <p:cNvSpPr/>
          <p:nvPr/>
        </p:nvSpPr>
        <p:spPr>
          <a:xfrm>
            <a:off x="4617720" y="4279392"/>
            <a:ext cx="2926080" cy="384048"/>
          </a:xfrm>
          <a:prstGeom prst="rect">
            <a:avLst/>
          </a:prstGeom>
          <a:noFill/>
          <a:ln/>
        </p:spPr>
        <p:txBody>
          <a:bodyPr wrap="square" lIns="0" tIns="0" rIns="0" bIns="0" rtlCol="0" anchor="ctr">
            <a:normAutofit/>
          </a:bodyPr>
          <a:lstStyle/>
          <a:p>
            <a:pPr marL="0" indent="0" algn="l">
              <a:buNone/>
            </a:pPr>
            <a:r>
              <a:rPr lang="en-US" sz="1020" b="1" dirty="0">
                <a:solidFill>
                  <a:srgbClr val="2563EB"/>
                </a:solidFill>
                <a:latin typeface="Inter" pitchFamily="34" charset="0"/>
                <a:ea typeface="Inter" pitchFamily="34" charset="-122"/>
                <a:cs typeface="Inter" pitchFamily="34" charset="-120"/>
              </a:rPr>
              <a:t>Future AI can estimate shortages before operations are disrupted.</a:t>
            </a:r>
            <a:endParaRPr lang="en-US" sz="1020" dirty="0"/>
          </a:p>
        </p:txBody>
      </p:sp>
      <p:sp>
        <p:nvSpPr>
          <p:cNvPr id="21" name="Shape 17"/>
          <p:cNvSpPr/>
          <p:nvPr/>
        </p:nvSpPr>
        <p:spPr>
          <a:xfrm>
            <a:off x="8092440" y="2029968"/>
            <a:ext cx="3447288" cy="2779776"/>
          </a:xfrm>
          <a:prstGeom prst="roundRect">
            <a:avLst>
              <a:gd name="adj" fmla="val 5592"/>
            </a:avLst>
          </a:prstGeom>
          <a:solidFill>
            <a:srgbClr val="FFFFFF"/>
          </a:solidFill>
          <a:ln w="10160">
            <a:solidFill>
              <a:srgbClr val="E0E8F1"/>
            </a:solidFill>
            <a:prstDash val="solid"/>
          </a:ln>
          <a:effectLst>
            <a:outerShdw blurRad="38100" dist="50800" dir="2700000" algn="bl" rotWithShape="0">
              <a:srgbClr val="000000">
                <a:alpha val="12000"/>
              </a:srgbClr>
            </a:outerShdw>
          </a:effectLst>
        </p:spPr>
      </p:sp>
      <p:sp>
        <p:nvSpPr>
          <p:cNvPr id="22" name="Shape 18"/>
          <p:cNvSpPr/>
          <p:nvPr/>
        </p:nvSpPr>
        <p:spPr>
          <a:xfrm>
            <a:off x="8330184" y="2267712"/>
            <a:ext cx="649224" cy="649224"/>
          </a:xfrm>
          <a:prstGeom prst="ellipse">
            <a:avLst/>
          </a:prstGeom>
          <a:solidFill>
            <a:srgbClr val="EAF1FF"/>
          </a:solidFill>
          <a:ln w="12700">
            <a:solidFill>
              <a:srgbClr val="FFFFFF">
                <a:alpha val="0"/>
              </a:srgbClr>
            </a:solidFill>
            <a:prstDash val="solid"/>
          </a:ln>
        </p:spPr>
      </p:sp>
      <p:pic>
        <p:nvPicPr>
          <p:cNvPr id="23" name="Image 2" descr="/mnt/data/erp_deck_assets/faChartLine_2563EB.png"/>
          <p:cNvPicPr>
            <a:picLocks noChangeAspect="1"/>
          </p:cNvPicPr>
          <p:nvPr/>
        </p:nvPicPr>
        <p:blipFill>
          <a:blip r:embed="rId5"/>
          <a:stretch>
            <a:fillRect/>
          </a:stretch>
        </p:blipFill>
        <p:spPr>
          <a:xfrm>
            <a:off x="8499348" y="2432304"/>
            <a:ext cx="310896" cy="310896"/>
          </a:xfrm>
          <a:prstGeom prst="rect">
            <a:avLst/>
          </a:prstGeom>
        </p:spPr>
      </p:pic>
      <p:sp>
        <p:nvSpPr>
          <p:cNvPr id="24" name="Text 19"/>
          <p:cNvSpPr/>
          <p:nvPr/>
        </p:nvSpPr>
        <p:spPr>
          <a:xfrm>
            <a:off x="10881360" y="2286000"/>
            <a:ext cx="420624" cy="210312"/>
          </a:xfrm>
          <a:prstGeom prst="rect">
            <a:avLst/>
          </a:prstGeom>
          <a:noFill/>
          <a:ln/>
        </p:spPr>
        <p:txBody>
          <a:bodyPr wrap="square" lIns="0" tIns="0" rIns="0" bIns="0" rtlCol="0" anchor="ctr">
            <a:normAutofit/>
          </a:bodyPr>
          <a:lstStyle/>
          <a:p>
            <a:pPr marL="0" indent="0" algn="r">
              <a:buNone/>
            </a:pPr>
            <a:r>
              <a:rPr lang="en-US" sz="1100" b="1" dirty="0">
                <a:solidFill>
                  <a:srgbClr val="9AADBF"/>
                </a:solidFill>
                <a:latin typeface="Inter" pitchFamily="34" charset="0"/>
                <a:ea typeface="Inter" pitchFamily="34" charset="-122"/>
                <a:cs typeface="Inter" pitchFamily="34" charset="-120"/>
              </a:rPr>
              <a:t>03</a:t>
            </a:r>
            <a:endParaRPr lang="en-US" sz="1100" dirty="0"/>
          </a:p>
        </p:txBody>
      </p:sp>
      <p:sp>
        <p:nvSpPr>
          <p:cNvPr id="25" name="Text 20"/>
          <p:cNvSpPr/>
          <p:nvPr/>
        </p:nvSpPr>
        <p:spPr>
          <a:xfrm>
            <a:off x="8321040" y="3026664"/>
            <a:ext cx="2971800" cy="347472"/>
          </a:xfrm>
          <a:prstGeom prst="rect">
            <a:avLst/>
          </a:prstGeom>
          <a:noFill/>
          <a:ln/>
        </p:spPr>
        <p:txBody>
          <a:bodyPr wrap="square" lIns="0" tIns="0" rIns="0" bIns="0" rtlCol="0" anchor="ctr">
            <a:normAutofit/>
          </a:bodyPr>
          <a:lstStyle/>
          <a:p>
            <a:pPr marL="0" indent="0" algn="l">
              <a:buNone/>
            </a:pPr>
            <a:r>
              <a:rPr lang="en-US" sz="1710" b="1" dirty="0">
                <a:solidFill>
                  <a:srgbClr val="172439"/>
                </a:solidFill>
                <a:latin typeface="Inter Display" pitchFamily="34" charset="0"/>
                <a:ea typeface="Inter Display" pitchFamily="34" charset="-122"/>
                <a:cs typeface="Inter Display" pitchFamily="34" charset="-120"/>
              </a:rPr>
              <a:t>Better decisions</a:t>
            </a:r>
            <a:endParaRPr lang="en-US" sz="1710" dirty="0"/>
          </a:p>
        </p:txBody>
      </p:sp>
      <p:sp>
        <p:nvSpPr>
          <p:cNvPr id="26" name="Text 21"/>
          <p:cNvSpPr/>
          <p:nvPr/>
        </p:nvSpPr>
        <p:spPr>
          <a:xfrm>
            <a:off x="8330184" y="3511296"/>
            <a:ext cx="2926080" cy="566928"/>
          </a:xfrm>
          <a:prstGeom prst="rect">
            <a:avLst/>
          </a:prstGeom>
          <a:noFill/>
          <a:ln/>
        </p:spPr>
        <p:txBody>
          <a:bodyPr wrap="square" lIns="0" tIns="0" rIns="0" bIns="0" rtlCol="0" anchor="ctr">
            <a:normAutofit/>
          </a:bodyPr>
          <a:lstStyle/>
          <a:p>
            <a:pPr marL="0" indent="0" algn="l">
              <a:buNone/>
            </a:pPr>
            <a:r>
              <a:rPr lang="en-US" sz="1125" dirty="0">
                <a:solidFill>
                  <a:srgbClr val="677995"/>
                </a:solidFill>
                <a:latin typeface="Inter" pitchFamily="34" charset="0"/>
                <a:ea typeface="Inter" pitchFamily="34" charset="-122"/>
                <a:cs typeface="Inter" pitchFamily="34" charset="-120"/>
              </a:rPr>
              <a:t>Move beyond manually interpreting static reports and lists.</a:t>
            </a:r>
            <a:endParaRPr lang="en-US" sz="1125" dirty="0"/>
          </a:p>
        </p:txBody>
      </p:sp>
      <p:sp>
        <p:nvSpPr>
          <p:cNvPr id="27" name="Shape 22"/>
          <p:cNvSpPr/>
          <p:nvPr/>
        </p:nvSpPr>
        <p:spPr>
          <a:xfrm>
            <a:off x="8330184" y="4169664"/>
            <a:ext cx="2944368" cy="0"/>
          </a:xfrm>
          <a:prstGeom prst="line">
            <a:avLst/>
          </a:prstGeom>
          <a:noFill/>
          <a:ln w="10160">
            <a:solidFill>
              <a:srgbClr val="E4EAF2"/>
            </a:solidFill>
            <a:prstDash val="solid"/>
          </a:ln>
        </p:spPr>
      </p:sp>
      <p:sp>
        <p:nvSpPr>
          <p:cNvPr id="28" name="Text 23"/>
          <p:cNvSpPr/>
          <p:nvPr/>
        </p:nvSpPr>
        <p:spPr>
          <a:xfrm>
            <a:off x="8330184" y="4279392"/>
            <a:ext cx="2926080" cy="384048"/>
          </a:xfrm>
          <a:prstGeom prst="rect">
            <a:avLst/>
          </a:prstGeom>
          <a:noFill/>
          <a:ln/>
        </p:spPr>
        <p:txBody>
          <a:bodyPr wrap="square" lIns="0" tIns="0" rIns="0" bIns="0" rtlCol="0" anchor="ctr">
            <a:normAutofit/>
          </a:bodyPr>
          <a:lstStyle/>
          <a:p>
            <a:pPr marL="0" indent="0" algn="l">
              <a:buNone/>
            </a:pPr>
            <a:r>
              <a:rPr lang="en-US" sz="1020" b="1" dirty="0">
                <a:solidFill>
                  <a:srgbClr val="2563EB"/>
                </a:solidFill>
                <a:latin typeface="Inter" pitchFamily="34" charset="0"/>
                <a:ea typeface="Inter" pitchFamily="34" charset="-122"/>
                <a:cs typeface="Inter" pitchFamily="34" charset="-120"/>
              </a:rPr>
              <a:t>Use authorised data to recommend practical next actions.</a:t>
            </a:r>
            <a:endParaRPr lang="en-US" sz="1020" dirty="0"/>
          </a:p>
        </p:txBody>
      </p:sp>
      <p:sp>
        <p:nvSpPr>
          <p:cNvPr id="29" name="Shape 24"/>
          <p:cNvSpPr/>
          <p:nvPr/>
        </p:nvSpPr>
        <p:spPr>
          <a:xfrm>
            <a:off x="667512" y="5166360"/>
            <a:ext cx="10872216" cy="841248"/>
          </a:xfrm>
          <a:prstGeom prst="roundRect">
            <a:avLst>
              <a:gd name="adj" fmla="val 17391"/>
            </a:avLst>
          </a:prstGeom>
          <a:solidFill>
            <a:srgbClr val="E8EEF7"/>
          </a:solidFill>
          <a:ln w="12700">
            <a:solidFill>
              <a:srgbClr val="FFFFFF">
                <a:alpha val="0"/>
              </a:srgbClr>
            </a:solidFill>
            <a:prstDash val="solid"/>
          </a:ln>
        </p:spPr>
      </p:sp>
      <p:sp>
        <p:nvSpPr>
          <p:cNvPr id="30" name="Text 25"/>
          <p:cNvSpPr/>
          <p:nvPr/>
        </p:nvSpPr>
        <p:spPr>
          <a:xfrm>
            <a:off x="896112" y="5312664"/>
            <a:ext cx="2898648" cy="228600"/>
          </a:xfrm>
          <a:prstGeom prst="rect">
            <a:avLst/>
          </a:prstGeom>
          <a:noFill/>
          <a:ln/>
        </p:spPr>
        <p:txBody>
          <a:bodyPr wrap="square" lIns="0" tIns="0" rIns="0" bIns="0" rtlCol="0" anchor="ctr">
            <a:normAutofit/>
          </a:bodyPr>
          <a:lstStyle/>
          <a:p>
            <a:pPr marL="0" indent="0" algn="l">
              <a:buNone/>
            </a:pPr>
            <a:r>
              <a:rPr lang="en-US" sz="1030" b="1" kern="0" spc="40" dirty="0">
                <a:solidFill>
                  <a:srgbClr val="2563EB"/>
                </a:solidFill>
                <a:latin typeface="Inter" pitchFamily="34" charset="0"/>
                <a:ea typeface="Inter" pitchFamily="34" charset="-122"/>
                <a:cs typeface="Inter" pitchFamily="34" charset="-120"/>
              </a:rPr>
              <a:t>PRIORITY CUSTOMER SEGMENTS</a:t>
            </a:r>
            <a:endParaRPr lang="en-US" sz="1030" dirty="0"/>
          </a:p>
        </p:txBody>
      </p:sp>
      <p:sp>
        <p:nvSpPr>
          <p:cNvPr id="31" name="Text 26"/>
          <p:cNvSpPr/>
          <p:nvPr/>
        </p:nvSpPr>
        <p:spPr>
          <a:xfrm>
            <a:off x="896112" y="5623560"/>
            <a:ext cx="10241280" cy="219456"/>
          </a:xfrm>
          <a:prstGeom prst="rect">
            <a:avLst/>
          </a:prstGeom>
          <a:noFill/>
          <a:ln/>
        </p:spPr>
        <p:txBody>
          <a:bodyPr wrap="square" lIns="0" tIns="0" rIns="0" bIns="0" rtlCol="0" anchor="ctr">
            <a:normAutofit/>
          </a:bodyPr>
          <a:lstStyle/>
          <a:p>
            <a:pPr marL="0" indent="0" algn="l">
              <a:buNone/>
            </a:pPr>
            <a:r>
              <a:rPr lang="en-US" sz="1110" dirty="0">
                <a:solidFill>
                  <a:srgbClr val="172439"/>
                </a:solidFill>
                <a:latin typeface="Inter" pitchFamily="34" charset="0"/>
                <a:ea typeface="Inter" pitchFamily="34" charset="-122"/>
                <a:cs typeface="Inter" pitchFamily="34" charset="-120"/>
              </a:rPr>
              <a:t>Wholesale &amp; distribution   •   Multi-branch retail   •   Import/export   •   Hardware &amp; industrial supplies</a:t>
            </a:r>
            <a:endParaRPr lang="en-US" sz="1110" dirty="0"/>
          </a:p>
        </p:txBody>
      </p:sp>
      <p:sp>
        <p:nvSpPr>
          <p:cNvPr id="32" name="Shape 27"/>
          <p:cNvSpPr/>
          <p:nvPr/>
        </p:nvSpPr>
        <p:spPr>
          <a:xfrm>
            <a:off x="630936" y="6473952"/>
            <a:ext cx="10936224" cy="0"/>
          </a:xfrm>
          <a:prstGeom prst="line">
            <a:avLst/>
          </a:prstGeom>
          <a:noFill/>
          <a:ln w="8255">
            <a:solidFill>
              <a:srgbClr val="DDE4EC"/>
            </a:solidFill>
            <a:prstDash val="solid"/>
          </a:ln>
        </p:spPr>
      </p:sp>
      <p:sp>
        <p:nvSpPr>
          <p:cNvPr id="33" name="Text 28"/>
          <p:cNvSpPr/>
          <p:nvPr/>
        </p:nvSpPr>
        <p:spPr>
          <a:xfrm>
            <a:off x="640080" y="6496812"/>
            <a:ext cx="9921240" cy="155448"/>
          </a:xfrm>
          <a:prstGeom prst="rect">
            <a:avLst/>
          </a:prstGeom>
          <a:noFill/>
          <a:ln/>
        </p:spPr>
        <p:txBody>
          <a:bodyPr wrap="square" lIns="0" tIns="0" rIns="0" bIns="0" rtlCol="0" anchor="ctr">
            <a:normAutofit/>
          </a:bodyPr>
          <a:lstStyle/>
          <a:p>
            <a:pPr marL="0" indent="0" algn="l">
              <a:buNone/>
            </a:pPr>
            <a:r>
              <a:rPr lang="en-US" sz="770" dirty="0">
                <a:solidFill>
                  <a:srgbClr val="8896A8"/>
                </a:solidFill>
                <a:latin typeface="Inter" pitchFamily="34" charset="0"/>
                <a:ea typeface="Inter" pitchFamily="34" charset="-122"/>
                <a:cs typeface="Inter" pitchFamily="34" charset="-120"/>
              </a:rPr>
              <a:t>Source: BRD §§2–3; Proposed USP Comparison §§1–2. Opportunity framing reflects the supplied documents.</a:t>
            </a:r>
            <a:endParaRPr lang="en-US" sz="770" dirty="0"/>
          </a:p>
        </p:txBody>
      </p:sp>
      <p:sp>
        <p:nvSpPr>
          <p:cNvPr id="34" name="Text 29"/>
          <p:cNvSpPr/>
          <p:nvPr/>
        </p:nvSpPr>
        <p:spPr>
          <a:xfrm>
            <a:off x="10771632" y="6496812"/>
            <a:ext cx="777240" cy="155448"/>
          </a:xfrm>
          <a:prstGeom prst="rect">
            <a:avLst/>
          </a:prstGeom>
          <a:noFill/>
          <a:ln/>
        </p:spPr>
        <p:txBody>
          <a:bodyPr wrap="square" lIns="0" tIns="0" rIns="0" bIns="0" rtlCol="0" anchor="ctr">
            <a:normAutofit/>
          </a:bodyPr>
          <a:lstStyle/>
          <a:p>
            <a:pPr marL="0" indent="0" algn="r">
              <a:buNone/>
            </a:pPr>
            <a:r>
              <a:rPr lang="en-US" sz="840" b="1" dirty="0">
                <a:solidFill>
                  <a:srgbClr val="8896A8"/>
                </a:solidFill>
                <a:latin typeface="Inter" pitchFamily="34" charset="0"/>
                <a:ea typeface="Inter" pitchFamily="34" charset="-122"/>
                <a:cs typeface="Inter" pitchFamily="34" charset="-120"/>
              </a:rPr>
              <a:t>02 / 08</a:t>
            </a:r>
            <a:endParaRPr lang="en-US" sz="84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323"/>
        </a:solidFill>
        <a:effectLst/>
      </p:bgPr>
    </p:bg>
    <p:spTree>
      <p:nvGrpSpPr>
        <p:cNvPr id="1" name=""/>
        <p:cNvGrpSpPr/>
        <p:nvPr/>
      </p:nvGrpSpPr>
      <p:grpSpPr>
        <a:xfrm>
          <a:off x="0" y="0"/>
          <a:ext cx="0" cy="0"/>
          <a:chOff x="0" y="0"/>
          <a:chExt cx="0" cy="0"/>
        </a:xfrm>
      </p:grpSpPr>
      <p:sp>
        <p:nvSpPr>
          <p:cNvPr id="2" name="Text 0"/>
          <p:cNvSpPr/>
          <p:nvPr/>
        </p:nvSpPr>
        <p:spPr>
          <a:xfrm>
            <a:off x="658368" y="429768"/>
            <a:ext cx="10789920" cy="237744"/>
          </a:xfrm>
          <a:prstGeom prst="rect">
            <a:avLst/>
          </a:prstGeom>
          <a:noFill/>
          <a:ln/>
        </p:spPr>
        <p:txBody>
          <a:bodyPr wrap="square" lIns="0" tIns="0" rIns="0" bIns="0" rtlCol="0" anchor="ctr">
            <a:normAutofit/>
          </a:bodyPr>
          <a:lstStyle/>
          <a:p>
            <a:pPr marL="0" indent="0" algn="l">
              <a:buNone/>
            </a:pPr>
            <a:r>
              <a:rPr lang="en-US" sz="930" b="1" kern="0" spc="185" dirty="0">
                <a:solidFill>
                  <a:srgbClr val="2CD7C4"/>
                </a:solidFill>
                <a:latin typeface="Inter" pitchFamily="34" charset="0"/>
                <a:ea typeface="Inter" pitchFamily="34" charset="-122"/>
                <a:cs typeface="Inter" pitchFamily="34" charset="-120"/>
              </a:rPr>
              <a:t>02 / THE SOLUTION</a:t>
            </a:r>
            <a:endParaRPr lang="en-US" sz="930" dirty="0"/>
          </a:p>
        </p:txBody>
      </p:sp>
      <p:sp>
        <p:nvSpPr>
          <p:cNvPr id="3" name="Text 1"/>
          <p:cNvSpPr/>
          <p:nvPr/>
        </p:nvSpPr>
        <p:spPr>
          <a:xfrm>
            <a:off x="640080" y="786384"/>
            <a:ext cx="10917936" cy="502920"/>
          </a:xfrm>
          <a:prstGeom prst="rect">
            <a:avLst/>
          </a:prstGeom>
          <a:noFill/>
          <a:ln/>
        </p:spPr>
        <p:txBody>
          <a:bodyPr wrap="square" lIns="0" tIns="0" rIns="0" bIns="0" rtlCol="0" anchor="ctr">
            <a:normAutofit/>
          </a:bodyPr>
          <a:lstStyle/>
          <a:p>
            <a:pPr marL="0" indent="0" algn="l">
              <a:buNone/>
            </a:pPr>
            <a:r>
              <a:rPr lang="en-US" sz="2850" b="1" dirty="0">
                <a:solidFill>
                  <a:srgbClr val="FFFFFF"/>
                </a:solidFill>
                <a:latin typeface="Inter Display" pitchFamily="34" charset="0"/>
                <a:ea typeface="Inter Display" pitchFamily="34" charset="-122"/>
                <a:cs typeface="Inter Display" pitchFamily="34" charset="-120"/>
              </a:rPr>
              <a:t>One platform. Modular by design.</a:t>
            </a:r>
            <a:endParaRPr lang="en-US" sz="2850" dirty="0"/>
          </a:p>
        </p:txBody>
      </p:sp>
      <p:sp>
        <p:nvSpPr>
          <p:cNvPr id="4" name="Text 2"/>
          <p:cNvSpPr/>
          <p:nvPr/>
        </p:nvSpPr>
        <p:spPr>
          <a:xfrm>
            <a:off x="658368" y="1380744"/>
            <a:ext cx="10826496" cy="338328"/>
          </a:xfrm>
          <a:prstGeom prst="rect">
            <a:avLst/>
          </a:prstGeom>
          <a:noFill/>
          <a:ln/>
        </p:spPr>
        <p:txBody>
          <a:bodyPr wrap="square" lIns="0" tIns="0" rIns="0" bIns="0" rtlCol="0" anchor="ctr">
            <a:normAutofit/>
          </a:bodyPr>
          <a:lstStyle/>
          <a:p>
            <a:pPr marL="0" indent="0" algn="l">
              <a:buNone/>
            </a:pPr>
            <a:r>
              <a:rPr lang="en-US" sz="1250" dirty="0">
                <a:solidFill>
                  <a:srgbClr val="9CADC4"/>
                </a:solidFill>
                <a:latin typeface="Inter" pitchFamily="34" charset="0"/>
                <a:ea typeface="Inter" pitchFamily="34" charset="-122"/>
                <a:cs typeface="Inter" pitchFamily="34" charset="-120"/>
              </a:rPr>
              <a:t>A subscription-controlled foundation, a practical supply-chain core, and clearly separated expansion modules.</a:t>
            </a:r>
            <a:endParaRPr lang="en-US" sz="1250" dirty="0"/>
          </a:p>
        </p:txBody>
      </p:sp>
      <p:sp>
        <p:nvSpPr>
          <p:cNvPr id="5" name="Text 3"/>
          <p:cNvSpPr/>
          <p:nvPr/>
        </p:nvSpPr>
        <p:spPr>
          <a:xfrm>
            <a:off x="713232" y="1929384"/>
            <a:ext cx="2194560" cy="182880"/>
          </a:xfrm>
          <a:prstGeom prst="rect">
            <a:avLst/>
          </a:prstGeom>
          <a:noFill/>
          <a:ln/>
        </p:spPr>
        <p:txBody>
          <a:bodyPr wrap="square" lIns="0" tIns="0" rIns="0" bIns="0" rtlCol="0" anchor="ctr">
            <a:normAutofit/>
          </a:bodyPr>
          <a:lstStyle/>
          <a:p>
            <a:pPr marL="0" indent="0" algn="l">
              <a:buNone/>
            </a:pPr>
            <a:r>
              <a:rPr lang="en-US" sz="930" b="1" kern="0" spc="130" dirty="0">
                <a:solidFill>
                  <a:srgbClr val="9CADC4"/>
                </a:solidFill>
                <a:latin typeface="Inter" pitchFamily="34" charset="0"/>
                <a:ea typeface="Inter" pitchFamily="34" charset="-122"/>
                <a:cs typeface="Inter" pitchFamily="34" charset="-120"/>
              </a:rPr>
              <a:t>EXPANSION</a:t>
            </a:r>
            <a:endParaRPr lang="en-US" sz="930" dirty="0"/>
          </a:p>
        </p:txBody>
      </p:sp>
      <p:sp>
        <p:nvSpPr>
          <p:cNvPr id="6" name="Shape 4"/>
          <p:cNvSpPr/>
          <p:nvPr/>
        </p:nvSpPr>
        <p:spPr>
          <a:xfrm>
            <a:off x="694944" y="2185416"/>
            <a:ext cx="5276088" cy="704088"/>
          </a:xfrm>
          <a:prstGeom prst="roundRect">
            <a:avLst>
              <a:gd name="adj" fmla="val 22078"/>
            </a:avLst>
          </a:prstGeom>
          <a:solidFill>
            <a:srgbClr val="1A2B44"/>
          </a:solidFill>
          <a:ln w="10160">
            <a:solidFill>
              <a:srgbClr val="324967"/>
            </a:solidFill>
            <a:prstDash val="solid"/>
          </a:ln>
        </p:spPr>
      </p:sp>
      <p:pic>
        <p:nvPicPr>
          <p:cNvPr id="7" name="Image 0" descr="/mnt/data/erp_deck_assets/faIndustry_FFC36A.png"/>
          <p:cNvPicPr>
            <a:picLocks noChangeAspect="1"/>
          </p:cNvPicPr>
          <p:nvPr/>
        </p:nvPicPr>
        <p:blipFill>
          <a:blip r:embed="rId3"/>
          <a:stretch>
            <a:fillRect/>
          </a:stretch>
        </p:blipFill>
        <p:spPr>
          <a:xfrm>
            <a:off x="941832" y="2414016"/>
            <a:ext cx="256032" cy="256032"/>
          </a:xfrm>
          <a:prstGeom prst="rect">
            <a:avLst/>
          </a:prstGeom>
        </p:spPr>
      </p:pic>
      <p:sp>
        <p:nvSpPr>
          <p:cNvPr id="8" name="Text 5"/>
          <p:cNvSpPr/>
          <p:nvPr/>
        </p:nvSpPr>
        <p:spPr>
          <a:xfrm>
            <a:off x="1362456" y="2295144"/>
            <a:ext cx="3474720" cy="256032"/>
          </a:xfrm>
          <a:prstGeom prst="rect">
            <a:avLst/>
          </a:prstGeom>
          <a:noFill/>
          <a:ln/>
        </p:spPr>
        <p:txBody>
          <a:bodyPr wrap="square" lIns="0" tIns="0" rIns="0" bIns="0" rtlCol="0" anchor="ctr">
            <a:normAutofit/>
          </a:bodyPr>
          <a:lstStyle/>
          <a:p>
            <a:pPr marL="0" indent="0" algn="l">
              <a:buNone/>
            </a:pPr>
            <a:r>
              <a:rPr lang="en-US" sz="1530" b="1" dirty="0">
                <a:solidFill>
                  <a:srgbClr val="FFFFFF"/>
                </a:solidFill>
                <a:latin typeface="Inter" pitchFamily="34" charset="0"/>
                <a:ea typeface="Inter" pitchFamily="34" charset="-122"/>
                <a:cs typeface="Inter" pitchFamily="34" charset="-120"/>
              </a:rPr>
              <a:t>Optional Manufacturing ERP</a:t>
            </a:r>
            <a:endParaRPr lang="en-US" sz="1530" dirty="0"/>
          </a:p>
        </p:txBody>
      </p:sp>
      <p:sp>
        <p:nvSpPr>
          <p:cNvPr id="9" name="Shape 6"/>
          <p:cNvSpPr/>
          <p:nvPr/>
        </p:nvSpPr>
        <p:spPr>
          <a:xfrm>
            <a:off x="4965192" y="2377440"/>
            <a:ext cx="768096" cy="301752"/>
          </a:xfrm>
          <a:prstGeom prst="roundRect">
            <a:avLst>
              <a:gd name="adj" fmla="val 42424"/>
            </a:avLst>
          </a:prstGeom>
          <a:solidFill>
            <a:srgbClr val="3F3540"/>
          </a:solidFill>
          <a:ln w="12700">
            <a:solidFill>
              <a:srgbClr val="FFFFFF">
                <a:alpha val="0"/>
              </a:srgbClr>
            </a:solidFill>
            <a:prstDash val="solid"/>
          </a:ln>
        </p:spPr>
      </p:sp>
      <p:sp>
        <p:nvSpPr>
          <p:cNvPr id="10" name="Text 7"/>
          <p:cNvSpPr/>
          <p:nvPr/>
        </p:nvSpPr>
        <p:spPr>
          <a:xfrm>
            <a:off x="5074920" y="2386584"/>
            <a:ext cx="548640" cy="283464"/>
          </a:xfrm>
          <a:prstGeom prst="rect">
            <a:avLst/>
          </a:prstGeom>
          <a:noFill/>
          <a:ln/>
        </p:spPr>
        <p:txBody>
          <a:bodyPr wrap="square" lIns="0" tIns="0" rIns="0" bIns="0" rtlCol="0" anchor="ctr">
            <a:normAutofit/>
          </a:bodyPr>
          <a:lstStyle/>
          <a:p>
            <a:pPr marL="0" indent="0" algn="l">
              <a:buNone/>
            </a:pPr>
            <a:r>
              <a:rPr lang="en-US" sz="830" b="1" kern="0" spc="55" dirty="0">
                <a:solidFill>
                  <a:srgbClr val="FFC36A"/>
                </a:solidFill>
                <a:latin typeface="Inter" pitchFamily="34" charset="0"/>
                <a:ea typeface="Inter" pitchFamily="34" charset="-122"/>
                <a:cs typeface="Inter" pitchFamily="34" charset="-120"/>
              </a:rPr>
              <a:t>ADD-ON</a:t>
            </a:r>
            <a:endParaRPr lang="en-US" sz="830" dirty="0"/>
          </a:p>
        </p:txBody>
      </p:sp>
      <p:sp>
        <p:nvSpPr>
          <p:cNvPr id="11" name="Shape 8"/>
          <p:cNvSpPr/>
          <p:nvPr/>
        </p:nvSpPr>
        <p:spPr>
          <a:xfrm>
            <a:off x="6153912" y="2185416"/>
            <a:ext cx="5321808" cy="704088"/>
          </a:xfrm>
          <a:prstGeom prst="roundRect">
            <a:avLst>
              <a:gd name="adj" fmla="val 22078"/>
            </a:avLst>
          </a:prstGeom>
          <a:solidFill>
            <a:srgbClr val="163D44"/>
          </a:solidFill>
          <a:ln w="10160">
            <a:solidFill>
              <a:srgbClr val="2E6A6E"/>
            </a:solidFill>
            <a:prstDash val="solid"/>
          </a:ln>
        </p:spPr>
      </p:sp>
      <p:pic>
        <p:nvPicPr>
          <p:cNvPr id="12" name="Image 1" descr="/mnt/data/erp_deck_assets/faBrain_2CD7C4.png"/>
          <p:cNvPicPr>
            <a:picLocks noChangeAspect="1"/>
          </p:cNvPicPr>
          <p:nvPr/>
        </p:nvPicPr>
        <p:blipFill>
          <a:blip r:embed="rId4"/>
          <a:stretch>
            <a:fillRect/>
          </a:stretch>
        </p:blipFill>
        <p:spPr>
          <a:xfrm>
            <a:off x="6391656" y="2404872"/>
            <a:ext cx="283464" cy="283464"/>
          </a:xfrm>
          <a:prstGeom prst="rect">
            <a:avLst/>
          </a:prstGeom>
        </p:spPr>
      </p:pic>
      <p:sp>
        <p:nvSpPr>
          <p:cNvPr id="13" name="Text 9"/>
          <p:cNvSpPr/>
          <p:nvPr/>
        </p:nvSpPr>
        <p:spPr>
          <a:xfrm>
            <a:off x="6821424" y="2286000"/>
            <a:ext cx="3886200" cy="265176"/>
          </a:xfrm>
          <a:prstGeom prst="rect">
            <a:avLst/>
          </a:prstGeom>
          <a:noFill/>
          <a:ln/>
        </p:spPr>
        <p:txBody>
          <a:bodyPr wrap="square" lIns="0" tIns="0" rIns="0" bIns="0" rtlCol="0" anchor="ctr">
            <a:normAutofit/>
          </a:bodyPr>
          <a:lstStyle/>
          <a:p>
            <a:pPr marL="0" indent="0" algn="l">
              <a:buNone/>
            </a:pPr>
            <a:r>
              <a:rPr lang="en-US" sz="1440" b="1" dirty="0">
                <a:solidFill>
                  <a:srgbClr val="FFFFFF"/>
                </a:solidFill>
                <a:latin typeface="Inter" pitchFamily="34" charset="0"/>
                <a:ea typeface="Inter" pitchFamily="34" charset="-122"/>
                <a:cs typeface="Inter" pitchFamily="34" charset="-120"/>
              </a:rPr>
              <a:t>Future AI Business Intelligence</a:t>
            </a:r>
            <a:endParaRPr lang="en-US" sz="1440" dirty="0"/>
          </a:p>
        </p:txBody>
      </p:sp>
      <p:sp>
        <p:nvSpPr>
          <p:cNvPr id="14" name="Shape 10"/>
          <p:cNvSpPr/>
          <p:nvPr/>
        </p:nvSpPr>
        <p:spPr>
          <a:xfrm>
            <a:off x="10625328" y="2377440"/>
            <a:ext cx="685800" cy="301752"/>
          </a:xfrm>
          <a:prstGeom prst="roundRect">
            <a:avLst>
              <a:gd name="adj" fmla="val 42424"/>
            </a:avLst>
          </a:prstGeom>
          <a:solidFill>
            <a:srgbClr val="254D51"/>
          </a:solidFill>
          <a:ln w="12700">
            <a:solidFill>
              <a:srgbClr val="FFFFFF">
                <a:alpha val="0"/>
              </a:srgbClr>
            </a:solidFill>
            <a:prstDash val="solid"/>
          </a:ln>
        </p:spPr>
      </p:sp>
      <p:sp>
        <p:nvSpPr>
          <p:cNvPr id="15" name="Text 11"/>
          <p:cNvSpPr/>
          <p:nvPr/>
        </p:nvSpPr>
        <p:spPr>
          <a:xfrm>
            <a:off x="10735056" y="2386584"/>
            <a:ext cx="466344" cy="283464"/>
          </a:xfrm>
          <a:prstGeom prst="rect">
            <a:avLst/>
          </a:prstGeom>
          <a:noFill/>
          <a:ln/>
        </p:spPr>
        <p:txBody>
          <a:bodyPr wrap="square" lIns="0" tIns="0" rIns="0" bIns="0" rtlCol="0" anchor="ctr">
            <a:normAutofit/>
          </a:bodyPr>
          <a:lstStyle/>
          <a:p>
            <a:pPr marL="0" indent="0" algn="l">
              <a:buNone/>
            </a:pPr>
            <a:r>
              <a:rPr lang="en-US" sz="800" b="1" kern="0" spc="55" dirty="0">
                <a:solidFill>
                  <a:srgbClr val="2CD7C4"/>
                </a:solidFill>
                <a:latin typeface="Inter" pitchFamily="34" charset="0"/>
                <a:ea typeface="Inter" pitchFamily="34" charset="-122"/>
                <a:cs typeface="Inter" pitchFamily="34" charset="-120"/>
              </a:rPr>
              <a:t>FUTURE</a:t>
            </a:r>
            <a:endParaRPr lang="en-US" sz="800" dirty="0"/>
          </a:p>
        </p:txBody>
      </p:sp>
      <p:sp>
        <p:nvSpPr>
          <p:cNvPr id="16" name="Text 12"/>
          <p:cNvSpPr/>
          <p:nvPr/>
        </p:nvSpPr>
        <p:spPr>
          <a:xfrm>
            <a:off x="713232" y="3227832"/>
            <a:ext cx="3840480" cy="182880"/>
          </a:xfrm>
          <a:prstGeom prst="rect">
            <a:avLst/>
          </a:prstGeom>
          <a:noFill/>
          <a:ln/>
        </p:spPr>
        <p:txBody>
          <a:bodyPr wrap="square" lIns="0" tIns="0" rIns="0" bIns="0" rtlCol="0" anchor="ctr">
            <a:normAutofit/>
          </a:bodyPr>
          <a:lstStyle/>
          <a:p>
            <a:pPr marL="0" indent="0" algn="l">
              <a:buNone/>
            </a:pPr>
            <a:r>
              <a:rPr lang="en-US" sz="930" b="1" kern="0" spc="130" dirty="0">
                <a:solidFill>
                  <a:srgbClr val="9CADC4"/>
                </a:solidFill>
                <a:latin typeface="Inter" pitchFamily="34" charset="0"/>
                <a:ea typeface="Inter" pitchFamily="34" charset="-122"/>
                <a:cs typeface="Inter" pitchFamily="34" charset="-120"/>
              </a:rPr>
              <a:t>CORE BUSINESS OFFERING</a:t>
            </a:r>
            <a:endParaRPr lang="en-US" sz="930" dirty="0"/>
          </a:p>
        </p:txBody>
      </p:sp>
      <p:sp>
        <p:nvSpPr>
          <p:cNvPr id="17" name="Shape 13"/>
          <p:cNvSpPr/>
          <p:nvPr/>
        </p:nvSpPr>
        <p:spPr>
          <a:xfrm>
            <a:off x="704088" y="3520440"/>
            <a:ext cx="3392424" cy="1307592"/>
          </a:xfrm>
          <a:prstGeom prst="roundRect">
            <a:avLst>
              <a:gd name="adj" fmla="val 11888"/>
            </a:avLst>
          </a:prstGeom>
          <a:solidFill>
            <a:srgbClr val="1A2D48"/>
          </a:solidFill>
          <a:ln w="10160">
            <a:solidFill>
              <a:srgbClr val="315272"/>
            </a:solidFill>
            <a:prstDash val="solid"/>
          </a:ln>
        </p:spPr>
      </p:sp>
      <p:sp>
        <p:nvSpPr>
          <p:cNvPr id="18" name="Shape 14"/>
          <p:cNvSpPr/>
          <p:nvPr/>
        </p:nvSpPr>
        <p:spPr>
          <a:xfrm>
            <a:off x="905256" y="3776472"/>
            <a:ext cx="585216" cy="585216"/>
          </a:xfrm>
          <a:prstGeom prst="ellipse">
            <a:avLst/>
          </a:prstGeom>
          <a:solidFill>
            <a:srgbClr val="244A60"/>
          </a:solidFill>
          <a:ln w="12700">
            <a:solidFill>
              <a:srgbClr val="FFFFFF">
                <a:alpha val="0"/>
              </a:srgbClr>
            </a:solidFill>
            <a:prstDash val="solid"/>
          </a:ln>
        </p:spPr>
      </p:sp>
      <p:pic>
        <p:nvPicPr>
          <p:cNvPr id="19" name="Image 2" descr="/mnt/data/erp_deck_assets/faCartShopping_2CD7C4.png"/>
          <p:cNvPicPr>
            <a:picLocks noChangeAspect="1"/>
          </p:cNvPicPr>
          <p:nvPr/>
        </p:nvPicPr>
        <p:blipFill>
          <a:blip r:embed="rId5"/>
          <a:stretch>
            <a:fillRect/>
          </a:stretch>
        </p:blipFill>
        <p:spPr>
          <a:xfrm>
            <a:off x="1060704" y="3931920"/>
            <a:ext cx="274320" cy="274320"/>
          </a:xfrm>
          <a:prstGeom prst="rect">
            <a:avLst/>
          </a:prstGeom>
        </p:spPr>
      </p:pic>
      <p:sp>
        <p:nvSpPr>
          <p:cNvPr id="20" name="Text 15"/>
          <p:cNvSpPr/>
          <p:nvPr/>
        </p:nvSpPr>
        <p:spPr>
          <a:xfrm>
            <a:off x="1636776" y="3739896"/>
            <a:ext cx="2185416" cy="329184"/>
          </a:xfrm>
          <a:prstGeom prst="rect">
            <a:avLst/>
          </a:prstGeom>
          <a:noFill/>
          <a:ln/>
        </p:spPr>
        <p:txBody>
          <a:bodyPr wrap="square" lIns="0" tIns="0" rIns="0" bIns="0" rtlCol="0" anchor="ctr">
            <a:normAutofit/>
          </a:bodyPr>
          <a:lstStyle/>
          <a:p>
            <a:pPr marL="0" indent="0" algn="l">
              <a:buNone/>
            </a:pPr>
            <a:r>
              <a:rPr lang="en-US" sz="1630" b="1" dirty="0">
                <a:solidFill>
                  <a:srgbClr val="FFFFFF"/>
                </a:solidFill>
                <a:latin typeface="Inter Display" pitchFamily="34" charset="0"/>
                <a:ea typeface="Inter Display" pitchFamily="34" charset="-122"/>
                <a:cs typeface="Inter Display" pitchFamily="34" charset="-120"/>
              </a:rPr>
              <a:t>Purchasing</a:t>
            </a:r>
            <a:endParaRPr lang="en-US" sz="1630" dirty="0"/>
          </a:p>
        </p:txBody>
      </p:sp>
      <p:sp>
        <p:nvSpPr>
          <p:cNvPr id="21" name="Text 16"/>
          <p:cNvSpPr/>
          <p:nvPr/>
        </p:nvSpPr>
        <p:spPr>
          <a:xfrm>
            <a:off x="1645920" y="4197096"/>
            <a:ext cx="2121408" cy="374904"/>
          </a:xfrm>
          <a:prstGeom prst="rect">
            <a:avLst/>
          </a:prstGeom>
          <a:noFill/>
          <a:ln/>
        </p:spPr>
        <p:txBody>
          <a:bodyPr wrap="square" lIns="0" tIns="0" rIns="0" bIns="0" rtlCol="0" anchor="ctr">
            <a:normAutofit/>
          </a:bodyPr>
          <a:lstStyle/>
          <a:p>
            <a:pPr marL="0" indent="0" algn="l">
              <a:buNone/>
            </a:pPr>
            <a:r>
              <a:rPr lang="en-US" sz="1020" dirty="0">
                <a:solidFill>
                  <a:srgbClr val="9CADC4"/>
                </a:solidFill>
                <a:latin typeface="Inter" pitchFamily="34" charset="0"/>
                <a:ea typeface="Inter" pitchFamily="34" charset="-122"/>
                <a:cs typeface="Inter" pitchFamily="34" charset="-120"/>
              </a:rPr>
              <a:t>Suppliers, approvals, POs &amp; GRN</a:t>
            </a:r>
            <a:endParaRPr lang="en-US" sz="1020" dirty="0"/>
          </a:p>
        </p:txBody>
      </p:sp>
      <p:sp>
        <p:nvSpPr>
          <p:cNvPr id="22" name="Shape 17"/>
          <p:cNvSpPr/>
          <p:nvPr/>
        </p:nvSpPr>
        <p:spPr>
          <a:xfrm>
            <a:off x="4398264" y="3520440"/>
            <a:ext cx="3392424" cy="1307592"/>
          </a:xfrm>
          <a:prstGeom prst="roundRect">
            <a:avLst>
              <a:gd name="adj" fmla="val 11888"/>
            </a:avLst>
          </a:prstGeom>
          <a:solidFill>
            <a:srgbClr val="1A2D48"/>
          </a:solidFill>
          <a:ln w="10160">
            <a:solidFill>
              <a:srgbClr val="315272"/>
            </a:solidFill>
            <a:prstDash val="solid"/>
          </a:ln>
        </p:spPr>
      </p:sp>
      <p:sp>
        <p:nvSpPr>
          <p:cNvPr id="23" name="Shape 18"/>
          <p:cNvSpPr/>
          <p:nvPr/>
        </p:nvSpPr>
        <p:spPr>
          <a:xfrm>
            <a:off x="4599432" y="3776472"/>
            <a:ext cx="585216" cy="585216"/>
          </a:xfrm>
          <a:prstGeom prst="ellipse">
            <a:avLst/>
          </a:prstGeom>
          <a:solidFill>
            <a:srgbClr val="244A60"/>
          </a:solidFill>
          <a:ln w="12700">
            <a:solidFill>
              <a:srgbClr val="FFFFFF">
                <a:alpha val="0"/>
              </a:srgbClr>
            </a:solidFill>
            <a:prstDash val="solid"/>
          </a:ln>
        </p:spPr>
      </p:sp>
      <p:pic>
        <p:nvPicPr>
          <p:cNvPr id="24" name="Image 3" descr="/mnt/data/erp_deck_assets/faWarehouse_2CD7C4.png"/>
          <p:cNvPicPr>
            <a:picLocks noChangeAspect="1"/>
          </p:cNvPicPr>
          <p:nvPr/>
        </p:nvPicPr>
        <p:blipFill>
          <a:blip r:embed="rId6"/>
          <a:stretch>
            <a:fillRect/>
          </a:stretch>
        </p:blipFill>
        <p:spPr>
          <a:xfrm>
            <a:off x="4754880" y="3931920"/>
            <a:ext cx="274320" cy="274320"/>
          </a:xfrm>
          <a:prstGeom prst="rect">
            <a:avLst/>
          </a:prstGeom>
        </p:spPr>
      </p:pic>
      <p:sp>
        <p:nvSpPr>
          <p:cNvPr id="25" name="Text 19"/>
          <p:cNvSpPr/>
          <p:nvPr/>
        </p:nvSpPr>
        <p:spPr>
          <a:xfrm>
            <a:off x="5330952" y="3739896"/>
            <a:ext cx="2185416" cy="329184"/>
          </a:xfrm>
          <a:prstGeom prst="rect">
            <a:avLst/>
          </a:prstGeom>
          <a:noFill/>
          <a:ln/>
        </p:spPr>
        <p:txBody>
          <a:bodyPr wrap="square" lIns="0" tIns="0" rIns="0" bIns="0" rtlCol="0" anchor="ctr">
            <a:normAutofit/>
          </a:bodyPr>
          <a:lstStyle/>
          <a:p>
            <a:pPr marL="0" indent="0" algn="l">
              <a:buNone/>
            </a:pPr>
            <a:r>
              <a:rPr lang="en-US" sz="1630" b="1" dirty="0">
                <a:solidFill>
                  <a:srgbClr val="FFFFFF"/>
                </a:solidFill>
                <a:latin typeface="Inter Display" pitchFamily="34" charset="0"/>
                <a:ea typeface="Inter Display" pitchFamily="34" charset="-122"/>
                <a:cs typeface="Inter Display" pitchFamily="34" charset="-120"/>
              </a:rPr>
              <a:t>Inventory</a:t>
            </a:r>
            <a:endParaRPr lang="en-US" sz="1630" dirty="0"/>
          </a:p>
        </p:txBody>
      </p:sp>
      <p:sp>
        <p:nvSpPr>
          <p:cNvPr id="26" name="Text 20"/>
          <p:cNvSpPr/>
          <p:nvPr/>
        </p:nvSpPr>
        <p:spPr>
          <a:xfrm>
            <a:off x="5340096" y="4197096"/>
            <a:ext cx="2121408" cy="374904"/>
          </a:xfrm>
          <a:prstGeom prst="rect">
            <a:avLst/>
          </a:prstGeom>
          <a:noFill/>
          <a:ln/>
        </p:spPr>
        <p:txBody>
          <a:bodyPr wrap="square" lIns="0" tIns="0" rIns="0" bIns="0" rtlCol="0" anchor="ctr">
            <a:normAutofit/>
          </a:bodyPr>
          <a:lstStyle/>
          <a:p>
            <a:pPr marL="0" indent="0" algn="l">
              <a:buNone/>
            </a:pPr>
            <a:r>
              <a:rPr lang="en-US" sz="1020" dirty="0">
                <a:solidFill>
                  <a:srgbClr val="9CADC4"/>
                </a:solidFill>
                <a:latin typeface="Inter" pitchFamily="34" charset="0"/>
                <a:ea typeface="Inter" pitchFamily="34" charset="-122"/>
                <a:cs typeface="Inter" pitchFamily="34" charset="-120"/>
              </a:rPr>
              <a:t>Warehouses, balances &amp; movements</a:t>
            </a:r>
            <a:endParaRPr lang="en-US" sz="1020" dirty="0"/>
          </a:p>
        </p:txBody>
      </p:sp>
      <p:sp>
        <p:nvSpPr>
          <p:cNvPr id="27" name="Shape 21"/>
          <p:cNvSpPr/>
          <p:nvPr/>
        </p:nvSpPr>
        <p:spPr>
          <a:xfrm>
            <a:off x="8083296" y="3520440"/>
            <a:ext cx="3392424" cy="1307592"/>
          </a:xfrm>
          <a:prstGeom prst="roundRect">
            <a:avLst>
              <a:gd name="adj" fmla="val 11888"/>
            </a:avLst>
          </a:prstGeom>
          <a:solidFill>
            <a:srgbClr val="1A2D48"/>
          </a:solidFill>
          <a:ln w="10160">
            <a:solidFill>
              <a:srgbClr val="315272"/>
            </a:solidFill>
            <a:prstDash val="solid"/>
          </a:ln>
        </p:spPr>
      </p:sp>
      <p:sp>
        <p:nvSpPr>
          <p:cNvPr id="28" name="Shape 22"/>
          <p:cNvSpPr/>
          <p:nvPr/>
        </p:nvSpPr>
        <p:spPr>
          <a:xfrm>
            <a:off x="8284464" y="3776472"/>
            <a:ext cx="585216" cy="585216"/>
          </a:xfrm>
          <a:prstGeom prst="ellipse">
            <a:avLst/>
          </a:prstGeom>
          <a:solidFill>
            <a:srgbClr val="244A60"/>
          </a:solidFill>
          <a:ln w="12700">
            <a:solidFill>
              <a:srgbClr val="FFFFFF">
                <a:alpha val="0"/>
              </a:srgbClr>
            </a:solidFill>
            <a:prstDash val="solid"/>
          </a:ln>
        </p:spPr>
      </p:sp>
      <p:pic>
        <p:nvPicPr>
          <p:cNvPr id="29" name="Image 4" descr="/mnt/data/erp_deck_assets/faArrowTrendUp_2CD7C4.png"/>
          <p:cNvPicPr>
            <a:picLocks noChangeAspect="1"/>
          </p:cNvPicPr>
          <p:nvPr/>
        </p:nvPicPr>
        <p:blipFill>
          <a:blip r:embed="rId7"/>
          <a:stretch>
            <a:fillRect/>
          </a:stretch>
        </p:blipFill>
        <p:spPr>
          <a:xfrm>
            <a:off x="8439912" y="3931920"/>
            <a:ext cx="274320" cy="274320"/>
          </a:xfrm>
          <a:prstGeom prst="rect">
            <a:avLst/>
          </a:prstGeom>
        </p:spPr>
      </p:pic>
      <p:sp>
        <p:nvSpPr>
          <p:cNvPr id="30" name="Text 23"/>
          <p:cNvSpPr/>
          <p:nvPr/>
        </p:nvSpPr>
        <p:spPr>
          <a:xfrm>
            <a:off x="9015984" y="3739896"/>
            <a:ext cx="2185416" cy="329184"/>
          </a:xfrm>
          <a:prstGeom prst="rect">
            <a:avLst/>
          </a:prstGeom>
          <a:noFill/>
          <a:ln/>
        </p:spPr>
        <p:txBody>
          <a:bodyPr wrap="square" lIns="0" tIns="0" rIns="0" bIns="0" rtlCol="0" anchor="ctr">
            <a:normAutofit/>
          </a:bodyPr>
          <a:lstStyle/>
          <a:p>
            <a:pPr marL="0" indent="0" algn="l">
              <a:buNone/>
            </a:pPr>
            <a:r>
              <a:rPr lang="en-US" sz="1630" b="1" dirty="0">
                <a:solidFill>
                  <a:srgbClr val="FFFFFF"/>
                </a:solidFill>
                <a:latin typeface="Inter Display" pitchFamily="34" charset="0"/>
                <a:ea typeface="Inter Display" pitchFamily="34" charset="-122"/>
                <a:cs typeface="Inter Display" pitchFamily="34" charset="-120"/>
              </a:rPr>
              <a:t>Sales</a:t>
            </a:r>
            <a:endParaRPr lang="en-US" sz="1630" dirty="0"/>
          </a:p>
        </p:txBody>
      </p:sp>
      <p:sp>
        <p:nvSpPr>
          <p:cNvPr id="31" name="Text 24"/>
          <p:cNvSpPr/>
          <p:nvPr/>
        </p:nvSpPr>
        <p:spPr>
          <a:xfrm>
            <a:off x="9025128" y="4197096"/>
            <a:ext cx="2121408" cy="374904"/>
          </a:xfrm>
          <a:prstGeom prst="rect">
            <a:avLst/>
          </a:prstGeom>
          <a:noFill/>
          <a:ln/>
        </p:spPr>
        <p:txBody>
          <a:bodyPr wrap="square" lIns="0" tIns="0" rIns="0" bIns="0" rtlCol="0" anchor="ctr">
            <a:normAutofit/>
          </a:bodyPr>
          <a:lstStyle/>
          <a:p>
            <a:pPr marL="0" indent="0" algn="l">
              <a:buNone/>
            </a:pPr>
            <a:r>
              <a:rPr lang="en-US" sz="1020" dirty="0">
                <a:solidFill>
                  <a:srgbClr val="9CADC4"/>
                </a:solidFill>
                <a:latin typeface="Inter" pitchFamily="34" charset="0"/>
                <a:ea typeface="Inter" pitchFamily="34" charset="-122"/>
                <a:cs typeface="Inter" pitchFamily="34" charset="-120"/>
              </a:rPr>
              <a:t>Orders, reservation &amp; dispatch</a:t>
            </a:r>
            <a:endParaRPr lang="en-US" sz="1020" dirty="0"/>
          </a:p>
        </p:txBody>
      </p:sp>
      <p:sp>
        <p:nvSpPr>
          <p:cNvPr id="32" name="Text 25"/>
          <p:cNvSpPr/>
          <p:nvPr/>
        </p:nvSpPr>
        <p:spPr>
          <a:xfrm>
            <a:off x="713232" y="5084064"/>
            <a:ext cx="2880360" cy="182880"/>
          </a:xfrm>
          <a:prstGeom prst="rect">
            <a:avLst/>
          </a:prstGeom>
          <a:noFill/>
          <a:ln/>
        </p:spPr>
        <p:txBody>
          <a:bodyPr wrap="square" lIns="0" tIns="0" rIns="0" bIns="0" rtlCol="0" anchor="ctr">
            <a:normAutofit/>
          </a:bodyPr>
          <a:lstStyle/>
          <a:p>
            <a:pPr marL="0" indent="0" algn="l">
              <a:buNone/>
            </a:pPr>
            <a:r>
              <a:rPr lang="en-US" sz="930" b="1" kern="0" spc="130" dirty="0">
                <a:solidFill>
                  <a:srgbClr val="9CADC4"/>
                </a:solidFill>
                <a:latin typeface="Inter" pitchFamily="34" charset="0"/>
                <a:ea typeface="Inter" pitchFamily="34" charset="-122"/>
                <a:cs typeface="Inter" pitchFamily="34" charset="-120"/>
              </a:rPr>
              <a:t>SHARED FOUNDATION</a:t>
            </a:r>
            <a:endParaRPr lang="en-US" sz="930" dirty="0"/>
          </a:p>
        </p:txBody>
      </p:sp>
      <p:sp>
        <p:nvSpPr>
          <p:cNvPr id="33" name="Shape 26"/>
          <p:cNvSpPr/>
          <p:nvPr/>
        </p:nvSpPr>
        <p:spPr>
          <a:xfrm>
            <a:off x="694944" y="5367528"/>
            <a:ext cx="5266944" cy="694944"/>
          </a:xfrm>
          <a:prstGeom prst="roundRect">
            <a:avLst>
              <a:gd name="adj" fmla="val 19737"/>
            </a:avLst>
          </a:prstGeom>
          <a:solidFill>
            <a:srgbClr val="24406B"/>
          </a:solidFill>
          <a:ln w="10160">
            <a:solidFill>
              <a:srgbClr val="47729C"/>
            </a:solidFill>
            <a:prstDash val="solid"/>
          </a:ln>
        </p:spPr>
      </p:sp>
      <p:pic>
        <p:nvPicPr>
          <p:cNvPr id="34" name="Image 5" descr="/mnt/data/erp_deck_assets/faBuilding_FFFFFF.png"/>
          <p:cNvPicPr>
            <a:picLocks noChangeAspect="1"/>
          </p:cNvPicPr>
          <p:nvPr/>
        </p:nvPicPr>
        <p:blipFill>
          <a:blip r:embed="rId8"/>
          <a:stretch>
            <a:fillRect/>
          </a:stretch>
        </p:blipFill>
        <p:spPr>
          <a:xfrm>
            <a:off x="950976" y="5582412"/>
            <a:ext cx="256032" cy="256032"/>
          </a:xfrm>
          <a:prstGeom prst="rect">
            <a:avLst/>
          </a:prstGeom>
        </p:spPr>
      </p:pic>
      <p:sp>
        <p:nvSpPr>
          <p:cNvPr id="35" name="Text 27"/>
          <p:cNvSpPr/>
          <p:nvPr/>
        </p:nvSpPr>
        <p:spPr>
          <a:xfrm>
            <a:off x="1371600" y="5504688"/>
            <a:ext cx="2084832" cy="246888"/>
          </a:xfrm>
          <a:prstGeom prst="rect">
            <a:avLst/>
          </a:prstGeom>
          <a:noFill/>
          <a:ln/>
        </p:spPr>
        <p:txBody>
          <a:bodyPr wrap="square" lIns="0" tIns="0" rIns="0" bIns="0" rtlCol="0" anchor="ctr">
            <a:normAutofit/>
          </a:bodyPr>
          <a:lstStyle/>
          <a:p>
            <a:pPr marL="0" indent="0" algn="l">
              <a:buNone/>
            </a:pPr>
            <a:r>
              <a:rPr lang="en-US" sz="1510" b="1" dirty="0">
                <a:solidFill>
                  <a:srgbClr val="FFFFFF"/>
                </a:solidFill>
                <a:latin typeface="Inter" pitchFamily="34" charset="0"/>
                <a:ea typeface="Inter" pitchFamily="34" charset="-122"/>
                <a:cs typeface="Inter" pitchFamily="34" charset="-120"/>
              </a:rPr>
              <a:t>SaaS Platform</a:t>
            </a:r>
            <a:endParaRPr lang="en-US" sz="1510" dirty="0"/>
          </a:p>
        </p:txBody>
      </p:sp>
      <p:sp>
        <p:nvSpPr>
          <p:cNvPr id="36" name="Text 28"/>
          <p:cNvSpPr/>
          <p:nvPr/>
        </p:nvSpPr>
        <p:spPr>
          <a:xfrm>
            <a:off x="3218688" y="5527548"/>
            <a:ext cx="2459736" cy="219456"/>
          </a:xfrm>
          <a:prstGeom prst="rect">
            <a:avLst/>
          </a:prstGeom>
          <a:noFill/>
          <a:ln/>
        </p:spPr>
        <p:txBody>
          <a:bodyPr wrap="square" lIns="0" tIns="0" rIns="0" bIns="0" rtlCol="0" anchor="ctr">
            <a:normAutofit/>
          </a:bodyPr>
          <a:lstStyle/>
          <a:p>
            <a:pPr marL="0" indent="0" algn="r">
              <a:buNone/>
            </a:pPr>
            <a:r>
              <a:rPr lang="en-US" sz="1010" dirty="0">
                <a:solidFill>
                  <a:srgbClr val="D0E2FC"/>
                </a:solidFill>
                <a:latin typeface="Inter" pitchFamily="34" charset="0"/>
                <a:ea typeface="Inter" pitchFamily="34" charset="-122"/>
                <a:cs typeface="Inter" pitchFamily="34" charset="-120"/>
              </a:rPr>
              <a:t>Tenants  •  Users  •  RBAC</a:t>
            </a:r>
            <a:endParaRPr lang="en-US" sz="1010" dirty="0"/>
          </a:p>
        </p:txBody>
      </p:sp>
      <p:sp>
        <p:nvSpPr>
          <p:cNvPr id="37" name="Shape 29"/>
          <p:cNvSpPr/>
          <p:nvPr/>
        </p:nvSpPr>
        <p:spPr>
          <a:xfrm>
            <a:off x="6163056" y="5367528"/>
            <a:ext cx="5303520" cy="694944"/>
          </a:xfrm>
          <a:prstGeom prst="roundRect">
            <a:avLst>
              <a:gd name="adj" fmla="val 19737"/>
            </a:avLst>
          </a:prstGeom>
          <a:solidFill>
            <a:srgbClr val="224A52"/>
          </a:solidFill>
          <a:ln w="10160">
            <a:solidFill>
              <a:srgbClr val="398481"/>
            </a:solidFill>
            <a:prstDash val="solid"/>
          </a:ln>
        </p:spPr>
      </p:sp>
      <p:pic>
        <p:nvPicPr>
          <p:cNvPr id="38" name="Image 6" descr="/mnt/data/erp_deck_assets/faCreditCard_FFFFFF.png"/>
          <p:cNvPicPr>
            <a:picLocks noChangeAspect="1"/>
          </p:cNvPicPr>
          <p:nvPr/>
        </p:nvPicPr>
        <p:blipFill>
          <a:blip r:embed="rId9"/>
          <a:stretch>
            <a:fillRect/>
          </a:stretch>
        </p:blipFill>
        <p:spPr>
          <a:xfrm>
            <a:off x="6419088" y="5582412"/>
            <a:ext cx="274320" cy="274320"/>
          </a:xfrm>
          <a:prstGeom prst="rect">
            <a:avLst/>
          </a:prstGeom>
        </p:spPr>
      </p:pic>
      <p:sp>
        <p:nvSpPr>
          <p:cNvPr id="39" name="Text 30"/>
          <p:cNvSpPr/>
          <p:nvPr/>
        </p:nvSpPr>
        <p:spPr>
          <a:xfrm>
            <a:off x="6821424" y="5504688"/>
            <a:ext cx="3300984" cy="256032"/>
          </a:xfrm>
          <a:prstGeom prst="rect">
            <a:avLst/>
          </a:prstGeom>
          <a:noFill/>
          <a:ln/>
        </p:spPr>
        <p:txBody>
          <a:bodyPr wrap="square" lIns="0" tIns="0" rIns="0" bIns="0" rtlCol="0" anchor="ctr">
            <a:normAutofit/>
          </a:bodyPr>
          <a:lstStyle/>
          <a:p>
            <a:pPr marL="0" indent="0" algn="l">
              <a:buNone/>
            </a:pPr>
            <a:r>
              <a:rPr lang="en-US" sz="1450" b="1" dirty="0">
                <a:solidFill>
                  <a:srgbClr val="FFFFFF"/>
                </a:solidFill>
                <a:latin typeface="Inter" pitchFamily="34" charset="0"/>
                <a:ea typeface="Inter" pitchFamily="34" charset="-122"/>
                <a:cs typeface="Inter" pitchFamily="34" charset="-120"/>
              </a:rPr>
              <a:t>Subscription Management</a:t>
            </a:r>
            <a:endParaRPr lang="en-US" sz="1450" dirty="0"/>
          </a:p>
        </p:txBody>
      </p:sp>
      <p:sp>
        <p:nvSpPr>
          <p:cNvPr id="40" name="Text 31"/>
          <p:cNvSpPr/>
          <p:nvPr/>
        </p:nvSpPr>
        <p:spPr>
          <a:xfrm>
            <a:off x="9966960" y="5522976"/>
            <a:ext cx="1261872" cy="219456"/>
          </a:xfrm>
          <a:prstGeom prst="rect">
            <a:avLst/>
          </a:prstGeom>
          <a:noFill/>
          <a:ln/>
        </p:spPr>
        <p:txBody>
          <a:bodyPr wrap="square" lIns="0" tIns="0" rIns="0" bIns="0" rtlCol="0" anchor="ctr">
            <a:normAutofit/>
          </a:bodyPr>
          <a:lstStyle/>
          <a:p>
            <a:pPr marL="0" indent="0" algn="r">
              <a:buNone/>
            </a:pPr>
            <a:r>
              <a:rPr lang="en-US" sz="900" dirty="0">
                <a:solidFill>
                  <a:srgbClr val="BDFCF1"/>
                </a:solidFill>
                <a:latin typeface="Inter" pitchFamily="34" charset="0"/>
                <a:ea typeface="Inter" pitchFamily="34" charset="-122"/>
                <a:cs typeface="Inter" pitchFamily="34" charset="-120"/>
              </a:rPr>
              <a:t>Entitlements &amp; limits</a:t>
            </a:r>
            <a:endParaRPr lang="en-US" sz="900" dirty="0"/>
          </a:p>
        </p:txBody>
      </p:sp>
      <p:sp>
        <p:nvSpPr>
          <p:cNvPr id="41" name="Shape 32"/>
          <p:cNvSpPr/>
          <p:nvPr/>
        </p:nvSpPr>
        <p:spPr>
          <a:xfrm>
            <a:off x="630936" y="6473952"/>
            <a:ext cx="10936224" cy="0"/>
          </a:xfrm>
          <a:prstGeom prst="line">
            <a:avLst/>
          </a:prstGeom>
          <a:noFill/>
          <a:ln w="8255">
            <a:solidFill>
              <a:srgbClr val="294059"/>
            </a:solidFill>
            <a:prstDash val="solid"/>
          </a:ln>
        </p:spPr>
      </p:sp>
      <p:sp>
        <p:nvSpPr>
          <p:cNvPr id="42" name="Text 33"/>
          <p:cNvSpPr/>
          <p:nvPr/>
        </p:nvSpPr>
        <p:spPr>
          <a:xfrm>
            <a:off x="640080" y="6496812"/>
            <a:ext cx="9921240" cy="155448"/>
          </a:xfrm>
          <a:prstGeom prst="rect">
            <a:avLst/>
          </a:prstGeom>
          <a:noFill/>
          <a:ln/>
        </p:spPr>
        <p:txBody>
          <a:bodyPr wrap="square" lIns="0" tIns="0" rIns="0" bIns="0" rtlCol="0" anchor="ctr">
            <a:normAutofit/>
          </a:bodyPr>
          <a:lstStyle/>
          <a:p>
            <a:pPr marL="0" indent="0" algn="l">
              <a:buNone/>
            </a:pPr>
            <a:r>
              <a:rPr lang="en-US" sz="770" dirty="0">
                <a:solidFill>
                  <a:srgbClr val="68809C"/>
                </a:solidFill>
                <a:latin typeface="Inter" pitchFamily="34" charset="0"/>
                <a:ea typeface="Inter" pitchFamily="34" charset="-122"/>
                <a:cs typeface="Inter" pitchFamily="34" charset="-120"/>
              </a:rPr>
              <a:t>Source: BRD §§4–6, 7–9. Manufacturing and AI are not baseline capabilities.</a:t>
            </a:r>
            <a:endParaRPr lang="en-US" sz="770" dirty="0"/>
          </a:p>
        </p:txBody>
      </p:sp>
      <p:sp>
        <p:nvSpPr>
          <p:cNvPr id="43" name="Text 34"/>
          <p:cNvSpPr/>
          <p:nvPr/>
        </p:nvSpPr>
        <p:spPr>
          <a:xfrm>
            <a:off x="10771632" y="6496812"/>
            <a:ext cx="777240" cy="155448"/>
          </a:xfrm>
          <a:prstGeom prst="rect">
            <a:avLst/>
          </a:prstGeom>
          <a:noFill/>
          <a:ln/>
        </p:spPr>
        <p:txBody>
          <a:bodyPr wrap="square" lIns="0" tIns="0" rIns="0" bIns="0" rtlCol="0" anchor="ctr">
            <a:normAutofit/>
          </a:bodyPr>
          <a:lstStyle/>
          <a:p>
            <a:pPr marL="0" indent="0" algn="r">
              <a:buNone/>
            </a:pPr>
            <a:r>
              <a:rPr lang="en-US" sz="840" b="1" dirty="0">
                <a:solidFill>
                  <a:srgbClr val="68809C"/>
                </a:solidFill>
                <a:latin typeface="Inter" pitchFamily="34" charset="0"/>
                <a:ea typeface="Inter" pitchFamily="34" charset="-122"/>
                <a:cs typeface="Inter" pitchFamily="34" charset="-120"/>
              </a:rPr>
              <a:t>03 / 08</a:t>
            </a:r>
            <a:endParaRPr lang="en-US" sz="84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8FC"/>
        </a:solidFill>
        <a:effectLst/>
      </p:bgPr>
    </p:bg>
    <p:spTree>
      <p:nvGrpSpPr>
        <p:cNvPr id="1" name=""/>
        <p:cNvGrpSpPr/>
        <p:nvPr/>
      </p:nvGrpSpPr>
      <p:grpSpPr>
        <a:xfrm>
          <a:off x="0" y="0"/>
          <a:ext cx="0" cy="0"/>
          <a:chOff x="0" y="0"/>
          <a:chExt cx="0" cy="0"/>
        </a:xfrm>
      </p:grpSpPr>
      <p:sp>
        <p:nvSpPr>
          <p:cNvPr id="2" name="Text 0"/>
          <p:cNvSpPr/>
          <p:nvPr/>
        </p:nvSpPr>
        <p:spPr>
          <a:xfrm>
            <a:off x="658368" y="429768"/>
            <a:ext cx="10789920" cy="237744"/>
          </a:xfrm>
          <a:prstGeom prst="rect">
            <a:avLst/>
          </a:prstGeom>
          <a:noFill/>
          <a:ln/>
        </p:spPr>
        <p:txBody>
          <a:bodyPr wrap="square" lIns="0" tIns="0" rIns="0" bIns="0" rtlCol="0" anchor="ctr">
            <a:normAutofit/>
          </a:bodyPr>
          <a:lstStyle/>
          <a:p>
            <a:pPr marL="0" indent="0" algn="l">
              <a:buNone/>
            </a:pPr>
            <a:r>
              <a:rPr lang="en-US" sz="930" b="1" kern="0" spc="185" dirty="0">
                <a:solidFill>
                  <a:srgbClr val="2563EB"/>
                </a:solidFill>
                <a:latin typeface="Inter" pitchFamily="34" charset="0"/>
                <a:ea typeface="Inter" pitchFamily="34" charset="-122"/>
                <a:cs typeface="Inter" pitchFamily="34" charset="-120"/>
              </a:rPr>
              <a:t>03 / BUSINESS WORKFLOW</a:t>
            </a:r>
            <a:endParaRPr lang="en-US" sz="930" dirty="0"/>
          </a:p>
        </p:txBody>
      </p:sp>
      <p:sp>
        <p:nvSpPr>
          <p:cNvPr id="3" name="Text 1"/>
          <p:cNvSpPr/>
          <p:nvPr/>
        </p:nvSpPr>
        <p:spPr>
          <a:xfrm>
            <a:off x="640080" y="786384"/>
            <a:ext cx="10917936" cy="502920"/>
          </a:xfrm>
          <a:prstGeom prst="rect">
            <a:avLst/>
          </a:prstGeom>
          <a:noFill/>
          <a:ln/>
        </p:spPr>
        <p:txBody>
          <a:bodyPr wrap="square" lIns="0" tIns="0" rIns="0" bIns="0" rtlCol="0" anchor="ctr">
            <a:normAutofit/>
          </a:bodyPr>
          <a:lstStyle/>
          <a:p>
            <a:pPr marL="0" indent="0" algn="l">
              <a:buNone/>
            </a:pPr>
            <a:r>
              <a:rPr lang="en-US" sz="2850" b="1" dirty="0">
                <a:solidFill>
                  <a:srgbClr val="172439"/>
                </a:solidFill>
                <a:latin typeface="Inter Display" pitchFamily="34" charset="0"/>
                <a:ea typeface="Inter Display" pitchFamily="34" charset="-122"/>
                <a:cs typeface="Inter Display" pitchFamily="34" charset="-120"/>
              </a:rPr>
              <a:t>From supplier to customer—one traceable journey.</a:t>
            </a:r>
            <a:endParaRPr lang="en-US" sz="2850" dirty="0"/>
          </a:p>
        </p:txBody>
      </p:sp>
      <p:sp>
        <p:nvSpPr>
          <p:cNvPr id="4" name="Text 2"/>
          <p:cNvSpPr/>
          <p:nvPr/>
        </p:nvSpPr>
        <p:spPr>
          <a:xfrm>
            <a:off x="658368" y="1380744"/>
            <a:ext cx="10826496" cy="338328"/>
          </a:xfrm>
          <a:prstGeom prst="rect">
            <a:avLst/>
          </a:prstGeom>
          <a:noFill/>
          <a:ln/>
        </p:spPr>
        <p:txBody>
          <a:bodyPr wrap="square" lIns="0" tIns="0" rIns="0" bIns="0" rtlCol="0" anchor="ctr">
            <a:normAutofit/>
          </a:bodyPr>
          <a:lstStyle/>
          <a:p>
            <a:pPr marL="0" indent="0" algn="l">
              <a:buNone/>
            </a:pPr>
            <a:r>
              <a:rPr lang="en-US" sz="1250" dirty="0">
                <a:solidFill>
                  <a:srgbClr val="677995"/>
                </a:solidFill>
                <a:latin typeface="Inter" pitchFamily="34" charset="0"/>
                <a:ea typeface="Inter" pitchFamily="34" charset="-122"/>
                <a:cs typeface="Inter" pitchFamily="34" charset="-120"/>
              </a:rPr>
              <a:t>Key supply-chain transactions share products, warehouses, movements, fulfilment data and controls.</a:t>
            </a:r>
            <a:endParaRPr lang="en-US" sz="1250" dirty="0"/>
          </a:p>
        </p:txBody>
      </p:sp>
      <p:sp>
        <p:nvSpPr>
          <p:cNvPr id="5" name="Shape 3"/>
          <p:cNvSpPr/>
          <p:nvPr/>
        </p:nvSpPr>
        <p:spPr>
          <a:xfrm>
            <a:off x="621792" y="2093976"/>
            <a:ext cx="2057400" cy="2130552"/>
          </a:xfrm>
          <a:prstGeom prst="roundRect">
            <a:avLst>
              <a:gd name="adj" fmla="val 5778"/>
            </a:avLst>
          </a:prstGeom>
          <a:solidFill>
            <a:srgbClr val="FFFFFF"/>
          </a:solidFill>
          <a:ln w="10160">
            <a:solidFill>
              <a:srgbClr val="DDE5EF"/>
            </a:solidFill>
            <a:prstDash val="solid"/>
          </a:ln>
          <a:effectLst>
            <a:outerShdw blurRad="38100" dist="50800" dir="2700000" algn="bl" rotWithShape="0">
              <a:srgbClr val="000000">
                <a:alpha val="12000"/>
              </a:srgbClr>
            </a:outerShdw>
          </a:effectLst>
        </p:spPr>
      </p:sp>
      <p:sp>
        <p:nvSpPr>
          <p:cNvPr id="6" name="Text 4"/>
          <p:cNvSpPr/>
          <p:nvPr/>
        </p:nvSpPr>
        <p:spPr>
          <a:xfrm>
            <a:off x="804672" y="2276856"/>
            <a:ext cx="475488" cy="265176"/>
          </a:xfrm>
          <a:prstGeom prst="rect">
            <a:avLst/>
          </a:prstGeom>
          <a:noFill/>
          <a:ln/>
        </p:spPr>
        <p:txBody>
          <a:bodyPr wrap="square" lIns="0" tIns="0" rIns="0" bIns="0" rtlCol="0" anchor="ctr">
            <a:normAutofit/>
          </a:bodyPr>
          <a:lstStyle/>
          <a:p>
            <a:pPr marL="0" indent="0" algn="l">
              <a:buNone/>
            </a:pPr>
            <a:r>
              <a:rPr lang="en-US" sz="1060" b="1" kern="0" spc="110" dirty="0">
                <a:solidFill>
                  <a:srgbClr val="2563EB"/>
                </a:solidFill>
                <a:latin typeface="Inter" pitchFamily="34" charset="0"/>
                <a:ea typeface="Inter" pitchFamily="34" charset="-122"/>
                <a:cs typeface="Inter" pitchFamily="34" charset="-120"/>
              </a:rPr>
              <a:t>01</a:t>
            </a:r>
            <a:endParaRPr lang="en-US" sz="1060" dirty="0"/>
          </a:p>
        </p:txBody>
      </p:sp>
      <p:sp>
        <p:nvSpPr>
          <p:cNvPr id="7" name="Shape 5"/>
          <p:cNvSpPr/>
          <p:nvPr/>
        </p:nvSpPr>
        <p:spPr>
          <a:xfrm>
            <a:off x="795528" y="2688336"/>
            <a:ext cx="676656" cy="676656"/>
          </a:xfrm>
          <a:prstGeom prst="ellipse">
            <a:avLst/>
          </a:prstGeom>
          <a:solidFill>
            <a:srgbClr val="EAF1FF"/>
          </a:solidFill>
          <a:ln w="12700">
            <a:solidFill>
              <a:srgbClr val="FFFFFF">
                <a:alpha val="0"/>
              </a:srgbClr>
            </a:solidFill>
            <a:prstDash val="solid"/>
          </a:ln>
        </p:spPr>
      </p:sp>
      <p:pic>
        <p:nvPicPr>
          <p:cNvPr id="8" name="Image 0" descr="/mnt/data/erp_deck_assets/faClipboardList_2563EB.png"/>
          <p:cNvPicPr>
            <a:picLocks noChangeAspect="1"/>
          </p:cNvPicPr>
          <p:nvPr/>
        </p:nvPicPr>
        <p:blipFill>
          <a:blip r:embed="rId3"/>
          <a:stretch>
            <a:fillRect/>
          </a:stretch>
        </p:blipFill>
        <p:spPr>
          <a:xfrm>
            <a:off x="980237" y="2875788"/>
            <a:ext cx="320040" cy="320040"/>
          </a:xfrm>
          <a:prstGeom prst="rect">
            <a:avLst/>
          </a:prstGeom>
        </p:spPr>
      </p:pic>
      <p:sp>
        <p:nvSpPr>
          <p:cNvPr id="9" name="Text 6"/>
          <p:cNvSpPr/>
          <p:nvPr/>
        </p:nvSpPr>
        <p:spPr>
          <a:xfrm>
            <a:off x="777240" y="3493008"/>
            <a:ext cx="1746504" cy="301752"/>
          </a:xfrm>
          <a:prstGeom prst="rect">
            <a:avLst/>
          </a:prstGeom>
          <a:noFill/>
          <a:ln/>
        </p:spPr>
        <p:txBody>
          <a:bodyPr wrap="square" lIns="0" tIns="0" rIns="0" bIns="0" rtlCol="0" anchor="ctr">
            <a:normAutofit/>
          </a:bodyPr>
          <a:lstStyle/>
          <a:p>
            <a:pPr marL="0" indent="0" algn="l">
              <a:buNone/>
            </a:pPr>
            <a:r>
              <a:rPr lang="en-US" sz="1340" b="1" dirty="0">
                <a:solidFill>
                  <a:srgbClr val="172439"/>
                </a:solidFill>
                <a:latin typeface="Inter Display" pitchFamily="34" charset="0"/>
                <a:ea typeface="Inter Display" pitchFamily="34" charset="-122"/>
                <a:cs typeface="Inter Display" pitchFamily="34" charset="-120"/>
              </a:rPr>
              <a:t>Requisition &amp; PO</a:t>
            </a:r>
            <a:endParaRPr lang="en-US" sz="1340" dirty="0"/>
          </a:p>
        </p:txBody>
      </p:sp>
      <p:sp>
        <p:nvSpPr>
          <p:cNvPr id="10" name="Text 7"/>
          <p:cNvSpPr/>
          <p:nvPr/>
        </p:nvSpPr>
        <p:spPr>
          <a:xfrm>
            <a:off x="777240" y="3831336"/>
            <a:ext cx="1746504" cy="292608"/>
          </a:xfrm>
          <a:prstGeom prst="rect">
            <a:avLst/>
          </a:prstGeom>
          <a:noFill/>
          <a:ln/>
        </p:spPr>
        <p:txBody>
          <a:bodyPr wrap="square" lIns="0" tIns="0" rIns="0" bIns="0" rtlCol="0" anchor="ctr">
            <a:normAutofit/>
          </a:bodyPr>
          <a:lstStyle/>
          <a:p>
            <a:pPr marL="0" indent="0" algn="l">
              <a:buNone/>
            </a:pPr>
            <a:r>
              <a:rPr lang="en-US" sz="930" dirty="0">
                <a:solidFill>
                  <a:srgbClr val="677995"/>
                </a:solidFill>
                <a:latin typeface="Inter" pitchFamily="34" charset="0"/>
                <a:ea typeface="Inter" pitchFamily="34" charset="-122"/>
                <a:cs typeface="Inter" pitchFamily="34" charset="-120"/>
              </a:rPr>
              <a:t>Request, approval, supplier order</a:t>
            </a:r>
            <a:endParaRPr lang="en-US" sz="930" dirty="0"/>
          </a:p>
        </p:txBody>
      </p:sp>
      <p:sp>
        <p:nvSpPr>
          <p:cNvPr id="11" name="Shape 8"/>
          <p:cNvSpPr/>
          <p:nvPr/>
        </p:nvSpPr>
        <p:spPr>
          <a:xfrm>
            <a:off x="2697480" y="3108960"/>
            <a:ext cx="178308" cy="0"/>
          </a:xfrm>
          <a:prstGeom prst="line">
            <a:avLst/>
          </a:prstGeom>
          <a:noFill/>
          <a:ln w="28575">
            <a:solidFill>
              <a:srgbClr val="2CD7C4"/>
            </a:solidFill>
            <a:prstDash val="solid"/>
            <a:tailEnd type="triangle"/>
          </a:ln>
        </p:spPr>
      </p:sp>
      <p:sp>
        <p:nvSpPr>
          <p:cNvPr id="12" name="Shape 9"/>
          <p:cNvSpPr/>
          <p:nvPr/>
        </p:nvSpPr>
        <p:spPr>
          <a:xfrm>
            <a:off x="2916936" y="2093976"/>
            <a:ext cx="2057400" cy="2130552"/>
          </a:xfrm>
          <a:prstGeom prst="roundRect">
            <a:avLst>
              <a:gd name="adj" fmla="val 5778"/>
            </a:avLst>
          </a:prstGeom>
          <a:solidFill>
            <a:srgbClr val="FFFFFF"/>
          </a:solidFill>
          <a:ln w="10160">
            <a:solidFill>
              <a:srgbClr val="DDE5EF"/>
            </a:solidFill>
            <a:prstDash val="solid"/>
          </a:ln>
          <a:effectLst>
            <a:outerShdw blurRad="38100" dist="50800" dir="2700000" algn="bl" rotWithShape="0">
              <a:srgbClr val="000000">
                <a:alpha val="12000"/>
              </a:srgbClr>
            </a:outerShdw>
          </a:effectLst>
        </p:spPr>
      </p:sp>
      <p:sp>
        <p:nvSpPr>
          <p:cNvPr id="13" name="Text 10"/>
          <p:cNvSpPr/>
          <p:nvPr/>
        </p:nvSpPr>
        <p:spPr>
          <a:xfrm>
            <a:off x="3099816" y="2276856"/>
            <a:ext cx="475488" cy="265176"/>
          </a:xfrm>
          <a:prstGeom prst="rect">
            <a:avLst/>
          </a:prstGeom>
          <a:noFill/>
          <a:ln/>
        </p:spPr>
        <p:txBody>
          <a:bodyPr wrap="square" lIns="0" tIns="0" rIns="0" bIns="0" rtlCol="0" anchor="ctr">
            <a:normAutofit/>
          </a:bodyPr>
          <a:lstStyle/>
          <a:p>
            <a:pPr marL="0" indent="0" algn="l">
              <a:buNone/>
            </a:pPr>
            <a:r>
              <a:rPr lang="en-US" sz="1060" b="1" kern="0" spc="110" dirty="0">
                <a:solidFill>
                  <a:srgbClr val="2563EB"/>
                </a:solidFill>
                <a:latin typeface="Inter" pitchFamily="34" charset="0"/>
                <a:ea typeface="Inter" pitchFamily="34" charset="-122"/>
                <a:cs typeface="Inter" pitchFamily="34" charset="-120"/>
              </a:rPr>
              <a:t>02</a:t>
            </a:r>
            <a:endParaRPr lang="en-US" sz="1060" dirty="0"/>
          </a:p>
        </p:txBody>
      </p:sp>
      <p:sp>
        <p:nvSpPr>
          <p:cNvPr id="14" name="Shape 11"/>
          <p:cNvSpPr/>
          <p:nvPr/>
        </p:nvSpPr>
        <p:spPr>
          <a:xfrm>
            <a:off x="3090672" y="2688336"/>
            <a:ext cx="676656" cy="676656"/>
          </a:xfrm>
          <a:prstGeom prst="ellipse">
            <a:avLst/>
          </a:prstGeom>
          <a:solidFill>
            <a:srgbClr val="EAF1FF"/>
          </a:solidFill>
          <a:ln w="12700">
            <a:solidFill>
              <a:srgbClr val="FFFFFF">
                <a:alpha val="0"/>
              </a:srgbClr>
            </a:solidFill>
            <a:prstDash val="solid"/>
          </a:ln>
        </p:spPr>
      </p:sp>
      <p:pic>
        <p:nvPicPr>
          <p:cNvPr id="15" name="Image 1" descr="/mnt/data/erp_deck_assets/faBoxOpen_2563EB.png"/>
          <p:cNvPicPr>
            <a:picLocks noChangeAspect="1"/>
          </p:cNvPicPr>
          <p:nvPr/>
        </p:nvPicPr>
        <p:blipFill>
          <a:blip r:embed="rId4"/>
          <a:stretch>
            <a:fillRect/>
          </a:stretch>
        </p:blipFill>
        <p:spPr>
          <a:xfrm>
            <a:off x="3275381" y="2875788"/>
            <a:ext cx="320040" cy="320040"/>
          </a:xfrm>
          <a:prstGeom prst="rect">
            <a:avLst/>
          </a:prstGeom>
        </p:spPr>
      </p:pic>
      <p:sp>
        <p:nvSpPr>
          <p:cNvPr id="16" name="Text 12"/>
          <p:cNvSpPr/>
          <p:nvPr/>
        </p:nvSpPr>
        <p:spPr>
          <a:xfrm>
            <a:off x="3072384" y="3493008"/>
            <a:ext cx="1746504" cy="301752"/>
          </a:xfrm>
          <a:prstGeom prst="rect">
            <a:avLst/>
          </a:prstGeom>
          <a:noFill/>
          <a:ln/>
        </p:spPr>
        <p:txBody>
          <a:bodyPr wrap="square" lIns="0" tIns="0" rIns="0" bIns="0" rtlCol="0" anchor="ctr">
            <a:normAutofit/>
          </a:bodyPr>
          <a:lstStyle/>
          <a:p>
            <a:pPr marL="0" indent="0" algn="l">
              <a:buNone/>
            </a:pPr>
            <a:r>
              <a:rPr lang="en-US" sz="1340" b="1" dirty="0">
                <a:solidFill>
                  <a:srgbClr val="172439"/>
                </a:solidFill>
                <a:latin typeface="Inter Display" pitchFamily="34" charset="0"/>
                <a:ea typeface="Inter Display" pitchFamily="34" charset="-122"/>
                <a:cs typeface="Inter Display" pitchFamily="34" charset="-120"/>
              </a:rPr>
              <a:t>Goods Receipt</a:t>
            </a:r>
            <a:endParaRPr lang="en-US" sz="1340" dirty="0"/>
          </a:p>
        </p:txBody>
      </p:sp>
      <p:sp>
        <p:nvSpPr>
          <p:cNvPr id="17" name="Text 13"/>
          <p:cNvSpPr/>
          <p:nvPr/>
        </p:nvSpPr>
        <p:spPr>
          <a:xfrm>
            <a:off x="3072384" y="3831336"/>
            <a:ext cx="1746504" cy="292608"/>
          </a:xfrm>
          <a:prstGeom prst="rect">
            <a:avLst/>
          </a:prstGeom>
          <a:noFill/>
          <a:ln/>
        </p:spPr>
        <p:txBody>
          <a:bodyPr wrap="square" lIns="0" tIns="0" rIns="0" bIns="0" rtlCol="0" anchor="ctr">
            <a:normAutofit/>
          </a:bodyPr>
          <a:lstStyle/>
          <a:p>
            <a:pPr marL="0" indent="0" algn="l">
              <a:buNone/>
            </a:pPr>
            <a:r>
              <a:rPr lang="en-US" sz="930" dirty="0">
                <a:solidFill>
                  <a:srgbClr val="677995"/>
                </a:solidFill>
                <a:latin typeface="Inter" pitchFamily="34" charset="0"/>
                <a:ea typeface="Inter" pitchFamily="34" charset="-122"/>
                <a:cs typeface="Inter" pitchFamily="34" charset="-120"/>
              </a:rPr>
              <a:t>GRN, partial receipt, quantity reconciliation</a:t>
            </a:r>
            <a:endParaRPr lang="en-US" sz="930" dirty="0"/>
          </a:p>
        </p:txBody>
      </p:sp>
      <p:sp>
        <p:nvSpPr>
          <p:cNvPr id="18" name="Shape 14"/>
          <p:cNvSpPr/>
          <p:nvPr/>
        </p:nvSpPr>
        <p:spPr>
          <a:xfrm>
            <a:off x="4992624" y="3108960"/>
            <a:ext cx="178308" cy="0"/>
          </a:xfrm>
          <a:prstGeom prst="line">
            <a:avLst/>
          </a:prstGeom>
          <a:noFill/>
          <a:ln w="28575">
            <a:solidFill>
              <a:srgbClr val="2CD7C4"/>
            </a:solidFill>
            <a:prstDash val="solid"/>
            <a:tailEnd type="triangle"/>
          </a:ln>
        </p:spPr>
      </p:sp>
      <p:sp>
        <p:nvSpPr>
          <p:cNvPr id="19" name="Shape 15"/>
          <p:cNvSpPr/>
          <p:nvPr/>
        </p:nvSpPr>
        <p:spPr>
          <a:xfrm>
            <a:off x="5212080" y="2093976"/>
            <a:ext cx="2057400" cy="2130552"/>
          </a:xfrm>
          <a:prstGeom prst="roundRect">
            <a:avLst>
              <a:gd name="adj" fmla="val 5778"/>
            </a:avLst>
          </a:prstGeom>
          <a:solidFill>
            <a:srgbClr val="FFFFFF"/>
          </a:solidFill>
          <a:ln w="10160">
            <a:solidFill>
              <a:srgbClr val="DDE5EF"/>
            </a:solidFill>
            <a:prstDash val="solid"/>
          </a:ln>
          <a:effectLst>
            <a:outerShdw blurRad="38100" dist="50800" dir="2700000" algn="bl" rotWithShape="0">
              <a:srgbClr val="000000">
                <a:alpha val="12000"/>
              </a:srgbClr>
            </a:outerShdw>
          </a:effectLst>
        </p:spPr>
      </p:sp>
      <p:sp>
        <p:nvSpPr>
          <p:cNvPr id="20" name="Text 16"/>
          <p:cNvSpPr/>
          <p:nvPr/>
        </p:nvSpPr>
        <p:spPr>
          <a:xfrm>
            <a:off x="5394960" y="2276856"/>
            <a:ext cx="475488" cy="265176"/>
          </a:xfrm>
          <a:prstGeom prst="rect">
            <a:avLst/>
          </a:prstGeom>
          <a:noFill/>
          <a:ln/>
        </p:spPr>
        <p:txBody>
          <a:bodyPr wrap="square" lIns="0" tIns="0" rIns="0" bIns="0" rtlCol="0" anchor="ctr">
            <a:normAutofit/>
          </a:bodyPr>
          <a:lstStyle/>
          <a:p>
            <a:pPr marL="0" indent="0" algn="l">
              <a:buNone/>
            </a:pPr>
            <a:r>
              <a:rPr lang="en-US" sz="1060" b="1" kern="0" spc="110" dirty="0">
                <a:solidFill>
                  <a:srgbClr val="2563EB"/>
                </a:solidFill>
                <a:latin typeface="Inter" pitchFamily="34" charset="0"/>
                <a:ea typeface="Inter" pitchFamily="34" charset="-122"/>
                <a:cs typeface="Inter" pitchFamily="34" charset="-120"/>
              </a:rPr>
              <a:t>03</a:t>
            </a:r>
            <a:endParaRPr lang="en-US" sz="1060" dirty="0"/>
          </a:p>
        </p:txBody>
      </p:sp>
      <p:sp>
        <p:nvSpPr>
          <p:cNvPr id="21" name="Shape 17"/>
          <p:cNvSpPr/>
          <p:nvPr/>
        </p:nvSpPr>
        <p:spPr>
          <a:xfrm>
            <a:off x="5385816" y="2688336"/>
            <a:ext cx="676656" cy="676656"/>
          </a:xfrm>
          <a:prstGeom prst="ellipse">
            <a:avLst/>
          </a:prstGeom>
          <a:solidFill>
            <a:srgbClr val="EAF1FF"/>
          </a:solidFill>
          <a:ln w="12700">
            <a:solidFill>
              <a:srgbClr val="FFFFFF">
                <a:alpha val="0"/>
              </a:srgbClr>
            </a:solidFill>
            <a:prstDash val="solid"/>
          </a:ln>
        </p:spPr>
      </p:sp>
      <p:pic>
        <p:nvPicPr>
          <p:cNvPr id="22" name="Image 2" descr="/mnt/data/erp_deck_assets/faWarehouse_2563EB.png"/>
          <p:cNvPicPr>
            <a:picLocks noChangeAspect="1"/>
          </p:cNvPicPr>
          <p:nvPr/>
        </p:nvPicPr>
        <p:blipFill>
          <a:blip r:embed="rId5"/>
          <a:stretch>
            <a:fillRect/>
          </a:stretch>
        </p:blipFill>
        <p:spPr>
          <a:xfrm>
            <a:off x="5570525" y="2875788"/>
            <a:ext cx="320040" cy="320040"/>
          </a:xfrm>
          <a:prstGeom prst="rect">
            <a:avLst/>
          </a:prstGeom>
        </p:spPr>
      </p:pic>
      <p:sp>
        <p:nvSpPr>
          <p:cNvPr id="23" name="Text 18"/>
          <p:cNvSpPr/>
          <p:nvPr/>
        </p:nvSpPr>
        <p:spPr>
          <a:xfrm>
            <a:off x="5367528" y="3493008"/>
            <a:ext cx="1746504" cy="301752"/>
          </a:xfrm>
          <a:prstGeom prst="rect">
            <a:avLst/>
          </a:prstGeom>
          <a:noFill/>
          <a:ln/>
        </p:spPr>
        <p:txBody>
          <a:bodyPr wrap="square" lIns="0" tIns="0" rIns="0" bIns="0" rtlCol="0" anchor="ctr">
            <a:normAutofit/>
          </a:bodyPr>
          <a:lstStyle/>
          <a:p>
            <a:pPr marL="0" indent="0" algn="l">
              <a:buNone/>
            </a:pPr>
            <a:r>
              <a:rPr lang="en-US" sz="1340" b="1" dirty="0">
                <a:solidFill>
                  <a:srgbClr val="172439"/>
                </a:solidFill>
                <a:latin typeface="Inter Display" pitchFamily="34" charset="0"/>
                <a:ea typeface="Inter Display" pitchFamily="34" charset="-122"/>
                <a:cs typeface="Inter Display" pitchFamily="34" charset="-120"/>
              </a:rPr>
              <a:t>Inventory</a:t>
            </a:r>
            <a:endParaRPr lang="en-US" sz="1340" dirty="0"/>
          </a:p>
        </p:txBody>
      </p:sp>
      <p:sp>
        <p:nvSpPr>
          <p:cNvPr id="24" name="Text 19"/>
          <p:cNvSpPr/>
          <p:nvPr/>
        </p:nvSpPr>
        <p:spPr>
          <a:xfrm>
            <a:off x="5367528" y="3831336"/>
            <a:ext cx="1746504" cy="292608"/>
          </a:xfrm>
          <a:prstGeom prst="rect">
            <a:avLst/>
          </a:prstGeom>
          <a:noFill/>
          <a:ln/>
        </p:spPr>
        <p:txBody>
          <a:bodyPr wrap="square" lIns="0" tIns="0" rIns="0" bIns="0" rtlCol="0" anchor="ctr">
            <a:normAutofit/>
          </a:bodyPr>
          <a:lstStyle/>
          <a:p>
            <a:pPr marL="0" indent="0" algn="l">
              <a:buNone/>
            </a:pPr>
            <a:r>
              <a:rPr lang="en-US" sz="930" dirty="0">
                <a:solidFill>
                  <a:srgbClr val="677995"/>
                </a:solidFill>
                <a:latin typeface="Inter" pitchFamily="34" charset="0"/>
                <a:ea typeface="Inter" pitchFamily="34" charset="-122"/>
                <a:cs typeface="Inter" pitchFamily="34" charset="-120"/>
              </a:rPr>
              <a:t>Putaway, StockLedger, balances and transfers</a:t>
            </a:r>
            <a:endParaRPr lang="en-US" sz="930" dirty="0"/>
          </a:p>
        </p:txBody>
      </p:sp>
      <p:sp>
        <p:nvSpPr>
          <p:cNvPr id="25" name="Shape 20"/>
          <p:cNvSpPr/>
          <p:nvPr/>
        </p:nvSpPr>
        <p:spPr>
          <a:xfrm>
            <a:off x="7287768" y="3108960"/>
            <a:ext cx="178308" cy="0"/>
          </a:xfrm>
          <a:prstGeom prst="line">
            <a:avLst/>
          </a:prstGeom>
          <a:noFill/>
          <a:ln w="28575">
            <a:solidFill>
              <a:srgbClr val="2CD7C4"/>
            </a:solidFill>
            <a:prstDash val="solid"/>
            <a:tailEnd type="triangle"/>
          </a:ln>
        </p:spPr>
      </p:sp>
      <p:sp>
        <p:nvSpPr>
          <p:cNvPr id="26" name="Shape 21"/>
          <p:cNvSpPr/>
          <p:nvPr/>
        </p:nvSpPr>
        <p:spPr>
          <a:xfrm>
            <a:off x="7507224" y="2093976"/>
            <a:ext cx="2057400" cy="2130552"/>
          </a:xfrm>
          <a:prstGeom prst="roundRect">
            <a:avLst>
              <a:gd name="adj" fmla="val 5778"/>
            </a:avLst>
          </a:prstGeom>
          <a:solidFill>
            <a:srgbClr val="FFFFFF"/>
          </a:solidFill>
          <a:ln w="10160">
            <a:solidFill>
              <a:srgbClr val="DDE5EF"/>
            </a:solidFill>
            <a:prstDash val="solid"/>
          </a:ln>
          <a:effectLst>
            <a:outerShdw blurRad="38100" dist="50800" dir="2700000" algn="bl" rotWithShape="0">
              <a:srgbClr val="000000">
                <a:alpha val="12000"/>
              </a:srgbClr>
            </a:outerShdw>
          </a:effectLst>
        </p:spPr>
      </p:sp>
      <p:sp>
        <p:nvSpPr>
          <p:cNvPr id="27" name="Text 22"/>
          <p:cNvSpPr/>
          <p:nvPr/>
        </p:nvSpPr>
        <p:spPr>
          <a:xfrm>
            <a:off x="7690104" y="2276856"/>
            <a:ext cx="475488" cy="265176"/>
          </a:xfrm>
          <a:prstGeom prst="rect">
            <a:avLst/>
          </a:prstGeom>
          <a:noFill/>
          <a:ln/>
        </p:spPr>
        <p:txBody>
          <a:bodyPr wrap="square" lIns="0" tIns="0" rIns="0" bIns="0" rtlCol="0" anchor="ctr">
            <a:normAutofit/>
          </a:bodyPr>
          <a:lstStyle/>
          <a:p>
            <a:pPr marL="0" indent="0" algn="l">
              <a:buNone/>
            </a:pPr>
            <a:r>
              <a:rPr lang="en-US" sz="1060" b="1" kern="0" spc="110" dirty="0">
                <a:solidFill>
                  <a:srgbClr val="2563EB"/>
                </a:solidFill>
                <a:latin typeface="Inter" pitchFamily="34" charset="0"/>
                <a:ea typeface="Inter" pitchFamily="34" charset="-122"/>
                <a:cs typeface="Inter" pitchFamily="34" charset="-120"/>
              </a:rPr>
              <a:t>04</a:t>
            </a:r>
            <a:endParaRPr lang="en-US" sz="1060" dirty="0"/>
          </a:p>
        </p:txBody>
      </p:sp>
      <p:sp>
        <p:nvSpPr>
          <p:cNvPr id="28" name="Shape 23"/>
          <p:cNvSpPr/>
          <p:nvPr/>
        </p:nvSpPr>
        <p:spPr>
          <a:xfrm>
            <a:off x="7680960" y="2688336"/>
            <a:ext cx="676656" cy="676656"/>
          </a:xfrm>
          <a:prstGeom prst="ellipse">
            <a:avLst/>
          </a:prstGeom>
          <a:solidFill>
            <a:srgbClr val="EAF1FF"/>
          </a:solidFill>
          <a:ln w="12700">
            <a:solidFill>
              <a:srgbClr val="FFFFFF">
                <a:alpha val="0"/>
              </a:srgbClr>
            </a:solidFill>
            <a:prstDash val="solid"/>
          </a:ln>
        </p:spPr>
      </p:sp>
      <p:pic>
        <p:nvPicPr>
          <p:cNvPr id="29" name="Image 3" descr="/mnt/data/erp_deck_assets/faFileInvoice_2563EB.png"/>
          <p:cNvPicPr>
            <a:picLocks noChangeAspect="1"/>
          </p:cNvPicPr>
          <p:nvPr/>
        </p:nvPicPr>
        <p:blipFill>
          <a:blip r:embed="rId6"/>
          <a:stretch>
            <a:fillRect/>
          </a:stretch>
        </p:blipFill>
        <p:spPr>
          <a:xfrm>
            <a:off x="7865669" y="2875788"/>
            <a:ext cx="320040" cy="320040"/>
          </a:xfrm>
          <a:prstGeom prst="rect">
            <a:avLst/>
          </a:prstGeom>
        </p:spPr>
      </p:pic>
      <p:sp>
        <p:nvSpPr>
          <p:cNvPr id="30" name="Text 24"/>
          <p:cNvSpPr/>
          <p:nvPr/>
        </p:nvSpPr>
        <p:spPr>
          <a:xfrm>
            <a:off x="7662672" y="3493008"/>
            <a:ext cx="1746504" cy="301752"/>
          </a:xfrm>
          <a:prstGeom prst="rect">
            <a:avLst/>
          </a:prstGeom>
          <a:noFill/>
          <a:ln/>
        </p:spPr>
        <p:txBody>
          <a:bodyPr wrap="square" lIns="0" tIns="0" rIns="0" bIns="0" rtlCol="0" anchor="ctr">
            <a:normAutofit/>
          </a:bodyPr>
          <a:lstStyle/>
          <a:p>
            <a:pPr marL="0" indent="0" algn="l">
              <a:buNone/>
            </a:pPr>
            <a:r>
              <a:rPr lang="en-US" sz="1340" b="1" dirty="0">
                <a:solidFill>
                  <a:srgbClr val="172439"/>
                </a:solidFill>
                <a:latin typeface="Inter Display" pitchFamily="34" charset="0"/>
                <a:ea typeface="Inter Display" pitchFamily="34" charset="-122"/>
                <a:cs typeface="Inter Display" pitchFamily="34" charset="-120"/>
              </a:rPr>
              <a:t>Sales Order</a:t>
            </a:r>
            <a:endParaRPr lang="en-US" sz="1340" dirty="0"/>
          </a:p>
        </p:txBody>
      </p:sp>
      <p:sp>
        <p:nvSpPr>
          <p:cNvPr id="31" name="Text 25"/>
          <p:cNvSpPr/>
          <p:nvPr/>
        </p:nvSpPr>
        <p:spPr>
          <a:xfrm>
            <a:off x="7662672" y="3831336"/>
            <a:ext cx="1746504" cy="292608"/>
          </a:xfrm>
          <a:prstGeom prst="rect">
            <a:avLst/>
          </a:prstGeom>
          <a:noFill/>
          <a:ln/>
        </p:spPr>
        <p:txBody>
          <a:bodyPr wrap="square" lIns="0" tIns="0" rIns="0" bIns="0" rtlCol="0" anchor="ctr">
            <a:normAutofit/>
          </a:bodyPr>
          <a:lstStyle/>
          <a:p>
            <a:pPr marL="0" indent="0" algn="l">
              <a:buNone/>
            </a:pPr>
            <a:r>
              <a:rPr lang="en-US" sz="930" dirty="0">
                <a:solidFill>
                  <a:srgbClr val="677995"/>
                </a:solidFill>
                <a:latin typeface="Inter" pitchFamily="34" charset="0"/>
                <a:ea typeface="Inter" pitchFamily="34" charset="-122"/>
                <a:cs typeface="Inter" pitchFamily="34" charset="-120"/>
              </a:rPr>
              <a:t>Customer order, check and reserve stock</a:t>
            </a:r>
            <a:endParaRPr lang="en-US" sz="930" dirty="0"/>
          </a:p>
        </p:txBody>
      </p:sp>
      <p:sp>
        <p:nvSpPr>
          <p:cNvPr id="32" name="Shape 26"/>
          <p:cNvSpPr/>
          <p:nvPr/>
        </p:nvSpPr>
        <p:spPr>
          <a:xfrm>
            <a:off x="9582912" y="3108960"/>
            <a:ext cx="178308" cy="0"/>
          </a:xfrm>
          <a:prstGeom prst="line">
            <a:avLst/>
          </a:prstGeom>
          <a:noFill/>
          <a:ln w="28575">
            <a:solidFill>
              <a:srgbClr val="2CD7C4"/>
            </a:solidFill>
            <a:prstDash val="solid"/>
            <a:tailEnd type="triangle"/>
          </a:ln>
        </p:spPr>
      </p:sp>
      <p:sp>
        <p:nvSpPr>
          <p:cNvPr id="33" name="Shape 27"/>
          <p:cNvSpPr/>
          <p:nvPr/>
        </p:nvSpPr>
        <p:spPr>
          <a:xfrm>
            <a:off x="9802368" y="2093976"/>
            <a:ext cx="2057400" cy="2130552"/>
          </a:xfrm>
          <a:prstGeom prst="roundRect">
            <a:avLst>
              <a:gd name="adj" fmla="val 5778"/>
            </a:avLst>
          </a:prstGeom>
          <a:solidFill>
            <a:srgbClr val="FFFFFF"/>
          </a:solidFill>
          <a:ln w="10160">
            <a:solidFill>
              <a:srgbClr val="DDE5EF"/>
            </a:solidFill>
            <a:prstDash val="solid"/>
          </a:ln>
          <a:effectLst>
            <a:outerShdw blurRad="38100" dist="50800" dir="2700000" algn="bl" rotWithShape="0">
              <a:srgbClr val="000000">
                <a:alpha val="12000"/>
              </a:srgbClr>
            </a:outerShdw>
          </a:effectLst>
        </p:spPr>
      </p:sp>
      <p:sp>
        <p:nvSpPr>
          <p:cNvPr id="34" name="Text 28"/>
          <p:cNvSpPr/>
          <p:nvPr/>
        </p:nvSpPr>
        <p:spPr>
          <a:xfrm>
            <a:off x="9985248" y="2276856"/>
            <a:ext cx="475488" cy="265176"/>
          </a:xfrm>
          <a:prstGeom prst="rect">
            <a:avLst/>
          </a:prstGeom>
          <a:noFill/>
          <a:ln/>
        </p:spPr>
        <p:txBody>
          <a:bodyPr wrap="square" lIns="0" tIns="0" rIns="0" bIns="0" rtlCol="0" anchor="ctr">
            <a:normAutofit/>
          </a:bodyPr>
          <a:lstStyle/>
          <a:p>
            <a:pPr marL="0" indent="0" algn="l">
              <a:buNone/>
            </a:pPr>
            <a:r>
              <a:rPr lang="en-US" sz="1060" b="1" kern="0" spc="110" dirty="0">
                <a:solidFill>
                  <a:srgbClr val="2563EB"/>
                </a:solidFill>
                <a:latin typeface="Inter" pitchFamily="34" charset="0"/>
                <a:ea typeface="Inter" pitchFamily="34" charset="-122"/>
                <a:cs typeface="Inter" pitchFamily="34" charset="-120"/>
              </a:rPr>
              <a:t>05</a:t>
            </a:r>
            <a:endParaRPr lang="en-US" sz="1060" dirty="0"/>
          </a:p>
        </p:txBody>
      </p:sp>
      <p:sp>
        <p:nvSpPr>
          <p:cNvPr id="35" name="Shape 29"/>
          <p:cNvSpPr/>
          <p:nvPr/>
        </p:nvSpPr>
        <p:spPr>
          <a:xfrm>
            <a:off x="9976104" y="2688336"/>
            <a:ext cx="676656" cy="676656"/>
          </a:xfrm>
          <a:prstGeom prst="ellipse">
            <a:avLst/>
          </a:prstGeom>
          <a:solidFill>
            <a:srgbClr val="EAF1FF"/>
          </a:solidFill>
          <a:ln w="12700">
            <a:solidFill>
              <a:srgbClr val="FFFFFF">
                <a:alpha val="0"/>
              </a:srgbClr>
            </a:solidFill>
            <a:prstDash val="solid"/>
          </a:ln>
        </p:spPr>
      </p:sp>
      <p:pic>
        <p:nvPicPr>
          <p:cNvPr id="36" name="Image 4" descr="/mnt/data/erp_deck_assets/faTruck_2563EB.png"/>
          <p:cNvPicPr>
            <a:picLocks noChangeAspect="1"/>
          </p:cNvPicPr>
          <p:nvPr/>
        </p:nvPicPr>
        <p:blipFill>
          <a:blip r:embed="rId7"/>
          <a:stretch>
            <a:fillRect/>
          </a:stretch>
        </p:blipFill>
        <p:spPr>
          <a:xfrm>
            <a:off x="10160813" y="2875788"/>
            <a:ext cx="320040" cy="320040"/>
          </a:xfrm>
          <a:prstGeom prst="rect">
            <a:avLst/>
          </a:prstGeom>
        </p:spPr>
      </p:pic>
      <p:sp>
        <p:nvSpPr>
          <p:cNvPr id="37" name="Text 30"/>
          <p:cNvSpPr/>
          <p:nvPr/>
        </p:nvSpPr>
        <p:spPr>
          <a:xfrm>
            <a:off x="9957816" y="3493008"/>
            <a:ext cx="1746504" cy="301752"/>
          </a:xfrm>
          <a:prstGeom prst="rect">
            <a:avLst/>
          </a:prstGeom>
          <a:noFill/>
          <a:ln/>
        </p:spPr>
        <p:txBody>
          <a:bodyPr wrap="square" lIns="0" tIns="0" rIns="0" bIns="0" rtlCol="0" anchor="ctr">
            <a:normAutofit/>
          </a:bodyPr>
          <a:lstStyle/>
          <a:p>
            <a:pPr marL="0" indent="0" algn="l">
              <a:buNone/>
            </a:pPr>
            <a:r>
              <a:rPr lang="en-US" sz="1340" b="1" dirty="0">
                <a:solidFill>
                  <a:srgbClr val="172439"/>
                </a:solidFill>
                <a:latin typeface="Inter Display" pitchFamily="34" charset="0"/>
                <a:ea typeface="Inter Display" pitchFamily="34" charset="-122"/>
                <a:cs typeface="Inter Display" pitchFamily="34" charset="-120"/>
              </a:rPr>
              <a:t>Fulfilment</a:t>
            </a:r>
            <a:endParaRPr lang="en-US" sz="1340" dirty="0"/>
          </a:p>
        </p:txBody>
      </p:sp>
      <p:sp>
        <p:nvSpPr>
          <p:cNvPr id="38" name="Text 31"/>
          <p:cNvSpPr/>
          <p:nvPr/>
        </p:nvSpPr>
        <p:spPr>
          <a:xfrm>
            <a:off x="9957816" y="3831336"/>
            <a:ext cx="1746504" cy="292608"/>
          </a:xfrm>
          <a:prstGeom prst="rect">
            <a:avLst/>
          </a:prstGeom>
          <a:noFill/>
          <a:ln/>
        </p:spPr>
        <p:txBody>
          <a:bodyPr wrap="square" lIns="0" tIns="0" rIns="0" bIns="0" rtlCol="0" anchor="ctr">
            <a:normAutofit/>
          </a:bodyPr>
          <a:lstStyle/>
          <a:p>
            <a:pPr marL="0" indent="0" algn="l">
              <a:buNone/>
            </a:pPr>
            <a:r>
              <a:rPr lang="en-US" sz="930" dirty="0">
                <a:solidFill>
                  <a:srgbClr val="677995"/>
                </a:solidFill>
                <a:latin typeface="Inter" pitchFamily="34" charset="0"/>
                <a:ea typeface="Inter" pitchFamily="34" charset="-122"/>
                <a:cs typeface="Inter" pitchFamily="34" charset="-120"/>
              </a:rPr>
              <a:t>Pick, dispatch, delivery and returns</a:t>
            </a:r>
            <a:endParaRPr lang="en-US" sz="930" dirty="0"/>
          </a:p>
        </p:txBody>
      </p:sp>
      <p:sp>
        <p:nvSpPr>
          <p:cNvPr id="39" name="Shape 32"/>
          <p:cNvSpPr/>
          <p:nvPr/>
        </p:nvSpPr>
        <p:spPr>
          <a:xfrm>
            <a:off x="694944" y="4663440"/>
            <a:ext cx="3529584" cy="1024128"/>
          </a:xfrm>
          <a:prstGeom prst="roundRect">
            <a:avLst>
              <a:gd name="adj" fmla="val 11607"/>
            </a:avLst>
          </a:prstGeom>
          <a:solidFill>
            <a:srgbClr val="EAF1F9"/>
          </a:solidFill>
          <a:ln w="12700">
            <a:solidFill>
              <a:srgbClr val="FFFFFF">
                <a:alpha val="0"/>
              </a:srgbClr>
            </a:solidFill>
            <a:prstDash val="solid"/>
          </a:ln>
        </p:spPr>
      </p:sp>
      <p:pic>
        <p:nvPicPr>
          <p:cNvPr id="40" name="Image 5" descr="/mnt/data/erp_deck_assets/faCheckDouble_2563EB.png"/>
          <p:cNvPicPr>
            <a:picLocks noChangeAspect="1"/>
          </p:cNvPicPr>
          <p:nvPr/>
        </p:nvPicPr>
        <p:blipFill>
          <a:blip r:embed="rId8"/>
          <a:stretch>
            <a:fillRect/>
          </a:stretch>
        </p:blipFill>
        <p:spPr>
          <a:xfrm>
            <a:off x="886968" y="4937760"/>
            <a:ext cx="329184" cy="329184"/>
          </a:xfrm>
          <a:prstGeom prst="rect">
            <a:avLst/>
          </a:prstGeom>
        </p:spPr>
      </p:pic>
      <p:sp>
        <p:nvSpPr>
          <p:cNvPr id="41" name="Text 33"/>
          <p:cNvSpPr/>
          <p:nvPr/>
        </p:nvSpPr>
        <p:spPr>
          <a:xfrm>
            <a:off x="1344168" y="4846320"/>
            <a:ext cx="2743200" cy="246888"/>
          </a:xfrm>
          <a:prstGeom prst="rect">
            <a:avLst/>
          </a:prstGeom>
          <a:noFill/>
          <a:ln/>
        </p:spPr>
        <p:txBody>
          <a:bodyPr wrap="square" lIns="0" tIns="0" rIns="0" bIns="0" rtlCol="0" anchor="ctr">
            <a:normAutofit/>
          </a:bodyPr>
          <a:lstStyle/>
          <a:p>
            <a:pPr marL="0" indent="0" algn="l">
              <a:buNone/>
            </a:pPr>
            <a:r>
              <a:rPr lang="en-US" sz="1220" b="1" dirty="0">
                <a:solidFill>
                  <a:srgbClr val="172439"/>
                </a:solidFill>
                <a:latin typeface="Inter" pitchFamily="34" charset="0"/>
                <a:ea typeface="Inter" pitchFamily="34" charset="-122"/>
                <a:cs typeface="Inter" pitchFamily="34" charset="-120"/>
              </a:rPr>
              <a:t>Purchasing control</a:t>
            </a:r>
            <a:endParaRPr lang="en-US" sz="1220" dirty="0"/>
          </a:p>
        </p:txBody>
      </p:sp>
      <p:sp>
        <p:nvSpPr>
          <p:cNvPr id="42" name="Text 34"/>
          <p:cNvSpPr/>
          <p:nvPr/>
        </p:nvSpPr>
        <p:spPr>
          <a:xfrm>
            <a:off x="1344168" y="5193792"/>
            <a:ext cx="2651760" cy="338328"/>
          </a:xfrm>
          <a:prstGeom prst="rect">
            <a:avLst/>
          </a:prstGeom>
          <a:noFill/>
          <a:ln/>
        </p:spPr>
        <p:txBody>
          <a:bodyPr wrap="square" lIns="0" tIns="0" rIns="0" bIns="0" rtlCol="0" anchor="ctr">
            <a:normAutofit/>
          </a:bodyPr>
          <a:lstStyle/>
          <a:p>
            <a:pPr marL="0" indent="0" algn="l">
              <a:buNone/>
            </a:pPr>
            <a:r>
              <a:rPr lang="en-US" sz="945" dirty="0">
                <a:solidFill>
                  <a:srgbClr val="677995"/>
                </a:solidFill>
                <a:latin typeface="Inter" pitchFamily="34" charset="0"/>
                <a:ea typeface="Inter" pitchFamily="34" charset="-122"/>
                <a:cs typeface="Inter" pitchFamily="34" charset="-120"/>
              </a:rPr>
              <a:t>Approval states, POs and partial receipts</a:t>
            </a:r>
            <a:endParaRPr lang="en-US" sz="945" dirty="0"/>
          </a:p>
        </p:txBody>
      </p:sp>
      <p:sp>
        <p:nvSpPr>
          <p:cNvPr id="43" name="Shape 35"/>
          <p:cNvSpPr/>
          <p:nvPr/>
        </p:nvSpPr>
        <p:spPr>
          <a:xfrm>
            <a:off x="4315968" y="4663440"/>
            <a:ext cx="3529584" cy="1024128"/>
          </a:xfrm>
          <a:prstGeom prst="roundRect">
            <a:avLst>
              <a:gd name="adj" fmla="val 11607"/>
            </a:avLst>
          </a:prstGeom>
          <a:solidFill>
            <a:srgbClr val="EAF1F9"/>
          </a:solidFill>
          <a:ln w="12700">
            <a:solidFill>
              <a:srgbClr val="FFFFFF">
                <a:alpha val="0"/>
              </a:srgbClr>
            </a:solidFill>
            <a:prstDash val="solid"/>
          </a:ln>
        </p:spPr>
      </p:sp>
      <p:pic>
        <p:nvPicPr>
          <p:cNvPr id="44" name="Image 6" descr="/mnt/data/erp_deck_assets/faDatabase_2563EB.png"/>
          <p:cNvPicPr>
            <a:picLocks noChangeAspect="1"/>
          </p:cNvPicPr>
          <p:nvPr/>
        </p:nvPicPr>
        <p:blipFill>
          <a:blip r:embed="rId9"/>
          <a:stretch>
            <a:fillRect/>
          </a:stretch>
        </p:blipFill>
        <p:spPr>
          <a:xfrm>
            <a:off x="4507992" y="4937760"/>
            <a:ext cx="329184" cy="329184"/>
          </a:xfrm>
          <a:prstGeom prst="rect">
            <a:avLst/>
          </a:prstGeom>
        </p:spPr>
      </p:pic>
      <p:sp>
        <p:nvSpPr>
          <p:cNvPr id="45" name="Text 36"/>
          <p:cNvSpPr/>
          <p:nvPr/>
        </p:nvSpPr>
        <p:spPr>
          <a:xfrm>
            <a:off x="4965192" y="4846320"/>
            <a:ext cx="2743200" cy="246888"/>
          </a:xfrm>
          <a:prstGeom prst="rect">
            <a:avLst/>
          </a:prstGeom>
          <a:noFill/>
          <a:ln/>
        </p:spPr>
        <p:txBody>
          <a:bodyPr wrap="square" lIns="0" tIns="0" rIns="0" bIns="0" rtlCol="0" anchor="ctr">
            <a:normAutofit/>
          </a:bodyPr>
          <a:lstStyle/>
          <a:p>
            <a:pPr marL="0" indent="0" algn="l">
              <a:buNone/>
            </a:pPr>
            <a:r>
              <a:rPr lang="en-US" sz="1220" b="1" dirty="0">
                <a:solidFill>
                  <a:srgbClr val="172439"/>
                </a:solidFill>
                <a:latin typeface="Inter" pitchFamily="34" charset="0"/>
                <a:ea typeface="Inter" pitchFamily="34" charset="-122"/>
                <a:cs typeface="Inter" pitchFamily="34" charset="-120"/>
              </a:rPr>
              <a:t>Inventory accuracy</a:t>
            </a:r>
            <a:endParaRPr lang="en-US" sz="1220" dirty="0"/>
          </a:p>
        </p:txBody>
      </p:sp>
      <p:sp>
        <p:nvSpPr>
          <p:cNvPr id="46" name="Text 37"/>
          <p:cNvSpPr/>
          <p:nvPr/>
        </p:nvSpPr>
        <p:spPr>
          <a:xfrm>
            <a:off x="4965192" y="5193792"/>
            <a:ext cx="2651760" cy="338328"/>
          </a:xfrm>
          <a:prstGeom prst="rect">
            <a:avLst/>
          </a:prstGeom>
          <a:noFill/>
          <a:ln/>
        </p:spPr>
        <p:txBody>
          <a:bodyPr wrap="square" lIns="0" tIns="0" rIns="0" bIns="0" rtlCol="0" anchor="ctr">
            <a:normAutofit/>
          </a:bodyPr>
          <a:lstStyle/>
          <a:p>
            <a:pPr marL="0" indent="0" algn="l">
              <a:buNone/>
            </a:pPr>
            <a:r>
              <a:rPr lang="en-US" sz="945" dirty="0">
                <a:solidFill>
                  <a:srgbClr val="677995"/>
                </a:solidFill>
                <a:latin typeface="Inter" pitchFamily="34" charset="0"/>
                <a:ea typeface="Inter" pitchFamily="34" charset="-122"/>
                <a:cs typeface="Inter" pitchFamily="34" charset="-120"/>
              </a:rPr>
              <a:t>Location balances, movement audit and reorder levels</a:t>
            </a:r>
            <a:endParaRPr lang="en-US" sz="945" dirty="0"/>
          </a:p>
        </p:txBody>
      </p:sp>
      <p:sp>
        <p:nvSpPr>
          <p:cNvPr id="47" name="Shape 38"/>
          <p:cNvSpPr/>
          <p:nvPr/>
        </p:nvSpPr>
        <p:spPr>
          <a:xfrm>
            <a:off x="7936992" y="4663440"/>
            <a:ext cx="3529584" cy="1024128"/>
          </a:xfrm>
          <a:prstGeom prst="roundRect">
            <a:avLst>
              <a:gd name="adj" fmla="val 11607"/>
            </a:avLst>
          </a:prstGeom>
          <a:solidFill>
            <a:srgbClr val="EAF1F9"/>
          </a:solidFill>
          <a:ln w="12700">
            <a:solidFill>
              <a:srgbClr val="FFFFFF">
                <a:alpha val="0"/>
              </a:srgbClr>
            </a:solidFill>
            <a:prstDash val="solid"/>
          </a:ln>
        </p:spPr>
      </p:sp>
      <p:pic>
        <p:nvPicPr>
          <p:cNvPr id="48" name="Image 7" descr="/mnt/data/erp_deck_assets/faTruck_2563EB.png"/>
          <p:cNvPicPr>
            <a:picLocks noChangeAspect="1"/>
          </p:cNvPicPr>
          <p:nvPr/>
        </p:nvPicPr>
        <p:blipFill>
          <a:blip r:embed="rId7"/>
          <a:stretch>
            <a:fillRect/>
          </a:stretch>
        </p:blipFill>
        <p:spPr>
          <a:xfrm>
            <a:off x="8129016" y="4937760"/>
            <a:ext cx="329184" cy="329184"/>
          </a:xfrm>
          <a:prstGeom prst="rect">
            <a:avLst/>
          </a:prstGeom>
        </p:spPr>
      </p:pic>
      <p:sp>
        <p:nvSpPr>
          <p:cNvPr id="49" name="Text 39"/>
          <p:cNvSpPr/>
          <p:nvPr/>
        </p:nvSpPr>
        <p:spPr>
          <a:xfrm>
            <a:off x="8586216" y="4846320"/>
            <a:ext cx="2743200" cy="246888"/>
          </a:xfrm>
          <a:prstGeom prst="rect">
            <a:avLst/>
          </a:prstGeom>
          <a:noFill/>
          <a:ln/>
        </p:spPr>
        <p:txBody>
          <a:bodyPr wrap="square" lIns="0" tIns="0" rIns="0" bIns="0" rtlCol="0" anchor="ctr">
            <a:normAutofit/>
          </a:bodyPr>
          <a:lstStyle/>
          <a:p>
            <a:pPr marL="0" indent="0" algn="l">
              <a:buNone/>
            </a:pPr>
            <a:r>
              <a:rPr lang="en-US" sz="1220" b="1" dirty="0">
                <a:solidFill>
                  <a:srgbClr val="172439"/>
                </a:solidFill>
                <a:latin typeface="Inter" pitchFamily="34" charset="0"/>
                <a:ea typeface="Inter" pitchFamily="34" charset="-122"/>
                <a:cs typeface="Inter" pitchFamily="34" charset="-120"/>
              </a:rPr>
              <a:t>Fulfilment visibility</a:t>
            </a:r>
            <a:endParaRPr lang="en-US" sz="1220" dirty="0"/>
          </a:p>
        </p:txBody>
      </p:sp>
      <p:sp>
        <p:nvSpPr>
          <p:cNvPr id="50" name="Text 40"/>
          <p:cNvSpPr/>
          <p:nvPr/>
        </p:nvSpPr>
        <p:spPr>
          <a:xfrm>
            <a:off x="8586216" y="5193792"/>
            <a:ext cx="2651760" cy="338328"/>
          </a:xfrm>
          <a:prstGeom prst="rect">
            <a:avLst/>
          </a:prstGeom>
          <a:noFill/>
          <a:ln/>
        </p:spPr>
        <p:txBody>
          <a:bodyPr wrap="square" lIns="0" tIns="0" rIns="0" bIns="0" rtlCol="0" anchor="ctr">
            <a:normAutofit/>
          </a:bodyPr>
          <a:lstStyle/>
          <a:p>
            <a:pPr marL="0" indent="0" algn="l">
              <a:buNone/>
            </a:pPr>
            <a:r>
              <a:rPr lang="en-US" sz="945" dirty="0">
                <a:solidFill>
                  <a:srgbClr val="677995"/>
                </a:solidFill>
                <a:latin typeface="Inter" pitchFamily="34" charset="0"/>
                <a:ea typeface="Inter" pitchFamily="34" charset="-122"/>
                <a:cs typeface="Inter" pitchFamily="34" charset="-120"/>
              </a:rPr>
              <a:t>Reservations, outstanding orders and returns</a:t>
            </a:r>
            <a:endParaRPr lang="en-US" sz="945" dirty="0"/>
          </a:p>
        </p:txBody>
      </p:sp>
      <p:sp>
        <p:nvSpPr>
          <p:cNvPr id="51" name="Shape 41"/>
          <p:cNvSpPr/>
          <p:nvPr/>
        </p:nvSpPr>
        <p:spPr>
          <a:xfrm>
            <a:off x="630936" y="6473952"/>
            <a:ext cx="10936224" cy="0"/>
          </a:xfrm>
          <a:prstGeom prst="line">
            <a:avLst/>
          </a:prstGeom>
          <a:noFill/>
          <a:ln w="8255">
            <a:solidFill>
              <a:srgbClr val="DDE4EC"/>
            </a:solidFill>
            <a:prstDash val="solid"/>
          </a:ln>
        </p:spPr>
      </p:sp>
      <p:sp>
        <p:nvSpPr>
          <p:cNvPr id="52" name="Text 42"/>
          <p:cNvSpPr/>
          <p:nvPr/>
        </p:nvSpPr>
        <p:spPr>
          <a:xfrm>
            <a:off x="640080" y="6496812"/>
            <a:ext cx="9921240" cy="155448"/>
          </a:xfrm>
          <a:prstGeom prst="rect">
            <a:avLst/>
          </a:prstGeom>
          <a:noFill/>
          <a:ln/>
        </p:spPr>
        <p:txBody>
          <a:bodyPr wrap="square" lIns="0" tIns="0" rIns="0" bIns="0" rtlCol="0" anchor="ctr">
            <a:normAutofit/>
          </a:bodyPr>
          <a:lstStyle/>
          <a:p>
            <a:pPr marL="0" indent="0" algn="l">
              <a:buNone/>
            </a:pPr>
            <a:r>
              <a:rPr lang="en-US" sz="770" dirty="0">
                <a:solidFill>
                  <a:srgbClr val="8896A8"/>
                </a:solidFill>
                <a:latin typeface="Inter" pitchFamily="34" charset="0"/>
                <a:ea typeface="Inter" pitchFamily="34" charset="-122"/>
                <a:cs typeface="Inter" pitchFamily="34" charset="-120"/>
              </a:rPr>
              <a:t>Source: BRD §7 (Purchasing, Inventory, Sales and Supply Chain Reporting).</a:t>
            </a:r>
            <a:endParaRPr lang="en-US" sz="770" dirty="0"/>
          </a:p>
        </p:txBody>
      </p:sp>
      <p:sp>
        <p:nvSpPr>
          <p:cNvPr id="53" name="Text 43"/>
          <p:cNvSpPr/>
          <p:nvPr/>
        </p:nvSpPr>
        <p:spPr>
          <a:xfrm>
            <a:off x="10771632" y="6496812"/>
            <a:ext cx="777240" cy="155448"/>
          </a:xfrm>
          <a:prstGeom prst="rect">
            <a:avLst/>
          </a:prstGeom>
          <a:noFill/>
          <a:ln/>
        </p:spPr>
        <p:txBody>
          <a:bodyPr wrap="square" lIns="0" tIns="0" rIns="0" bIns="0" rtlCol="0" anchor="ctr">
            <a:normAutofit/>
          </a:bodyPr>
          <a:lstStyle/>
          <a:p>
            <a:pPr marL="0" indent="0" algn="r">
              <a:buNone/>
            </a:pPr>
            <a:r>
              <a:rPr lang="en-US" sz="840" b="1" dirty="0">
                <a:solidFill>
                  <a:srgbClr val="8896A8"/>
                </a:solidFill>
                <a:latin typeface="Inter" pitchFamily="34" charset="0"/>
                <a:ea typeface="Inter" pitchFamily="34" charset="-122"/>
                <a:cs typeface="Inter" pitchFamily="34" charset="-120"/>
              </a:rPr>
              <a:t>04 / 08</a:t>
            </a:r>
            <a:endParaRPr lang="en-US" sz="84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323"/>
        </a:solidFill>
        <a:effectLst/>
      </p:bgPr>
    </p:bg>
    <p:spTree>
      <p:nvGrpSpPr>
        <p:cNvPr id="1" name=""/>
        <p:cNvGrpSpPr/>
        <p:nvPr/>
      </p:nvGrpSpPr>
      <p:grpSpPr>
        <a:xfrm>
          <a:off x="0" y="0"/>
          <a:ext cx="0" cy="0"/>
          <a:chOff x="0" y="0"/>
          <a:chExt cx="0" cy="0"/>
        </a:xfrm>
      </p:grpSpPr>
      <p:sp>
        <p:nvSpPr>
          <p:cNvPr id="2" name="Text 0"/>
          <p:cNvSpPr/>
          <p:nvPr/>
        </p:nvSpPr>
        <p:spPr>
          <a:xfrm>
            <a:off x="658368" y="429768"/>
            <a:ext cx="10789920" cy="237744"/>
          </a:xfrm>
          <a:prstGeom prst="rect">
            <a:avLst/>
          </a:prstGeom>
          <a:noFill/>
          <a:ln/>
        </p:spPr>
        <p:txBody>
          <a:bodyPr wrap="square" lIns="0" tIns="0" rIns="0" bIns="0" rtlCol="0" anchor="ctr">
            <a:normAutofit/>
          </a:bodyPr>
          <a:lstStyle/>
          <a:p>
            <a:pPr marL="0" indent="0" algn="l">
              <a:buNone/>
            </a:pPr>
            <a:r>
              <a:rPr lang="en-US" sz="930" b="1" kern="0" spc="185" dirty="0">
                <a:solidFill>
                  <a:srgbClr val="2CD7C4"/>
                </a:solidFill>
                <a:latin typeface="Inter" pitchFamily="34" charset="0"/>
                <a:ea typeface="Inter" pitchFamily="34" charset="-122"/>
                <a:cs typeface="Inter" pitchFamily="34" charset="-120"/>
              </a:rPr>
              <a:t>04 / SAAS + SECURITY</a:t>
            </a:r>
            <a:endParaRPr lang="en-US" sz="930" dirty="0"/>
          </a:p>
        </p:txBody>
      </p:sp>
      <p:sp>
        <p:nvSpPr>
          <p:cNvPr id="3" name="Text 1"/>
          <p:cNvSpPr/>
          <p:nvPr/>
        </p:nvSpPr>
        <p:spPr>
          <a:xfrm>
            <a:off x="640080" y="786384"/>
            <a:ext cx="10917936" cy="502920"/>
          </a:xfrm>
          <a:prstGeom prst="rect">
            <a:avLst/>
          </a:prstGeom>
          <a:noFill/>
          <a:ln/>
        </p:spPr>
        <p:txBody>
          <a:bodyPr wrap="square" lIns="0" tIns="0" rIns="0" bIns="0" rtlCol="0" anchor="ctr">
            <a:normAutofit/>
          </a:bodyPr>
          <a:lstStyle/>
          <a:p>
            <a:pPr marL="0" indent="0" algn="l">
              <a:buNone/>
            </a:pPr>
            <a:r>
              <a:rPr lang="en-US" sz="2850" b="1" dirty="0">
                <a:solidFill>
                  <a:srgbClr val="FFFFFF"/>
                </a:solidFill>
                <a:latin typeface="Inter Display" pitchFamily="34" charset="0"/>
                <a:ea typeface="Inter Display" pitchFamily="34" charset="-122"/>
                <a:cs typeface="Inter Display" pitchFamily="34" charset="-120"/>
              </a:rPr>
              <a:t>Multi-tenant by design. Controlled at every level.</a:t>
            </a:r>
            <a:endParaRPr lang="en-US" sz="2850" dirty="0"/>
          </a:p>
        </p:txBody>
      </p:sp>
      <p:sp>
        <p:nvSpPr>
          <p:cNvPr id="4" name="Text 2"/>
          <p:cNvSpPr/>
          <p:nvPr/>
        </p:nvSpPr>
        <p:spPr>
          <a:xfrm>
            <a:off x="658368" y="1380744"/>
            <a:ext cx="10826496" cy="338328"/>
          </a:xfrm>
          <a:prstGeom prst="rect">
            <a:avLst/>
          </a:prstGeom>
          <a:noFill/>
          <a:ln/>
        </p:spPr>
        <p:txBody>
          <a:bodyPr wrap="square" lIns="0" tIns="0" rIns="0" bIns="0" rtlCol="0" anchor="ctr">
            <a:normAutofit/>
          </a:bodyPr>
          <a:lstStyle/>
          <a:p>
            <a:pPr marL="0" indent="0" algn="l">
              <a:buNone/>
            </a:pPr>
            <a:r>
              <a:rPr lang="en-US" sz="1250" dirty="0">
                <a:solidFill>
                  <a:srgbClr val="9CADC4"/>
                </a:solidFill>
                <a:latin typeface="Inter" pitchFamily="34" charset="0"/>
                <a:ea typeface="Inter" pitchFamily="34" charset="-122"/>
                <a:cs typeface="Inter" pitchFamily="34" charset="-120"/>
              </a:rPr>
              <a:t>Companies share a platform—but each tenant’s access, data and subscribed features remain governed by backend rules.</a:t>
            </a:r>
            <a:endParaRPr lang="en-US" sz="1250" dirty="0"/>
          </a:p>
        </p:txBody>
      </p:sp>
      <p:sp>
        <p:nvSpPr>
          <p:cNvPr id="5" name="Shape 3"/>
          <p:cNvSpPr/>
          <p:nvPr/>
        </p:nvSpPr>
        <p:spPr>
          <a:xfrm>
            <a:off x="1344168" y="1856232"/>
            <a:ext cx="5138928" cy="749808"/>
          </a:xfrm>
          <a:prstGeom prst="roundRect">
            <a:avLst>
              <a:gd name="adj" fmla="val 19512"/>
            </a:avLst>
          </a:prstGeom>
          <a:solidFill>
            <a:srgbClr val="203C60"/>
          </a:solidFill>
          <a:ln w="10160">
            <a:solidFill>
              <a:srgbClr val="4279AB"/>
            </a:solidFill>
            <a:prstDash val="solid"/>
          </a:ln>
        </p:spPr>
      </p:sp>
      <p:pic>
        <p:nvPicPr>
          <p:cNvPr id="6" name="Image 0" descr="/mnt/data/erp_deck_assets/faCloud_2CD7C4.png"/>
          <p:cNvPicPr>
            <a:picLocks noChangeAspect="1"/>
          </p:cNvPicPr>
          <p:nvPr/>
        </p:nvPicPr>
        <p:blipFill>
          <a:blip r:embed="rId3"/>
          <a:stretch>
            <a:fillRect/>
          </a:stretch>
        </p:blipFill>
        <p:spPr>
          <a:xfrm>
            <a:off x="1655064" y="2093976"/>
            <a:ext cx="283464" cy="283464"/>
          </a:xfrm>
          <a:prstGeom prst="rect">
            <a:avLst/>
          </a:prstGeom>
        </p:spPr>
      </p:pic>
      <p:sp>
        <p:nvSpPr>
          <p:cNvPr id="7" name="Text 4"/>
          <p:cNvSpPr/>
          <p:nvPr/>
        </p:nvSpPr>
        <p:spPr>
          <a:xfrm>
            <a:off x="2103120" y="2002536"/>
            <a:ext cx="3931920" cy="338328"/>
          </a:xfrm>
          <a:prstGeom prst="rect">
            <a:avLst/>
          </a:prstGeom>
          <a:noFill/>
          <a:ln/>
        </p:spPr>
        <p:txBody>
          <a:bodyPr wrap="square" lIns="0" tIns="0" rIns="0" bIns="0" rtlCol="0" anchor="ctr">
            <a:normAutofit/>
          </a:bodyPr>
          <a:lstStyle/>
          <a:p>
            <a:pPr marL="0" indent="0" algn="l">
              <a:buNone/>
            </a:pPr>
            <a:r>
              <a:rPr lang="en-US" sz="1820" b="1" dirty="0">
                <a:solidFill>
                  <a:srgbClr val="FFFFFF"/>
                </a:solidFill>
                <a:latin typeface="Inter Display" pitchFamily="34" charset="0"/>
                <a:ea typeface="Inter Display" pitchFamily="34" charset="-122"/>
                <a:cs typeface="Inter Display" pitchFamily="34" charset="-120"/>
              </a:rPr>
              <a:t>Shared SaaS Platform</a:t>
            </a:r>
            <a:endParaRPr lang="en-US" sz="1820" dirty="0"/>
          </a:p>
        </p:txBody>
      </p:sp>
      <p:sp>
        <p:nvSpPr>
          <p:cNvPr id="8" name="Shape 5"/>
          <p:cNvSpPr/>
          <p:nvPr/>
        </p:nvSpPr>
        <p:spPr>
          <a:xfrm>
            <a:off x="3904488" y="2606040"/>
            <a:ext cx="0" cy="365760"/>
          </a:xfrm>
          <a:prstGeom prst="line">
            <a:avLst/>
          </a:prstGeom>
          <a:noFill/>
          <a:ln w="20955">
            <a:solidFill>
              <a:srgbClr val="518BFF"/>
            </a:solidFill>
            <a:prstDash val="solid"/>
          </a:ln>
        </p:spPr>
      </p:sp>
      <p:sp>
        <p:nvSpPr>
          <p:cNvPr id="9" name="Shape 6"/>
          <p:cNvSpPr/>
          <p:nvPr/>
        </p:nvSpPr>
        <p:spPr>
          <a:xfrm>
            <a:off x="1673352" y="2971800"/>
            <a:ext cx="4443984" cy="0"/>
          </a:xfrm>
          <a:prstGeom prst="line">
            <a:avLst/>
          </a:prstGeom>
          <a:noFill/>
          <a:ln w="20955">
            <a:solidFill>
              <a:srgbClr val="518BFF"/>
            </a:solidFill>
            <a:prstDash val="solid"/>
          </a:ln>
        </p:spPr>
      </p:sp>
      <p:sp>
        <p:nvSpPr>
          <p:cNvPr id="10" name="Shape 7"/>
          <p:cNvSpPr/>
          <p:nvPr/>
        </p:nvSpPr>
        <p:spPr>
          <a:xfrm>
            <a:off x="1691640" y="2971800"/>
            <a:ext cx="0" cy="219456"/>
          </a:xfrm>
          <a:prstGeom prst="line">
            <a:avLst/>
          </a:prstGeom>
          <a:noFill/>
          <a:ln w="20955">
            <a:solidFill>
              <a:srgbClr val="518BFF"/>
            </a:solidFill>
            <a:prstDash val="solid"/>
          </a:ln>
        </p:spPr>
      </p:sp>
      <p:sp>
        <p:nvSpPr>
          <p:cNvPr id="11" name="Shape 8"/>
          <p:cNvSpPr/>
          <p:nvPr/>
        </p:nvSpPr>
        <p:spPr>
          <a:xfrm>
            <a:off x="3904488" y="2971800"/>
            <a:ext cx="0" cy="219456"/>
          </a:xfrm>
          <a:prstGeom prst="line">
            <a:avLst/>
          </a:prstGeom>
          <a:noFill/>
          <a:ln w="20955">
            <a:solidFill>
              <a:srgbClr val="518BFF"/>
            </a:solidFill>
            <a:prstDash val="solid"/>
          </a:ln>
        </p:spPr>
      </p:sp>
      <p:sp>
        <p:nvSpPr>
          <p:cNvPr id="12" name="Shape 9"/>
          <p:cNvSpPr/>
          <p:nvPr/>
        </p:nvSpPr>
        <p:spPr>
          <a:xfrm>
            <a:off x="6117336" y="2971800"/>
            <a:ext cx="0" cy="219456"/>
          </a:xfrm>
          <a:prstGeom prst="line">
            <a:avLst/>
          </a:prstGeom>
          <a:noFill/>
          <a:ln w="20955">
            <a:solidFill>
              <a:srgbClr val="518BFF"/>
            </a:solidFill>
            <a:prstDash val="solid"/>
          </a:ln>
        </p:spPr>
      </p:sp>
      <p:sp>
        <p:nvSpPr>
          <p:cNvPr id="13" name="Shape 10"/>
          <p:cNvSpPr/>
          <p:nvPr/>
        </p:nvSpPr>
        <p:spPr>
          <a:xfrm>
            <a:off x="658368" y="3182112"/>
            <a:ext cx="2048256" cy="1508760"/>
          </a:xfrm>
          <a:prstGeom prst="roundRect">
            <a:avLst>
              <a:gd name="adj" fmla="val 9091"/>
            </a:avLst>
          </a:prstGeom>
          <a:solidFill>
            <a:srgbClr val="1B304C"/>
          </a:solidFill>
          <a:ln w="10160">
            <a:solidFill>
              <a:srgbClr val="34516F"/>
            </a:solidFill>
            <a:prstDash val="solid"/>
          </a:ln>
        </p:spPr>
      </p:sp>
      <p:pic>
        <p:nvPicPr>
          <p:cNvPr id="14" name="Image 1" descr="/mnt/data/erp_deck_assets/faBuildingUser_2CD7C4.png"/>
          <p:cNvPicPr>
            <a:picLocks noChangeAspect="1"/>
          </p:cNvPicPr>
          <p:nvPr/>
        </p:nvPicPr>
        <p:blipFill>
          <a:blip r:embed="rId4"/>
          <a:stretch>
            <a:fillRect/>
          </a:stretch>
        </p:blipFill>
        <p:spPr>
          <a:xfrm>
            <a:off x="850392" y="3447288"/>
            <a:ext cx="329184" cy="329184"/>
          </a:xfrm>
          <a:prstGeom prst="rect">
            <a:avLst/>
          </a:prstGeom>
        </p:spPr>
      </p:pic>
      <p:sp>
        <p:nvSpPr>
          <p:cNvPr id="15" name="Text 11"/>
          <p:cNvSpPr/>
          <p:nvPr/>
        </p:nvSpPr>
        <p:spPr>
          <a:xfrm>
            <a:off x="1289304" y="3401568"/>
            <a:ext cx="1243584" cy="274320"/>
          </a:xfrm>
          <a:prstGeom prst="rect">
            <a:avLst/>
          </a:prstGeom>
          <a:noFill/>
          <a:ln/>
        </p:spPr>
        <p:txBody>
          <a:bodyPr wrap="square" lIns="0" tIns="0" rIns="0" bIns="0" rtlCol="0" anchor="ctr">
            <a:normAutofit/>
          </a:bodyPr>
          <a:lstStyle/>
          <a:p>
            <a:pPr marL="0" indent="0" algn="l">
              <a:buNone/>
            </a:pPr>
            <a:r>
              <a:rPr lang="en-US" sz="1330" b="1" dirty="0">
                <a:solidFill>
                  <a:srgbClr val="FFFFFF"/>
                </a:solidFill>
                <a:latin typeface="Inter" pitchFamily="34" charset="0"/>
                <a:ea typeface="Inter" pitchFamily="34" charset="-122"/>
                <a:cs typeface="Inter" pitchFamily="34" charset="-120"/>
              </a:rPr>
              <a:t>Tenant A</a:t>
            </a:r>
            <a:endParaRPr lang="en-US" sz="1330" dirty="0"/>
          </a:p>
        </p:txBody>
      </p:sp>
      <p:sp>
        <p:nvSpPr>
          <p:cNvPr id="16" name="Shape 12"/>
          <p:cNvSpPr/>
          <p:nvPr/>
        </p:nvSpPr>
        <p:spPr>
          <a:xfrm>
            <a:off x="841248" y="3886200"/>
            <a:ext cx="1673352" cy="0"/>
          </a:xfrm>
          <a:prstGeom prst="line">
            <a:avLst/>
          </a:prstGeom>
          <a:noFill/>
          <a:ln w="8255">
            <a:solidFill>
              <a:srgbClr val="385473"/>
            </a:solidFill>
            <a:prstDash val="solid"/>
          </a:ln>
        </p:spPr>
      </p:sp>
      <p:sp>
        <p:nvSpPr>
          <p:cNvPr id="17" name="Text 13"/>
          <p:cNvSpPr/>
          <p:nvPr/>
        </p:nvSpPr>
        <p:spPr>
          <a:xfrm>
            <a:off x="841248" y="4050792"/>
            <a:ext cx="1664208" cy="228600"/>
          </a:xfrm>
          <a:prstGeom prst="rect">
            <a:avLst/>
          </a:prstGeom>
          <a:noFill/>
          <a:ln/>
        </p:spPr>
        <p:txBody>
          <a:bodyPr wrap="square" lIns="0" tIns="0" rIns="0" bIns="0" rtlCol="0" anchor="ctr">
            <a:normAutofit/>
          </a:bodyPr>
          <a:lstStyle/>
          <a:p>
            <a:pPr marL="0" indent="0" algn="l">
              <a:buNone/>
            </a:pPr>
            <a:r>
              <a:rPr lang="en-US" sz="1020" dirty="0">
                <a:solidFill>
                  <a:srgbClr val="BFCFE2"/>
                </a:solidFill>
                <a:latin typeface="Inter" pitchFamily="34" charset="0"/>
                <a:ea typeface="Inter" pitchFamily="34" charset="-122"/>
                <a:cs typeface="Inter" pitchFamily="34" charset="-120"/>
              </a:rPr>
              <a:t>Company + branches</a:t>
            </a:r>
            <a:endParaRPr lang="en-US" sz="1020" dirty="0"/>
          </a:p>
        </p:txBody>
      </p:sp>
      <p:sp>
        <p:nvSpPr>
          <p:cNvPr id="18" name="Text 14"/>
          <p:cNvSpPr/>
          <p:nvPr/>
        </p:nvSpPr>
        <p:spPr>
          <a:xfrm>
            <a:off x="841248" y="4379976"/>
            <a:ext cx="1700784" cy="182880"/>
          </a:xfrm>
          <a:prstGeom prst="rect">
            <a:avLst/>
          </a:prstGeom>
          <a:noFill/>
          <a:ln/>
        </p:spPr>
        <p:txBody>
          <a:bodyPr wrap="square" lIns="0" tIns="0" rIns="0" bIns="0" rtlCol="0" anchor="ctr">
            <a:normAutofit/>
          </a:bodyPr>
          <a:lstStyle/>
          <a:p>
            <a:pPr marL="0" indent="0" algn="l">
              <a:buNone/>
            </a:pPr>
            <a:r>
              <a:rPr lang="en-US" sz="900" b="1" dirty="0">
                <a:solidFill>
                  <a:srgbClr val="2CD7C4"/>
                </a:solidFill>
                <a:latin typeface="Inter" pitchFamily="34" charset="0"/>
                <a:ea typeface="Inter" pitchFamily="34" charset="-122"/>
                <a:cs typeface="Inter" pitchFamily="34" charset="-120"/>
              </a:rPr>
              <a:t>Isolated access</a:t>
            </a:r>
            <a:endParaRPr lang="en-US" sz="900" dirty="0"/>
          </a:p>
        </p:txBody>
      </p:sp>
      <p:sp>
        <p:nvSpPr>
          <p:cNvPr id="19" name="Shape 15"/>
          <p:cNvSpPr/>
          <p:nvPr/>
        </p:nvSpPr>
        <p:spPr>
          <a:xfrm>
            <a:off x="2880360" y="3182112"/>
            <a:ext cx="2048256" cy="1508760"/>
          </a:xfrm>
          <a:prstGeom prst="roundRect">
            <a:avLst>
              <a:gd name="adj" fmla="val 9091"/>
            </a:avLst>
          </a:prstGeom>
          <a:solidFill>
            <a:srgbClr val="1B304C"/>
          </a:solidFill>
          <a:ln w="10160">
            <a:solidFill>
              <a:srgbClr val="34516F"/>
            </a:solidFill>
            <a:prstDash val="solid"/>
          </a:ln>
        </p:spPr>
      </p:sp>
      <p:pic>
        <p:nvPicPr>
          <p:cNvPr id="20" name="Image 2" descr="/mnt/data/erp_deck_assets/faBuildingUser_FFC36A.png"/>
          <p:cNvPicPr>
            <a:picLocks noChangeAspect="1"/>
          </p:cNvPicPr>
          <p:nvPr/>
        </p:nvPicPr>
        <p:blipFill>
          <a:blip r:embed="rId5"/>
          <a:stretch>
            <a:fillRect/>
          </a:stretch>
        </p:blipFill>
        <p:spPr>
          <a:xfrm>
            <a:off x="3072384" y="3447288"/>
            <a:ext cx="329184" cy="329184"/>
          </a:xfrm>
          <a:prstGeom prst="rect">
            <a:avLst/>
          </a:prstGeom>
        </p:spPr>
      </p:pic>
      <p:sp>
        <p:nvSpPr>
          <p:cNvPr id="21" name="Text 16"/>
          <p:cNvSpPr/>
          <p:nvPr/>
        </p:nvSpPr>
        <p:spPr>
          <a:xfrm>
            <a:off x="3511296" y="3401568"/>
            <a:ext cx="1243584" cy="274320"/>
          </a:xfrm>
          <a:prstGeom prst="rect">
            <a:avLst/>
          </a:prstGeom>
          <a:noFill/>
          <a:ln/>
        </p:spPr>
        <p:txBody>
          <a:bodyPr wrap="square" lIns="0" tIns="0" rIns="0" bIns="0" rtlCol="0" anchor="ctr">
            <a:normAutofit/>
          </a:bodyPr>
          <a:lstStyle/>
          <a:p>
            <a:pPr marL="0" indent="0" algn="l">
              <a:buNone/>
            </a:pPr>
            <a:r>
              <a:rPr lang="en-US" sz="1330" b="1" dirty="0">
                <a:solidFill>
                  <a:srgbClr val="FFFFFF"/>
                </a:solidFill>
                <a:latin typeface="Inter" pitchFamily="34" charset="0"/>
                <a:ea typeface="Inter" pitchFamily="34" charset="-122"/>
                <a:cs typeface="Inter" pitchFamily="34" charset="-120"/>
              </a:rPr>
              <a:t>Tenant B</a:t>
            </a:r>
            <a:endParaRPr lang="en-US" sz="1330" dirty="0"/>
          </a:p>
        </p:txBody>
      </p:sp>
      <p:sp>
        <p:nvSpPr>
          <p:cNvPr id="22" name="Shape 17"/>
          <p:cNvSpPr/>
          <p:nvPr/>
        </p:nvSpPr>
        <p:spPr>
          <a:xfrm>
            <a:off x="3063240" y="3886200"/>
            <a:ext cx="1673352" cy="0"/>
          </a:xfrm>
          <a:prstGeom prst="line">
            <a:avLst/>
          </a:prstGeom>
          <a:noFill/>
          <a:ln w="8255">
            <a:solidFill>
              <a:srgbClr val="385473"/>
            </a:solidFill>
            <a:prstDash val="solid"/>
          </a:ln>
        </p:spPr>
      </p:sp>
      <p:sp>
        <p:nvSpPr>
          <p:cNvPr id="23" name="Text 18"/>
          <p:cNvSpPr/>
          <p:nvPr/>
        </p:nvSpPr>
        <p:spPr>
          <a:xfrm>
            <a:off x="3063240" y="4050792"/>
            <a:ext cx="1664208" cy="228600"/>
          </a:xfrm>
          <a:prstGeom prst="rect">
            <a:avLst/>
          </a:prstGeom>
          <a:noFill/>
          <a:ln/>
        </p:spPr>
        <p:txBody>
          <a:bodyPr wrap="square" lIns="0" tIns="0" rIns="0" bIns="0" rtlCol="0" anchor="ctr">
            <a:normAutofit/>
          </a:bodyPr>
          <a:lstStyle/>
          <a:p>
            <a:pPr marL="0" indent="0" algn="l">
              <a:buNone/>
            </a:pPr>
            <a:r>
              <a:rPr lang="en-US" sz="1020" dirty="0">
                <a:solidFill>
                  <a:srgbClr val="BFCFE2"/>
                </a:solidFill>
                <a:latin typeface="Inter" pitchFamily="34" charset="0"/>
                <a:ea typeface="Inter" pitchFamily="34" charset="-122"/>
                <a:cs typeface="Inter" pitchFamily="34" charset="-120"/>
              </a:rPr>
              <a:t>Company + branches</a:t>
            </a:r>
            <a:endParaRPr lang="en-US" sz="1020" dirty="0"/>
          </a:p>
        </p:txBody>
      </p:sp>
      <p:sp>
        <p:nvSpPr>
          <p:cNvPr id="24" name="Text 19"/>
          <p:cNvSpPr/>
          <p:nvPr/>
        </p:nvSpPr>
        <p:spPr>
          <a:xfrm>
            <a:off x="3063240" y="4379976"/>
            <a:ext cx="1700784" cy="182880"/>
          </a:xfrm>
          <a:prstGeom prst="rect">
            <a:avLst/>
          </a:prstGeom>
          <a:noFill/>
          <a:ln/>
        </p:spPr>
        <p:txBody>
          <a:bodyPr wrap="square" lIns="0" tIns="0" rIns="0" bIns="0" rtlCol="0" anchor="ctr">
            <a:normAutofit/>
          </a:bodyPr>
          <a:lstStyle/>
          <a:p>
            <a:pPr marL="0" indent="0" algn="l">
              <a:buNone/>
            </a:pPr>
            <a:r>
              <a:rPr lang="en-US" sz="900" b="1" dirty="0">
                <a:solidFill>
                  <a:srgbClr val="2CD7C4"/>
                </a:solidFill>
                <a:latin typeface="Inter" pitchFamily="34" charset="0"/>
                <a:ea typeface="Inter" pitchFamily="34" charset="-122"/>
                <a:cs typeface="Inter" pitchFamily="34" charset="-120"/>
              </a:rPr>
              <a:t>Isolated access</a:t>
            </a:r>
            <a:endParaRPr lang="en-US" sz="900" dirty="0"/>
          </a:p>
        </p:txBody>
      </p:sp>
      <p:sp>
        <p:nvSpPr>
          <p:cNvPr id="25" name="Shape 20"/>
          <p:cNvSpPr/>
          <p:nvPr/>
        </p:nvSpPr>
        <p:spPr>
          <a:xfrm>
            <a:off x="5102352" y="3182112"/>
            <a:ext cx="2048256" cy="1508760"/>
          </a:xfrm>
          <a:prstGeom prst="roundRect">
            <a:avLst>
              <a:gd name="adj" fmla="val 9091"/>
            </a:avLst>
          </a:prstGeom>
          <a:solidFill>
            <a:srgbClr val="1B304C"/>
          </a:solidFill>
          <a:ln w="10160">
            <a:solidFill>
              <a:srgbClr val="34516F"/>
            </a:solidFill>
            <a:prstDash val="solid"/>
          </a:ln>
        </p:spPr>
      </p:sp>
      <p:pic>
        <p:nvPicPr>
          <p:cNvPr id="26" name="Image 3" descr="/mnt/data/erp_deck_assets/faBuildingUser_2CD7C4.png"/>
          <p:cNvPicPr>
            <a:picLocks noChangeAspect="1"/>
          </p:cNvPicPr>
          <p:nvPr/>
        </p:nvPicPr>
        <p:blipFill>
          <a:blip r:embed="rId4"/>
          <a:stretch>
            <a:fillRect/>
          </a:stretch>
        </p:blipFill>
        <p:spPr>
          <a:xfrm>
            <a:off x="5294376" y="3447288"/>
            <a:ext cx="329184" cy="329184"/>
          </a:xfrm>
          <a:prstGeom prst="rect">
            <a:avLst/>
          </a:prstGeom>
        </p:spPr>
      </p:pic>
      <p:sp>
        <p:nvSpPr>
          <p:cNvPr id="27" name="Text 21"/>
          <p:cNvSpPr/>
          <p:nvPr/>
        </p:nvSpPr>
        <p:spPr>
          <a:xfrm>
            <a:off x="5733288" y="3401568"/>
            <a:ext cx="1243584" cy="274320"/>
          </a:xfrm>
          <a:prstGeom prst="rect">
            <a:avLst/>
          </a:prstGeom>
          <a:noFill/>
          <a:ln/>
        </p:spPr>
        <p:txBody>
          <a:bodyPr wrap="square" lIns="0" tIns="0" rIns="0" bIns="0" rtlCol="0" anchor="ctr">
            <a:normAutofit/>
          </a:bodyPr>
          <a:lstStyle/>
          <a:p>
            <a:pPr marL="0" indent="0" algn="l">
              <a:buNone/>
            </a:pPr>
            <a:r>
              <a:rPr lang="en-US" sz="1330" b="1" dirty="0">
                <a:solidFill>
                  <a:srgbClr val="FFFFFF"/>
                </a:solidFill>
                <a:latin typeface="Inter" pitchFamily="34" charset="0"/>
                <a:ea typeface="Inter" pitchFamily="34" charset="-122"/>
                <a:cs typeface="Inter" pitchFamily="34" charset="-120"/>
              </a:rPr>
              <a:t>Tenant C</a:t>
            </a:r>
            <a:endParaRPr lang="en-US" sz="1330" dirty="0"/>
          </a:p>
        </p:txBody>
      </p:sp>
      <p:sp>
        <p:nvSpPr>
          <p:cNvPr id="28" name="Shape 22"/>
          <p:cNvSpPr/>
          <p:nvPr/>
        </p:nvSpPr>
        <p:spPr>
          <a:xfrm>
            <a:off x="5285232" y="3886200"/>
            <a:ext cx="1673352" cy="0"/>
          </a:xfrm>
          <a:prstGeom prst="line">
            <a:avLst/>
          </a:prstGeom>
          <a:noFill/>
          <a:ln w="8255">
            <a:solidFill>
              <a:srgbClr val="385473"/>
            </a:solidFill>
            <a:prstDash val="solid"/>
          </a:ln>
        </p:spPr>
      </p:sp>
      <p:sp>
        <p:nvSpPr>
          <p:cNvPr id="29" name="Text 23"/>
          <p:cNvSpPr/>
          <p:nvPr/>
        </p:nvSpPr>
        <p:spPr>
          <a:xfrm>
            <a:off x="5285232" y="4050792"/>
            <a:ext cx="1664208" cy="228600"/>
          </a:xfrm>
          <a:prstGeom prst="rect">
            <a:avLst/>
          </a:prstGeom>
          <a:noFill/>
          <a:ln/>
        </p:spPr>
        <p:txBody>
          <a:bodyPr wrap="square" lIns="0" tIns="0" rIns="0" bIns="0" rtlCol="0" anchor="ctr">
            <a:normAutofit/>
          </a:bodyPr>
          <a:lstStyle/>
          <a:p>
            <a:pPr marL="0" indent="0" algn="l">
              <a:buNone/>
            </a:pPr>
            <a:r>
              <a:rPr lang="en-US" sz="1020" dirty="0">
                <a:solidFill>
                  <a:srgbClr val="BFCFE2"/>
                </a:solidFill>
                <a:latin typeface="Inter" pitchFamily="34" charset="0"/>
                <a:ea typeface="Inter" pitchFamily="34" charset="-122"/>
                <a:cs typeface="Inter" pitchFamily="34" charset="-120"/>
              </a:rPr>
              <a:t>Company + branches</a:t>
            </a:r>
            <a:endParaRPr lang="en-US" sz="1020" dirty="0"/>
          </a:p>
        </p:txBody>
      </p:sp>
      <p:sp>
        <p:nvSpPr>
          <p:cNvPr id="30" name="Text 24"/>
          <p:cNvSpPr/>
          <p:nvPr/>
        </p:nvSpPr>
        <p:spPr>
          <a:xfrm>
            <a:off x="5285232" y="4379976"/>
            <a:ext cx="1700784" cy="182880"/>
          </a:xfrm>
          <a:prstGeom prst="rect">
            <a:avLst/>
          </a:prstGeom>
          <a:noFill/>
          <a:ln/>
        </p:spPr>
        <p:txBody>
          <a:bodyPr wrap="square" lIns="0" tIns="0" rIns="0" bIns="0" rtlCol="0" anchor="ctr">
            <a:normAutofit/>
          </a:bodyPr>
          <a:lstStyle/>
          <a:p>
            <a:pPr marL="0" indent="0" algn="l">
              <a:buNone/>
            </a:pPr>
            <a:r>
              <a:rPr lang="en-US" sz="900" b="1" dirty="0">
                <a:solidFill>
                  <a:srgbClr val="2CD7C4"/>
                </a:solidFill>
                <a:latin typeface="Inter" pitchFamily="34" charset="0"/>
                <a:ea typeface="Inter" pitchFamily="34" charset="-122"/>
                <a:cs typeface="Inter" pitchFamily="34" charset="-120"/>
              </a:rPr>
              <a:t>Isolated access</a:t>
            </a:r>
            <a:endParaRPr lang="en-US" sz="900" dirty="0"/>
          </a:p>
        </p:txBody>
      </p:sp>
      <p:sp>
        <p:nvSpPr>
          <p:cNvPr id="31" name="Shape 25"/>
          <p:cNvSpPr/>
          <p:nvPr/>
        </p:nvSpPr>
        <p:spPr>
          <a:xfrm>
            <a:off x="731520" y="5020056"/>
            <a:ext cx="6373368" cy="658368"/>
          </a:xfrm>
          <a:prstGeom prst="roundRect">
            <a:avLst>
              <a:gd name="adj" fmla="val 16667"/>
            </a:avLst>
          </a:prstGeom>
          <a:solidFill>
            <a:srgbClr val="12263E"/>
          </a:solidFill>
          <a:ln w="10160">
            <a:solidFill>
              <a:srgbClr val="34516F"/>
            </a:solidFill>
            <a:prstDash val="solid"/>
          </a:ln>
        </p:spPr>
      </p:sp>
      <p:pic>
        <p:nvPicPr>
          <p:cNvPr id="32" name="Image 4" descr="/mnt/data/erp_deck_assets/faDatabase_2CD7C4.png"/>
          <p:cNvPicPr>
            <a:picLocks noChangeAspect="1"/>
          </p:cNvPicPr>
          <p:nvPr/>
        </p:nvPicPr>
        <p:blipFill>
          <a:blip r:embed="rId6"/>
          <a:stretch>
            <a:fillRect/>
          </a:stretch>
        </p:blipFill>
        <p:spPr>
          <a:xfrm>
            <a:off x="950976" y="5221224"/>
            <a:ext cx="274320" cy="274320"/>
          </a:xfrm>
          <a:prstGeom prst="rect">
            <a:avLst/>
          </a:prstGeom>
        </p:spPr>
      </p:pic>
      <p:sp>
        <p:nvSpPr>
          <p:cNvPr id="33" name="Text 26"/>
          <p:cNvSpPr/>
          <p:nvPr/>
        </p:nvSpPr>
        <p:spPr>
          <a:xfrm>
            <a:off x="1389888" y="5148072"/>
            <a:ext cx="5468112" cy="338328"/>
          </a:xfrm>
          <a:prstGeom prst="rect">
            <a:avLst/>
          </a:prstGeom>
          <a:noFill/>
          <a:ln/>
        </p:spPr>
        <p:txBody>
          <a:bodyPr wrap="square" lIns="0" tIns="0" rIns="0" bIns="0" rtlCol="0" anchor="ctr">
            <a:normAutofit/>
          </a:bodyPr>
          <a:lstStyle/>
          <a:p>
            <a:pPr marL="0" indent="0" algn="l">
              <a:buNone/>
            </a:pPr>
            <a:r>
              <a:rPr lang="en-US" sz="1130" dirty="0">
                <a:solidFill>
                  <a:srgbClr val="DDE8F8"/>
                </a:solidFill>
                <a:latin typeface="Inter" pitchFamily="34" charset="0"/>
                <a:ea typeface="Inter" pitchFamily="34" charset="-122"/>
                <a:cs typeface="Inter" pitchFamily="34" charset="-120"/>
              </a:rPr>
              <a:t>Shared or dedicated database per plan / requirement</a:t>
            </a:r>
            <a:endParaRPr lang="en-US" sz="1130" dirty="0"/>
          </a:p>
        </p:txBody>
      </p:sp>
      <p:sp>
        <p:nvSpPr>
          <p:cNvPr id="34" name="Text 27"/>
          <p:cNvSpPr/>
          <p:nvPr/>
        </p:nvSpPr>
        <p:spPr>
          <a:xfrm>
            <a:off x="7516368" y="1856232"/>
            <a:ext cx="3968496" cy="256032"/>
          </a:xfrm>
          <a:prstGeom prst="rect">
            <a:avLst/>
          </a:prstGeom>
          <a:noFill/>
          <a:ln/>
        </p:spPr>
        <p:txBody>
          <a:bodyPr wrap="square" lIns="0" tIns="0" rIns="0" bIns="0" rtlCol="0" anchor="ctr">
            <a:normAutofit/>
          </a:bodyPr>
          <a:lstStyle/>
          <a:p>
            <a:pPr marL="0" indent="0" algn="l">
              <a:buNone/>
            </a:pPr>
            <a:r>
              <a:rPr lang="en-US" sz="1120" b="1" kern="0" spc="70" dirty="0">
                <a:solidFill>
                  <a:srgbClr val="2CD7C4"/>
                </a:solidFill>
                <a:latin typeface="Inter" pitchFamily="34" charset="0"/>
                <a:ea typeface="Inter" pitchFamily="34" charset="-122"/>
                <a:cs typeface="Inter" pitchFamily="34" charset="-120"/>
              </a:rPr>
              <a:t>NON-NEGOTIABLE CONTROLS</a:t>
            </a:r>
            <a:endParaRPr lang="en-US" sz="1120" dirty="0"/>
          </a:p>
        </p:txBody>
      </p:sp>
      <p:sp>
        <p:nvSpPr>
          <p:cNvPr id="35" name="Shape 28"/>
          <p:cNvSpPr/>
          <p:nvPr/>
        </p:nvSpPr>
        <p:spPr>
          <a:xfrm>
            <a:off x="7498080" y="2212848"/>
            <a:ext cx="4041648" cy="768096"/>
          </a:xfrm>
          <a:prstGeom prst="roundRect">
            <a:avLst>
              <a:gd name="adj" fmla="val 16667"/>
            </a:avLst>
          </a:prstGeom>
          <a:solidFill>
            <a:srgbClr val="172942"/>
          </a:solidFill>
          <a:ln w="10160">
            <a:solidFill>
              <a:srgbClr val="263F5A"/>
            </a:solidFill>
            <a:prstDash val="solid"/>
          </a:ln>
        </p:spPr>
      </p:sp>
      <p:sp>
        <p:nvSpPr>
          <p:cNvPr id="36" name="Shape 29"/>
          <p:cNvSpPr/>
          <p:nvPr/>
        </p:nvSpPr>
        <p:spPr>
          <a:xfrm>
            <a:off x="7708392" y="2386584"/>
            <a:ext cx="393192" cy="393192"/>
          </a:xfrm>
          <a:prstGeom prst="ellipse">
            <a:avLst/>
          </a:prstGeom>
          <a:solidFill>
            <a:srgbClr val="28415C"/>
          </a:solidFill>
          <a:ln w="12700">
            <a:solidFill>
              <a:srgbClr val="FFFFFF">
                <a:alpha val="0"/>
              </a:srgbClr>
            </a:solidFill>
            <a:prstDash val="solid"/>
          </a:ln>
        </p:spPr>
      </p:sp>
      <p:pic>
        <p:nvPicPr>
          <p:cNvPr id="37" name="Image 5" descr="/mnt/data/erp_deck_assets/faKey_2CD7C4.png"/>
          <p:cNvPicPr>
            <a:picLocks noChangeAspect="1"/>
          </p:cNvPicPr>
          <p:nvPr/>
        </p:nvPicPr>
        <p:blipFill>
          <a:blip r:embed="rId7"/>
          <a:stretch>
            <a:fillRect/>
          </a:stretch>
        </p:blipFill>
        <p:spPr>
          <a:xfrm>
            <a:off x="7818120" y="2496312"/>
            <a:ext cx="182880" cy="182880"/>
          </a:xfrm>
          <a:prstGeom prst="rect">
            <a:avLst/>
          </a:prstGeom>
        </p:spPr>
      </p:pic>
      <p:sp>
        <p:nvSpPr>
          <p:cNvPr id="38" name="Text 30"/>
          <p:cNvSpPr/>
          <p:nvPr/>
        </p:nvSpPr>
        <p:spPr>
          <a:xfrm>
            <a:off x="8266176" y="2359152"/>
            <a:ext cx="3044952" cy="228600"/>
          </a:xfrm>
          <a:prstGeom prst="rect">
            <a:avLst/>
          </a:prstGeom>
          <a:noFill/>
          <a:ln/>
        </p:spPr>
        <p:txBody>
          <a:bodyPr wrap="square" lIns="0" tIns="0" rIns="0" bIns="0" rtlCol="0" anchor="ctr">
            <a:normAutofit/>
          </a:bodyPr>
          <a:lstStyle/>
          <a:p>
            <a:pPr marL="0" indent="0" algn="l">
              <a:buNone/>
            </a:pPr>
            <a:r>
              <a:rPr lang="en-US" sz="1150" b="1" dirty="0">
                <a:solidFill>
                  <a:srgbClr val="FFFFFF"/>
                </a:solidFill>
                <a:latin typeface="Inter" pitchFamily="34" charset="0"/>
                <a:ea typeface="Inter" pitchFamily="34" charset="-122"/>
                <a:cs typeface="Inter" pitchFamily="34" charset="-120"/>
              </a:rPr>
              <a:t>Entitlements enforced in backend</a:t>
            </a:r>
            <a:endParaRPr lang="en-US" sz="1150" dirty="0"/>
          </a:p>
        </p:txBody>
      </p:sp>
      <p:sp>
        <p:nvSpPr>
          <p:cNvPr id="39" name="Text 31"/>
          <p:cNvSpPr/>
          <p:nvPr/>
        </p:nvSpPr>
        <p:spPr>
          <a:xfrm>
            <a:off x="8266176" y="2642616"/>
            <a:ext cx="3008376" cy="210312"/>
          </a:xfrm>
          <a:prstGeom prst="rect">
            <a:avLst/>
          </a:prstGeom>
          <a:noFill/>
          <a:ln/>
        </p:spPr>
        <p:txBody>
          <a:bodyPr wrap="square" lIns="0" tIns="0" rIns="0" bIns="0" rtlCol="0" anchor="ctr">
            <a:normAutofit/>
          </a:bodyPr>
          <a:lstStyle/>
          <a:p>
            <a:pPr marL="0" indent="0" algn="l">
              <a:buNone/>
            </a:pPr>
            <a:r>
              <a:rPr lang="en-US" sz="935" dirty="0">
                <a:solidFill>
                  <a:srgbClr val="9CADC4"/>
                </a:solidFill>
                <a:latin typeface="Inter" pitchFamily="34" charset="0"/>
                <a:ea typeface="Inter" pitchFamily="34" charset="-122"/>
                <a:cs typeface="Inter" pitchFamily="34" charset="-120"/>
              </a:rPr>
              <a:t>Not just hidden frontend menus</a:t>
            </a:r>
            <a:endParaRPr lang="en-US" sz="935" dirty="0"/>
          </a:p>
        </p:txBody>
      </p:sp>
      <p:sp>
        <p:nvSpPr>
          <p:cNvPr id="40" name="Shape 32"/>
          <p:cNvSpPr/>
          <p:nvPr/>
        </p:nvSpPr>
        <p:spPr>
          <a:xfrm>
            <a:off x="7498080" y="3108960"/>
            <a:ext cx="4041648" cy="768096"/>
          </a:xfrm>
          <a:prstGeom prst="roundRect">
            <a:avLst>
              <a:gd name="adj" fmla="val 16667"/>
            </a:avLst>
          </a:prstGeom>
          <a:solidFill>
            <a:srgbClr val="172942"/>
          </a:solidFill>
          <a:ln w="10160">
            <a:solidFill>
              <a:srgbClr val="263F5A"/>
            </a:solidFill>
            <a:prstDash val="solid"/>
          </a:ln>
        </p:spPr>
      </p:sp>
      <p:sp>
        <p:nvSpPr>
          <p:cNvPr id="41" name="Shape 33"/>
          <p:cNvSpPr/>
          <p:nvPr/>
        </p:nvSpPr>
        <p:spPr>
          <a:xfrm>
            <a:off x="7708392" y="3282696"/>
            <a:ext cx="393192" cy="393192"/>
          </a:xfrm>
          <a:prstGeom prst="ellipse">
            <a:avLst/>
          </a:prstGeom>
          <a:solidFill>
            <a:srgbClr val="28415C"/>
          </a:solidFill>
          <a:ln w="12700">
            <a:solidFill>
              <a:srgbClr val="FFFFFF">
                <a:alpha val="0"/>
              </a:srgbClr>
            </a:solidFill>
            <a:prstDash val="solid"/>
          </a:ln>
        </p:spPr>
      </p:sp>
      <p:pic>
        <p:nvPicPr>
          <p:cNvPr id="42" name="Image 6" descr="/mnt/data/erp_deck_assets/faUserShield_2CD7C4.png"/>
          <p:cNvPicPr>
            <a:picLocks noChangeAspect="1"/>
          </p:cNvPicPr>
          <p:nvPr/>
        </p:nvPicPr>
        <p:blipFill>
          <a:blip r:embed="rId8"/>
          <a:stretch>
            <a:fillRect/>
          </a:stretch>
        </p:blipFill>
        <p:spPr>
          <a:xfrm>
            <a:off x="7818120" y="3392424"/>
            <a:ext cx="182880" cy="182880"/>
          </a:xfrm>
          <a:prstGeom prst="rect">
            <a:avLst/>
          </a:prstGeom>
        </p:spPr>
      </p:pic>
      <p:sp>
        <p:nvSpPr>
          <p:cNvPr id="43" name="Text 34"/>
          <p:cNvSpPr/>
          <p:nvPr/>
        </p:nvSpPr>
        <p:spPr>
          <a:xfrm>
            <a:off x="8266176" y="3255264"/>
            <a:ext cx="3044952" cy="228600"/>
          </a:xfrm>
          <a:prstGeom prst="rect">
            <a:avLst/>
          </a:prstGeom>
          <a:noFill/>
          <a:ln/>
        </p:spPr>
        <p:txBody>
          <a:bodyPr wrap="square" lIns="0" tIns="0" rIns="0" bIns="0" rtlCol="0" anchor="ctr">
            <a:normAutofit/>
          </a:bodyPr>
          <a:lstStyle/>
          <a:p>
            <a:pPr marL="0" indent="0" algn="l">
              <a:buNone/>
            </a:pPr>
            <a:r>
              <a:rPr lang="en-US" sz="1150" b="1" dirty="0">
                <a:solidFill>
                  <a:srgbClr val="FFFFFF"/>
                </a:solidFill>
                <a:latin typeface="Inter" pitchFamily="34" charset="0"/>
                <a:ea typeface="Inter" pitchFamily="34" charset="-122"/>
                <a:cs typeface="Inter" pitchFamily="34" charset="-120"/>
              </a:rPr>
              <a:t>Tenant / company / branch RBAC</a:t>
            </a:r>
            <a:endParaRPr lang="en-US" sz="1150" dirty="0"/>
          </a:p>
        </p:txBody>
      </p:sp>
      <p:sp>
        <p:nvSpPr>
          <p:cNvPr id="44" name="Text 35"/>
          <p:cNvSpPr/>
          <p:nvPr/>
        </p:nvSpPr>
        <p:spPr>
          <a:xfrm>
            <a:off x="8266176" y="3538728"/>
            <a:ext cx="3008376" cy="210312"/>
          </a:xfrm>
          <a:prstGeom prst="rect">
            <a:avLst/>
          </a:prstGeom>
          <a:noFill/>
          <a:ln/>
        </p:spPr>
        <p:txBody>
          <a:bodyPr wrap="square" lIns="0" tIns="0" rIns="0" bIns="0" rtlCol="0" anchor="ctr">
            <a:normAutofit/>
          </a:bodyPr>
          <a:lstStyle/>
          <a:p>
            <a:pPr marL="0" indent="0" algn="l">
              <a:buNone/>
            </a:pPr>
            <a:r>
              <a:rPr lang="en-US" sz="935" dirty="0">
                <a:solidFill>
                  <a:srgbClr val="9CADC4"/>
                </a:solidFill>
                <a:latin typeface="Inter" pitchFamily="34" charset="0"/>
                <a:ea typeface="Inter" pitchFamily="34" charset="-122"/>
                <a:cs typeface="Inter" pitchFamily="34" charset="-120"/>
              </a:rPr>
              <a:t>Role and API permissions enforced</a:t>
            </a:r>
            <a:endParaRPr lang="en-US" sz="935" dirty="0"/>
          </a:p>
        </p:txBody>
      </p:sp>
      <p:sp>
        <p:nvSpPr>
          <p:cNvPr id="45" name="Shape 36"/>
          <p:cNvSpPr/>
          <p:nvPr/>
        </p:nvSpPr>
        <p:spPr>
          <a:xfrm>
            <a:off x="7498080" y="4005072"/>
            <a:ext cx="4041648" cy="768096"/>
          </a:xfrm>
          <a:prstGeom prst="roundRect">
            <a:avLst>
              <a:gd name="adj" fmla="val 16667"/>
            </a:avLst>
          </a:prstGeom>
          <a:solidFill>
            <a:srgbClr val="172942"/>
          </a:solidFill>
          <a:ln w="10160">
            <a:solidFill>
              <a:srgbClr val="263F5A"/>
            </a:solidFill>
            <a:prstDash val="solid"/>
          </a:ln>
        </p:spPr>
      </p:sp>
      <p:sp>
        <p:nvSpPr>
          <p:cNvPr id="46" name="Shape 37"/>
          <p:cNvSpPr/>
          <p:nvPr/>
        </p:nvSpPr>
        <p:spPr>
          <a:xfrm>
            <a:off x="7708392" y="4178808"/>
            <a:ext cx="393192" cy="393192"/>
          </a:xfrm>
          <a:prstGeom prst="ellipse">
            <a:avLst/>
          </a:prstGeom>
          <a:solidFill>
            <a:srgbClr val="28415C"/>
          </a:solidFill>
          <a:ln w="12700">
            <a:solidFill>
              <a:srgbClr val="FFFFFF">
                <a:alpha val="0"/>
              </a:srgbClr>
            </a:solidFill>
            <a:prstDash val="solid"/>
          </a:ln>
        </p:spPr>
      </p:sp>
      <p:pic>
        <p:nvPicPr>
          <p:cNvPr id="47" name="Image 7" descr="/mnt/data/erp_deck_assets/faFileCircleCheck_2CD7C4.png"/>
          <p:cNvPicPr>
            <a:picLocks noChangeAspect="1"/>
          </p:cNvPicPr>
          <p:nvPr/>
        </p:nvPicPr>
        <p:blipFill>
          <a:blip r:embed="rId9"/>
          <a:stretch>
            <a:fillRect/>
          </a:stretch>
        </p:blipFill>
        <p:spPr>
          <a:xfrm>
            <a:off x="7818120" y="4288536"/>
            <a:ext cx="182880" cy="182880"/>
          </a:xfrm>
          <a:prstGeom prst="rect">
            <a:avLst/>
          </a:prstGeom>
        </p:spPr>
      </p:pic>
      <p:sp>
        <p:nvSpPr>
          <p:cNvPr id="48" name="Text 38"/>
          <p:cNvSpPr/>
          <p:nvPr/>
        </p:nvSpPr>
        <p:spPr>
          <a:xfrm>
            <a:off x="8266176" y="4151376"/>
            <a:ext cx="3044952" cy="228600"/>
          </a:xfrm>
          <a:prstGeom prst="rect">
            <a:avLst/>
          </a:prstGeom>
          <a:noFill/>
          <a:ln/>
        </p:spPr>
        <p:txBody>
          <a:bodyPr wrap="square" lIns="0" tIns="0" rIns="0" bIns="0" rtlCol="0" anchor="ctr">
            <a:normAutofit/>
          </a:bodyPr>
          <a:lstStyle/>
          <a:p>
            <a:pPr marL="0" indent="0" algn="l">
              <a:buNone/>
            </a:pPr>
            <a:r>
              <a:rPr lang="en-US" sz="1150" b="1" dirty="0">
                <a:solidFill>
                  <a:srgbClr val="FFFFFF"/>
                </a:solidFill>
                <a:latin typeface="Inter" pitchFamily="34" charset="0"/>
                <a:ea typeface="Inter" pitchFamily="34" charset="-122"/>
                <a:cs typeface="Inter" pitchFamily="34" charset="-120"/>
              </a:rPr>
              <a:t>Auditability &amp; traceable operations</a:t>
            </a:r>
            <a:endParaRPr lang="en-US" sz="1150" dirty="0"/>
          </a:p>
        </p:txBody>
      </p:sp>
      <p:sp>
        <p:nvSpPr>
          <p:cNvPr id="49" name="Text 39"/>
          <p:cNvSpPr/>
          <p:nvPr/>
        </p:nvSpPr>
        <p:spPr>
          <a:xfrm>
            <a:off x="8266176" y="4434840"/>
            <a:ext cx="3008376" cy="210312"/>
          </a:xfrm>
          <a:prstGeom prst="rect">
            <a:avLst/>
          </a:prstGeom>
          <a:noFill/>
          <a:ln/>
        </p:spPr>
        <p:txBody>
          <a:bodyPr wrap="square" lIns="0" tIns="0" rIns="0" bIns="0" rtlCol="0" anchor="ctr">
            <a:normAutofit/>
          </a:bodyPr>
          <a:lstStyle/>
          <a:p>
            <a:pPr marL="0" indent="0" algn="l">
              <a:buNone/>
            </a:pPr>
            <a:r>
              <a:rPr lang="en-US" sz="935" dirty="0">
                <a:solidFill>
                  <a:srgbClr val="9CADC4"/>
                </a:solidFill>
                <a:latin typeface="Inter" pitchFamily="34" charset="0"/>
                <a:ea typeface="Inter" pitchFamily="34" charset="-122"/>
                <a:cs typeface="Inter" pitchFamily="34" charset="-120"/>
              </a:rPr>
              <a:t>Critical changes leave usable records</a:t>
            </a:r>
            <a:endParaRPr lang="en-US" sz="935" dirty="0"/>
          </a:p>
        </p:txBody>
      </p:sp>
      <p:sp>
        <p:nvSpPr>
          <p:cNvPr id="50" name="Shape 40"/>
          <p:cNvSpPr/>
          <p:nvPr/>
        </p:nvSpPr>
        <p:spPr>
          <a:xfrm>
            <a:off x="7498080" y="4901184"/>
            <a:ext cx="4041648" cy="768096"/>
          </a:xfrm>
          <a:prstGeom prst="roundRect">
            <a:avLst>
              <a:gd name="adj" fmla="val 16667"/>
            </a:avLst>
          </a:prstGeom>
          <a:solidFill>
            <a:srgbClr val="172942"/>
          </a:solidFill>
          <a:ln w="10160">
            <a:solidFill>
              <a:srgbClr val="263F5A"/>
            </a:solidFill>
            <a:prstDash val="solid"/>
          </a:ln>
        </p:spPr>
      </p:sp>
      <p:sp>
        <p:nvSpPr>
          <p:cNvPr id="51" name="Shape 41"/>
          <p:cNvSpPr/>
          <p:nvPr/>
        </p:nvSpPr>
        <p:spPr>
          <a:xfrm>
            <a:off x="7708392" y="5074920"/>
            <a:ext cx="393192" cy="393192"/>
          </a:xfrm>
          <a:prstGeom prst="ellipse">
            <a:avLst/>
          </a:prstGeom>
          <a:solidFill>
            <a:srgbClr val="28415C"/>
          </a:solidFill>
          <a:ln w="12700">
            <a:solidFill>
              <a:srgbClr val="FFFFFF">
                <a:alpha val="0"/>
              </a:srgbClr>
            </a:solidFill>
            <a:prstDash val="solid"/>
          </a:ln>
        </p:spPr>
      </p:sp>
      <p:pic>
        <p:nvPicPr>
          <p:cNvPr id="52" name="Image 8" descr="/mnt/data/erp_deck_assets/faShieldHalved_2CD7C4.png"/>
          <p:cNvPicPr>
            <a:picLocks noChangeAspect="1"/>
          </p:cNvPicPr>
          <p:nvPr/>
        </p:nvPicPr>
        <p:blipFill>
          <a:blip r:embed="rId10"/>
          <a:stretch>
            <a:fillRect/>
          </a:stretch>
        </p:blipFill>
        <p:spPr>
          <a:xfrm>
            <a:off x="7818120" y="5184648"/>
            <a:ext cx="182880" cy="182880"/>
          </a:xfrm>
          <a:prstGeom prst="rect">
            <a:avLst/>
          </a:prstGeom>
        </p:spPr>
      </p:pic>
      <p:sp>
        <p:nvSpPr>
          <p:cNvPr id="53" name="Text 42"/>
          <p:cNvSpPr/>
          <p:nvPr/>
        </p:nvSpPr>
        <p:spPr>
          <a:xfrm>
            <a:off x="8266176" y="5047488"/>
            <a:ext cx="3044952" cy="228600"/>
          </a:xfrm>
          <a:prstGeom prst="rect">
            <a:avLst/>
          </a:prstGeom>
          <a:noFill/>
          <a:ln/>
        </p:spPr>
        <p:txBody>
          <a:bodyPr wrap="square" lIns="0" tIns="0" rIns="0" bIns="0" rtlCol="0" anchor="ctr">
            <a:normAutofit/>
          </a:bodyPr>
          <a:lstStyle/>
          <a:p>
            <a:pPr marL="0" indent="0" algn="l">
              <a:buNone/>
            </a:pPr>
            <a:r>
              <a:rPr lang="en-US" sz="1150" b="1" dirty="0">
                <a:solidFill>
                  <a:srgbClr val="FFFFFF"/>
                </a:solidFill>
                <a:latin typeface="Inter" pitchFamily="34" charset="0"/>
                <a:ea typeface="Inter" pitchFamily="34" charset="-122"/>
                <a:cs typeface="Inter" pitchFamily="34" charset="-120"/>
              </a:rPr>
              <a:t>Provisioning + recovery</a:t>
            </a:r>
            <a:endParaRPr lang="en-US" sz="1150" dirty="0"/>
          </a:p>
        </p:txBody>
      </p:sp>
      <p:sp>
        <p:nvSpPr>
          <p:cNvPr id="54" name="Text 43"/>
          <p:cNvSpPr/>
          <p:nvPr/>
        </p:nvSpPr>
        <p:spPr>
          <a:xfrm>
            <a:off x="8266176" y="5330952"/>
            <a:ext cx="3008376" cy="210312"/>
          </a:xfrm>
          <a:prstGeom prst="rect">
            <a:avLst/>
          </a:prstGeom>
          <a:noFill/>
          <a:ln/>
        </p:spPr>
        <p:txBody>
          <a:bodyPr wrap="square" lIns="0" tIns="0" rIns="0" bIns="0" rtlCol="0" anchor="ctr">
            <a:normAutofit/>
          </a:bodyPr>
          <a:lstStyle/>
          <a:p>
            <a:pPr marL="0" indent="0" algn="l">
              <a:buNone/>
            </a:pPr>
            <a:r>
              <a:rPr lang="en-US" sz="935" dirty="0">
                <a:solidFill>
                  <a:srgbClr val="9CADC4"/>
                </a:solidFill>
                <a:latin typeface="Inter" pitchFamily="34" charset="0"/>
                <a:ea typeface="Inter" pitchFamily="34" charset="-122"/>
                <a:cs typeface="Inter" pitchFamily="34" charset="-120"/>
              </a:rPr>
              <a:t>Monitoring, retries, backups and security</a:t>
            </a:r>
            <a:endParaRPr lang="en-US" sz="935" dirty="0"/>
          </a:p>
        </p:txBody>
      </p:sp>
      <p:sp>
        <p:nvSpPr>
          <p:cNvPr id="55" name="Shape 44"/>
          <p:cNvSpPr/>
          <p:nvPr/>
        </p:nvSpPr>
        <p:spPr>
          <a:xfrm>
            <a:off x="630936" y="6473952"/>
            <a:ext cx="10936224" cy="0"/>
          </a:xfrm>
          <a:prstGeom prst="line">
            <a:avLst/>
          </a:prstGeom>
          <a:noFill/>
          <a:ln w="8255">
            <a:solidFill>
              <a:srgbClr val="294059"/>
            </a:solidFill>
            <a:prstDash val="solid"/>
          </a:ln>
        </p:spPr>
      </p:sp>
      <p:sp>
        <p:nvSpPr>
          <p:cNvPr id="56" name="Text 45"/>
          <p:cNvSpPr/>
          <p:nvPr/>
        </p:nvSpPr>
        <p:spPr>
          <a:xfrm>
            <a:off x="640080" y="6496812"/>
            <a:ext cx="9921240" cy="155448"/>
          </a:xfrm>
          <a:prstGeom prst="rect">
            <a:avLst/>
          </a:prstGeom>
          <a:noFill/>
          <a:ln/>
        </p:spPr>
        <p:txBody>
          <a:bodyPr wrap="square" lIns="0" tIns="0" rIns="0" bIns="0" rtlCol="0" anchor="ctr">
            <a:normAutofit/>
          </a:bodyPr>
          <a:lstStyle/>
          <a:p>
            <a:pPr marL="0" indent="0" algn="l">
              <a:buNone/>
            </a:pPr>
            <a:r>
              <a:rPr lang="en-US" sz="770" dirty="0">
                <a:solidFill>
                  <a:srgbClr val="68809C"/>
                </a:solidFill>
                <a:latin typeface="Inter" pitchFamily="34" charset="0"/>
                <a:ea typeface="Inter" pitchFamily="34" charset="-122"/>
                <a:cs typeface="Inter" pitchFamily="34" charset="-120"/>
              </a:rPr>
              <a:t>Source: BRD §§5–6, 10. Database deployment choices depend on subscription entitlements.</a:t>
            </a:r>
            <a:endParaRPr lang="en-US" sz="770" dirty="0"/>
          </a:p>
        </p:txBody>
      </p:sp>
      <p:sp>
        <p:nvSpPr>
          <p:cNvPr id="57" name="Text 46"/>
          <p:cNvSpPr/>
          <p:nvPr/>
        </p:nvSpPr>
        <p:spPr>
          <a:xfrm>
            <a:off x="10771632" y="6496812"/>
            <a:ext cx="777240" cy="155448"/>
          </a:xfrm>
          <a:prstGeom prst="rect">
            <a:avLst/>
          </a:prstGeom>
          <a:noFill/>
          <a:ln/>
        </p:spPr>
        <p:txBody>
          <a:bodyPr wrap="square" lIns="0" tIns="0" rIns="0" bIns="0" rtlCol="0" anchor="ctr">
            <a:normAutofit/>
          </a:bodyPr>
          <a:lstStyle/>
          <a:p>
            <a:pPr marL="0" indent="0" algn="r">
              <a:buNone/>
            </a:pPr>
            <a:r>
              <a:rPr lang="en-US" sz="840" b="1" dirty="0">
                <a:solidFill>
                  <a:srgbClr val="68809C"/>
                </a:solidFill>
                <a:latin typeface="Inter" pitchFamily="34" charset="0"/>
                <a:ea typeface="Inter" pitchFamily="34" charset="-122"/>
                <a:cs typeface="Inter" pitchFamily="34" charset="-120"/>
              </a:rPr>
              <a:t>05 / 08</a:t>
            </a:r>
            <a:endParaRPr lang="en-US" sz="84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8FC"/>
        </a:solidFill>
        <a:effectLst/>
      </p:bgPr>
    </p:bg>
    <p:spTree>
      <p:nvGrpSpPr>
        <p:cNvPr id="1" name=""/>
        <p:cNvGrpSpPr/>
        <p:nvPr/>
      </p:nvGrpSpPr>
      <p:grpSpPr>
        <a:xfrm>
          <a:off x="0" y="0"/>
          <a:ext cx="0" cy="0"/>
          <a:chOff x="0" y="0"/>
          <a:chExt cx="0" cy="0"/>
        </a:xfrm>
      </p:grpSpPr>
      <p:sp>
        <p:nvSpPr>
          <p:cNvPr id="2" name="Text 0"/>
          <p:cNvSpPr/>
          <p:nvPr/>
        </p:nvSpPr>
        <p:spPr>
          <a:xfrm>
            <a:off x="658368" y="429768"/>
            <a:ext cx="10789920" cy="237744"/>
          </a:xfrm>
          <a:prstGeom prst="rect">
            <a:avLst/>
          </a:prstGeom>
          <a:noFill/>
          <a:ln/>
        </p:spPr>
        <p:txBody>
          <a:bodyPr wrap="square" lIns="0" tIns="0" rIns="0" bIns="0" rtlCol="0" anchor="ctr">
            <a:normAutofit/>
          </a:bodyPr>
          <a:lstStyle/>
          <a:p>
            <a:pPr marL="0" indent="0" algn="l">
              <a:buNone/>
            </a:pPr>
            <a:r>
              <a:rPr lang="en-US" sz="930" b="1" kern="0" spc="185" dirty="0">
                <a:solidFill>
                  <a:srgbClr val="2563EB"/>
                </a:solidFill>
                <a:latin typeface="Inter" pitchFamily="34" charset="0"/>
                <a:ea typeface="Inter" pitchFamily="34" charset="-122"/>
                <a:cs typeface="Inter" pitchFamily="34" charset="-120"/>
              </a:rPr>
              <a:t>05 / MARKET POSITIONING</a:t>
            </a:r>
            <a:endParaRPr lang="en-US" sz="930" dirty="0"/>
          </a:p>
        </p:txBody>
      </p:sp>
      <p:sp>
        <p:nvSpPr>
          <p:cNvPr id="3" name="Text 1"/>
          <p:cNvSpPr/>
          <p:nvPr/>
        </p:nvSpPr>
        <p:spPr>
          <a:xfrm>
            <a:off x="640080" y="786384"/>
            <a:ext cx="10917936" cy="502920"/>
          </a:xfrm>
          <a:prstGeom prst="rect">
            <a:avLst/>
          </a:prstGeom>
          <a:noFill/>
          <a:ln/>
        </p:spPr>
        <p:txBody>
          <a:bodyPr wrap="square" lIns="0" tIns="0" rIns="0" bIns="0" rtlCol="0" anchor="ctr">
            <a:normAutofit/>
          </a:bodyPr>
          <a:lstStyle/>
          <a:p>
            <a:pPr marL="0" indent="0" algn="l">
              <a:buNone/>
            </a:pPr>
            <a:r>
              <a:rPr lang="en-US" sz="2850" b="1" dirty="0">
                <a:solidFill>
                  <a:srgbClr val="172439"/>
                </a:solidFill>
                <a:latin typeface="Inter Display" pitchFamily="34" charset="0"/>
                <a:ea typeface="Inter Display" pitchFamily="34" charset="-122"/>
                <a:cs typeface="Inter Display" pitchFamily="34" charset="-120"/>
              </a:rPr>
              <a:t>The competitor landscape—and our proposed angle.</a:t>
            </a:r>
            <a:endParaRPr lang="en-US" sz="2850" dirty="0"/>
          </a:p>
        </p:txBody>
      </p:sp>
      <p:sp>
        <p:nvSpPr>
          <p:cNvPr id="4" name="Text 2"/>
          <p:cNvSpPr/>
          <p:nvPr/>
        </p:nvSpPr>
        <p:spPr>
          <a:xfrm>
            <a:off x="658368" y="1380744"/>
            <a:ext cx="10826496" cy="338328"/>
          </a:xfrm>
          <a:prstGeom prst="rect">
            <a:avLst/>
          </a:prstGeom>
          <a:noFill/>
          <a:ln/>
        </p:spPr>
        <p:txBody>
          <a:bodyPr wrap="square" lIns="0" tIns="0" rIns="0" bIns="0" rtlCol="0" anchor="ctr">
            <a:normAutofit/>
          </a:bodyPr>
          <a:lstStyle/>
          <a:p>
            <a:pPr marL="0" indent="0" algn="l">
              <a:buNone/>
            </a:pPr>
            <a:r>
              <a:rPr lang="en-US" sz="1250" dirty="0">
                <a:solidFill>
                  <a:srgbClr val="677995"/>
                </a:solidFill>
                <a:latin typeface="Inter" pitchFamily="34" charset="0"/>
                <a:ea typeface="Inter" pitchFamily="34" charset="-122"/>
                <a:cs typeface="Inter" pitchFamily="34" charset="-120"/>
              </a:rPr>
              <a:t>Five existing offerings discussed in the provided USP document; differentiation below is the proposal’s intended direction.</a:t>
            </a:r>
            <a:endParaRPr lang="en-US" sz="1250" dirty="0"/>
          </a:p>
        </p:txBody>
      </p:sp>
      <p:sp>
        <p:nvSpPr>
          <p:cNvPr id="5" name="Shape 3"/>
          <p:cNvSpPr/>
          <p:nvPr/>
        </p:nvSpPr>
        <p:spPr>
          <a:xfrm>
            <a:off x="649224" y="1911096"/>
            <a:ext cx="10917936" cy="457200"/>
          </a:xfrm>
          <a:prstGeom prst="roundRect">
            <a:avLst>
              <a:gd name="adj" fmla="val 24000"/>
            </a:avLst>
          </a:prstGeom>
          <a:solidFill>
            <a:srgbClr val="243B5D"/>
          </a:solidFill>
          <a:ln w="12700">
            <a:solidFill>
              <a:srgbClr val="FFFFFF">
                <a:alpha val="0"/>
              </a:srgbClr>
            </a:solidFill>
            <a:prstDash val="solid"/>
          </a:ln>
        </p:spPr>
      </p:sp>
      <p:sp>
        <p:nvSpPr>
          <p:cNvPr id="6" name="Text 4"/>
          <p:cNvSpPr/>
          <p:nvPr/>
        </p:nvSpPr>
        <p:spPr>
          <a:xfrm>
            <a:off x="841248" y="2039112"/>
            <a:ext cx="2167128" cy="219456"/>
          </a:xfrm>
          <a:prstGeom prst="rect">
            <a:avLst/>
          </a:prstGeom>
          <a:noFill/>
          <a:ln/>
        </p:spPr>
        <p:txBody>
          <a:bodyPr wrap="square" lIns="0" tIns="0" rIns="0" bIns="0" rtlCol="0" anchor="ctr">
            <a:normAutofit/>
          </a:bodyPr>
          <a:lstStyle/>
          <a:p>
            <a:pPr marL="0" indent="0" algn="l">
              <a:buNone/>
            </a:pPr>
            <a:r>
              <a:rPr lang="en-US" sz="950" b="1" kern="0" spc="80" dirty="0">
                <a:solidFill>
                  <a:srgbClr val="FFFFFF"/>
                </a:solidFill>
                <a:latin typeface="Inter" pitchFamily="34" charset="0"/>
                <a:ea typeface="Inter" pitchFamily="34" charset="-122"/>
                <a:cs typeface="Inter" pitchFamily="34" charset="-120"/>
              </a:rPr>
              <a:t>SYSTEM</a:t>
            </a:r>
            <a:endParaRPr lang="en-US" sz="950" dirty="0"/>
          </a:p>
        </p:txBody>
      </p:sp>
      <p:sp>
        <p:nvSpPr>
          <p:cNvPr id="7" name="Text 5"/>
          <p:cNvSpPr/>
          <p:nvPr/>
        </p:nvSpPr>
        <p:spPr>
          <a:xfrm>
            <a:off x="3182112" y="2039112"/>
            <a:ext cx="3593592" cy="219456"/>
          </a:xfrm>
          <a:prstGeom prst="rect">
            <a:avLst/>
          </a:prstGeom>
          <a:noFill/>
          <a:ln/>
        </p:spPr>
        <p:txBody>
          <a:bodyPr wrap="square" lIns="0" tIns="0" rIns="0" bIns="0" rtlCol="0" anchor="ctr">
            <a:normAutofit/>
          </a:bodyPr>
          <a:lstStyle/>
          <a:p>
            <a:pPr marL="0" indent="0" algn="l">
              <a:buNone/>
            </a:pPr>
            <a:r>
              <a:rPr lang="en-US" sz="950" b="1" kern="0" spc="80" dirty="0">
                <a:solidFill>
                  <a:srgbClr val="FFFFFF"/>
                </a:solidFill>
                <a:latin typeface="Inter" pitchFamily="34" charset="0"/>
                <a:ea typeface="Inter" pitchFamily="34" charset="-122"/>
                <a:cs typeface="Inter" pitchFamily="34" charset="-120"/>
              </a:rPr>
              <a:t>DESCRIBED MARKET STRENGTH</a:t>
            </a:r>
            <a:endParaRPr lang="en-US" sz="950" dirty="0"/>
          </a:p>
        </p:txBody>
      </p:sp>
      <p:sp>
        <p:nvSpPr>
          <p:cNvPr id="8" name="Text 6"/>
          <p:cNvSpPr/>
          <p:nvPr/>
        </p:nvSpPr>
        <p:spPr>
          <a:xfrm>
            <a:off x="7004304" y="2039112"/>
            <a:ext cx="4425696" cy="219456"/>
          </a:xfrm>
          <a:prstGeom prst="rect">
            <a:avLst/>
          </a:prstGeom>
          <a:noFill/>
          <a:ln/>
        </p:spPr>
        <p:txBody>
          <a:bodyPr wrap="square" lIns="0" tIns="0" rIns="0" bIns="0" rtlCol="0" anchor="ctr">
            <a:normAutofit/>
          </a:bodyPr>
          <a:lstStyle/>
          <a:p>
            <a:pPr marL="0" indent="0" algn="l">
              <a:buNone/>
            </a:pPr>
            <a:r>
              <a:rPr lang="en-US" sz="950" b="1" kern="0" spc="80" dirty="0">
                <a:solidFill>
                  <a:srgbClr val="FFFFFF"/>
                </a:solidFill>
                <a:latin typeface="Inter" pitchFamily="34" charset="0"/>
                <a:ea typeface="Inter" pitchFamily="34" charset="-122"/>
                <a:cs typeface="Inter" pitchFamily="34" charset="-120"/>
              </a:rPr>
              <a:t>PROPOSED DIFFERENTIATOR</a:t>
            </a:r>
            <a:endParaRPr lang="en-US" sz="950" dirty="0"/>
          </a:p>
        </p:txBody>
      </p:sp>
      <p:sp>
        <p:nvSpPr>
          <p:cNvPr id="9" name="Shape 7"/>
          <p:cNvSpPr/>
          <p:nvPr/>
        </p:nvSpPr>
        <p:spPr>
          <a:xfrm>
            <a:off x="649224" y="2414016"/>
            <a:ext cx="10917936" cy="667512"/>
          </a:xfrm>
          <a:prstGeom prst="roundRect">
            <a:avLst>
              <a:gd name="adj" fmla="val 12329"/>
            </a:avLst>
          </a:prstGeom>
          <a:solidFill>
            <a:srgbClr val="FFFFFF"/>
          </a:solidFill>
          <a:ln w="12700">
            <a:solidFill>
              <a:srgbClr val="FFFFFF">
                <a:alpha val="0"/>
              </a:srgbClr>
            </a:solidFill>
            <a:prstDash val="solid"/>
          </a:ln>
        </p:spPr>
      </p:sp>
      <p:sp>
        <p:nvSpPr>
          <p:cNvPr id="10" name="Shape 8"/>
          <p:cNvSpPr/>
          <p:nvPr/>
        </p:nvSpPr>
        <p:spPr>
          <a:xfrm>
            <a:off x="649224" y="2414016"/>
            <a:ext cx="47549" cy="667512"/>
          </a:xfrm>
          <a:prstGeom prst="rect">
            <a:avLst/>
          </a:prstGeom>
          <a:solidFill>
            <a:srgbClr val="518BFF"/>
          </a:solidFill>
          <a:ln w="12700">
            <a:solidFill>
              <a:srgbClr val="FFFFFF">
                <a:alpha val="0"/>
              </a:srgbClr>
            </a:solidFill>
            <a:prstDash val="solid"/>
          </a:ln>
        </p:spPr>
      </p:sp>
      <p:sp>
        <p:nvSpPr>
          <p:cNvPr id="11" name="Text 9"/>
          <p:cNvSpPr/>
          <p:nvPr/>
        </p:nvSpPr>
        <p:spPr>
          <a:xfrm>
            <a:off x="813816" y="2505456"/>
            <a:ext cx="2075688" cy="466344"/>
          </a:xfrm>
          <a:prstGeom prst="rect">
            <a:avLst/>
          </a:prstGeom>
          <a:noFill/>
          <a:ln/>
        </p:spPr>
        <p:txBody>
          <a:bodyPr wrap="square" lIns="0" tIns="0" rIns="0" bIns="0" rtlCol="0" anchor="ctr">
            <a:normAutofit/>
          </a:bodyPr>
          <a:lstStyle/>
          <a:p>
            <a:pPr marL="0" indent="0" algn="l">
              <a:buNone/>
            </a:pPr>
            <a:r>
              <a:rPr lang="en-US" sz="1210" b="1" dirty="0">
                <a:solidFill>
                  <a:srgbClr val="172439"/>
                </a:solidFill>
                <a:latin typeface="Inter" pitchFamily="34" charset="0"/>
                <a:ea typeface="Inter" pitchFamily="34" charset="-122"/>
                <a:cs typeface="Inter" pitchFamily="34" charset="-120"/>
              </a:rPr>
              <a:t>Profit Plus</a:t>
            </a:r>
            <a:endParaRPr lang="en-US" sz="1210" dirty="0"/>
          </a:p>
        </p:txBody>
      </p:sp>
      <p:sp>
        <p:nvSpPr>
          <p:cNvPr id="12" name="Text 10"/>
          <p:cNvSpPr/>
          <p:nvPr/>
        </p:nvSpPr>
        <p:spPr>
          <a:xfrm>
            <a:off x="3172968" y="2496312"/>
            <a:ext cx="3438144" cy="493776"/>
          </a:xfrm>
          <a:prstGeom prst="rect">
            <a:avLst/>
          </a:prstGeom>
          <a:noFill/>
          <a:ln/>
        </p:spPr>
        <p:txBody>
          <a:bodyPr wrap="square" lIns="0" tIns="0" rIns="0" bIns="0" rtlCol="0" anchor="ctr">
            <a:normAutofit/>
          </a:bodyPr>
          <a:lstStyle/>
          <a:p>
            <a:pPr marL="0" indent="0" algn="l">
              <a:buNone/>
            </a:pPr>
            <a:r>
              <a:rPr lang="en-US" sz="1065" dirty="0">
                <a:solidFill>
                  <a:srgbClr val="677995"/>
                </a:solidFill>
                <a:latin typeface="Inter" pitchFamily="34" charset="0"/>
                <a:ea typeface="Inter" pitchFamily="34" charset="-122"/>
                <a:cs typeface="Inter" pitchFamily="34" charset="-120"/>
              </a:rPr>
              <a:t>Wholesale / retail stock control and accounting</a:t>
            </a:r>
            <a:endParaRPr lang="en-US" sz="1065" dirty="0"/>
          </a:p>
        </p:txBody>
      </p:sp>
      <p:sp>
        <p:nvSpPr>
          <p:cNvPr id="13" name="Text 11"/>
          <p:cNvSpPr/>
          <p:nvPr/>
        </p:nvSpPr>
        <p:spPr>
          <a:xfrm>
            <a:off x="6995160" y="2496312"/>
            <a:ext cx="4334256" cy="493776"/>
          </a:xfrm>
          <a:prstGeom prst="rect">
            <a:avLst/>
          </a:prstGeom>
          <a:noFill/>
          <a:ln/>
        </p:spPr>
        <p:txBody>
          <a:bodyPr wrap="square" lIns="0" tIns="0" rIns="0" bIns="0" rtlCol="0" anchor="ctr">
            <a:normAutofit/>
          </a:bodyPr>
          <a:lstStyle/>
          <a:p>
            <a:pPr marL="0" indent="0" algn="l">
              <a:buNone/>
            </a:pPr>
            <a:r>
              <a:rPr lang="en-US" sz="1075" b="1" dirty="0">
                <a:solidFill>
                  <a:srgbClr val="2563EB"/>
                </a:solidFill>
                <a:latin typeface="Inter" pitchFamily="34" charset="0"/>
                <a:ea typeface="Inter" pitchFamily="34" charset="-122"/>
                <a:cs typeface="Inter" pitchFamily="34" charset="-120"/>
              </a:rPr>
              <a:t>Proactive profit-leak insights</a:t>
            </a:r>
            <a:endParaRPr lang="en-US" sz="1075" dirty="0"/>
          </a:p>
        </p:txBody>
      </p:sp>
      <p:sp>
        <p:nvSpPr>
          <p:cNvPr id="14" name="Shape 12"/>
          <p:cNvSpPr/>
          <p:nvPr/>
        </p:nvSpPr>
        <p:spPr>
          <a:xfrm>
            <a:off x="649224" y="3127248"/>
            <a:ext cx="10917936" cy="667512"/>
          </a:xfrm>
          <a:prstGeom prst="roundRect">
            <a:avLst>
              <a:gd name="adj" fmla="val 12329"/>
            </a:avLst>
          </a:prstGeom>
          <a:solidFill>
            <a:srgbClr val="EDF2F8"/>
          </a:solidFill>
          <a:ln w="12700">
            <a:solidFill>
              <a:srgbClr val="FFFFFF">
                <a:alpha val="0"/>
              </a:srgbClr>
            </a:solidFill>
            <a:prstDash val="solid"/>
          </a:ln>
        </p:spPr>
      </p:sp>
      <p:sp>
        <p:nvSpPr>
          <p:cNvPr id="15" name="Shape 13"/>
          <p:cNvSpPr/>
          <p:nvPr/>
        </p:nvSpPr>
        <p:spPr>
          <a:xfrm>
            <a:off x="649224" y="3127248"/>
            <a:ext cx="47549" cy="667512"/>
          </a:xfrm>
          <a:prstGeom prst="rect">
            <a:avLst/>
          </a:prstGeom>
          <a:solidFill>
            <a:srgbClr val="518BFF"/>
          </a:solidFill>
          <a:ln w="12700">
            <a:solidFill>
              <a:srgbClr val="FFFFFF">
                <a:alpha val="0"/>
              </a:srgbClr>
            </a:solidFill>
            <a:prstDash val="solid"/>
          </a:ln>
        </p:spPr>
      </p:sp>
      <p:sp>
        <p:nvSpPr>
          <p:cNvPr id="16" name="Text 14"/>
          <p:cNvSpPr/>
          <p:nvPr/>
        </p:nvSpPr>
        <p:spPr>
          <a:xfrm>
            <a:off x="813816" y="3218688"/>
            <a:ext cx="2075688" cy="466344"/>
          </a:xfrm>
          <a:prstGeom prst="rect">
            <a:avLst/>
          </a:prstGeom>
          <a:noFill/>
          <a:ln/>
        </p:spPr>
        <p:txBody>
          <a:bodyPr wrap="square" lIns="0" tIns="0" rIns="0" bIns="0" rtlCol="0" anchor="ctr">
            <a:normAutofit/>
          </a:bodyPr>
          <a:lstStyle/>
          <a:p>
            <a:pPr marL="0" indent="0" algn="l">
              <a:buNone/>
            </a:pPr>
            <a:r>
              <a:rPr lang="en-US" sz="1210" b="1" dirty="0">
                <a:solidFill>
                  <a:srgbClr val="172439"/>
                </a:solidFill>
                <a:latin typeface="Inter" pitchFamily="34" charset="0"/>
                <a:ea typeface="Inter" pitchFamily="34" charset="-122"/>
                <a:cs typeface="Inter" pitchFamily="34" charset="-120"/>
              </a:rPr>
              <a:t>AccSoft ERP</a:t>
            </a:r>
            <a:endParaRPr lang="en-US" sz="1210" dirty="0"/>
          </a:p>
        </p:txBody>
      </p:sp>
      <p:sp>
        <p:nvSpPr>
          <p:cNvPr id="17" name="Text 15"/>
          <p:cNvSpPr/>
          <p:nvPr/>
        </p:nvSpPr>
        <p:spPr>
          <a:xfrm>
            <a:off x="3172968" y="3209544"/>
            <a:ext cx="3438144" cy="493776"/>
          </a:xfrm>
          <a:prstGeom prst="rect">
            <a:avLst/>
          </a:prstGeom>
          <a:noFill/>
          <a:ln/>
        </p:spPr>
        <p:txBody>
          <a:bodyPr wrap="square" lIns="0" tIns="0" rIns="0" bIns="0" rtlCol="0" anchor="ctr">
            <a:normAutofit/>
          </a:bodyPr>
          <a:lstStyle/>
          <a:p>
            <a:pPr marL="0" indent="0" algn="l">
              <a:buNone/>
            </a:pPr>
            <a:r>
              <a:rPr lang="en-US" sz="1065" dirty="0">
                <a:solidFill>
                  <a:srgbClr val="677995"/>
                </a:solidFill>
                <a:latin typeface="Inter" pitchFamily="34" charset="0"/>
                <a:ea typeface="Inter" pitchFamily="34" charset="-122"/>
                <a:cs typeface="Inter" pitchFamily="34" charset="-120"/>
              </a:rPr>
              <a:t>Multi-company accounting and inventory</a:t>
            </a:r>
            <a:endParaRPr lang="en-US" sz="1065" dirty="0"/>
          </a:p>
        </p:txBody>
      </p:sp>
      <p:sp>
        <p:nvSpPr>
          <p:cNvPr id="18" name="Text 16"/>
          <p:cNvSpPr/>
          <p:nvPr/>
        </p:nvSpPr>
        <p:spPr>
          <a:xfrm>
            <a:off x="6995160" y="3209544"/>
            <a:ext cx="4334256" cy="493776"/>
          </a:xfrm>
          <a:prstGeom prst="rect">
            <a:avLst/>
          </a:prstGeom>
          <a:noFill/>
          <a:ln/>
        </p:spPr>
        <p:txBody>
          <a:bodyPr wrap="square" lIns="0" tIns="0" rIns="0" bIns="0" rtlCol="0" anchor="ctr">
            <a:normAutofit/>
          </a:bodyPr>
          <a:lstStyle/>
          <a:p>
            <a:pPr marL="0" indent="0" algn="l">
              <a:buNone/>
            </a:pPr>
            <a:r>
              <a:rPr lang="en-US" sz="1075" b="1" dirty="0">
                <a:solidFill>
                  <a:srgbClr val="2563EB"/>
                </a:solidFill>
                <a:latin typeface="Inter" pitchFamily="34" charset="0"/>
                <a:ea typeface="Inter" pitchFamily="34" charset="-122"/>
                <a:cs typeface="Inter" pitchFamily="34" charset="-120"/>
              </a:rPr>
              <a:t>Trilingual customer engagement concepts</a:t>
            </a:r>
            <a:endParaRPr lang="en-US" sz="1075" dirty="0"/>
          </a:p>
        </p:txBody>
      </p:sp>
      <p:sp>
        <p:nvSpPr>
          <p:cNvPr id="19" name="Shape 17"/>
          <p:cNvSpPr/>
          <p:nvPr/>
        </p:nvSpPr>
        <p:spPr>
          <a:xfrm>
            <a:off x="649224" y="3840480"/>
            <a:ext cx="10917936" cy="667512"/>
          </a:xfrm>
          <a:prstGeom prst="roundRect">
            <a:avLst>
              <a:gd name="adj" fmla="val 12329"/>
            </a:avLst>
          </a:prstGeom>
          <a:solidFill>
            <a:srgbClr val="FFFFFF"/>
          </a:solidFill>
          <a:ln w="12700">
            <a:solidFill>
              <a:srgbClr val="FFFFFF">
                <a:alpha val="0"/>
              </a:srgbClr>
            </a:solidFill>
            <a:prstDash val="solid"/>
          </a:ln>
        </p:spPr>
      </p:sp>
      <p:sp>
        <p:nvSpPr>
          <p:cNvPr id="20" name="Shape 18"/>
          <p:cNvSpPr/>
          <p:nvPr/>
        </p:nvSpPr>
        <p:spPr>
          <a:xfrm>
            <a:off x="649224" y="3840480"/>
            <a:ext cx="47549" cy="667512"/>
          </a:xfrm>
          <a:prstGeom prst="rect">
            <a:avLst/>
          </a:prstGeom>
          <a:solidFill>
            <a:srgbClr val="2CD7C4"/>
          </a:solidFill>
          <a:ln w="12700">
            <a:solidFill>
              <a:srgbClr val="FFFFFF">
                <a:alpha val="0"/>
              </a:srgbClr>
            </a:solidFill>
            <a:prstDash val="solid"/>
          </a:ln>
        </p:spPr>
      </p:sp>
      <p:sp>
        <p:nvSpPr>
          <p:cNvPr id="21" name="Text 19"/>
          <p:cNvSpPr/>
          <p:nvPr/>
        </p:nvSpPr>
        <p:spPr>
          <a:xfrm>
            <a:off x="813816" y="3931920"/>
            <a:ext cx="2075688" cy="466344"/>
          </a:xfrm>
          <a:prstGeom prst="rect">
            <a:avLst/>
          </a:prstGeom>
          <a:noFill/>
          <a:ln/>
        </p:spPr>
        <p:txBody>
          <a:bodyPr wrap="square" lIns="0" tIns="0" rIns="0" bIns="0" rtlCol="0" anchor="ctr">
            <a:normAutofit/>
          </a:bodyPr>
          <a:lstStyle/>
          <a:p>
            <a:pPr marL="0" indent="0" algn="l">
              <a:buNone/>
            </a:pPr>
            <a:r>
              <a:rPr lang="en-US" sz="1210" b="1" dirty="0">
                <a:solidFill>
                  <a:srgbClr val="172439"/>
                </a:solidFill>
                <a:latin typeface="Inter" pitchFamily="34" charset="0"/>
                <a:ea typeface="Inter" pitchFamily="34" charset="-122"/>
                <a:cs typeface="Inter" pitchFamily="34" charset="-120"/>
              </a:rPr>
              <a:t>Enhanzer eZuite</a:t>
            </a:r>
            <a:endParaRPr lang="en-US" sz="1210" dirty="0"/>
          </a:p>
        </p:txBody>
      </p:sp>
      <p:sp>
        <p:nvSpPr>
          <p:cNvPr id="22" name="Text 20"/>
          <p:cNvSpPr/>
          <p:nvPr/>
        </p:nvSpPr>
        <p:spPr>
          <a:xfrm>
            <a:off x="3172968" y="3922776"/>
            <a:ext cx="3438144" cy="493776"/>
          </a:xfrm>
          <a:prstGeom prst="rect">
            <a:avLst/>
          </a:prstGeom>
          <a:noFill/>
          <a:ln/>
        </p:spPr>
        <p:txBody>
          <a:bodyPr wrap="square" lIns="0" tIns="0" rIns="0" bIns="0" rtlCol="0" anchor="ctr">
            <a:normAutofit/>
          </a:bodyPr>
          <a:lstStyle/>
          <a:p>
            <a:pPr marL="0" indent="0" algn="l">
              <a:buNone/>
            </a:pPr>
            <a:r>
              <a:rPr lang="en-US" sz="1065" dirty="0">
                <a:solidFill>
                  <a:srgbClr val="677995"/>
                </a:solidFill>
                <a:latin typeface="Inter" pitchFamily="34" charset="0"/>
                <a:ea typeface="Inter" pitchFamily="34" charset="-122"/>
                <a:cs typeface="Inter" pitchFamily="34" charset="-120"/>
              </a:rPr>
              <a:t>Cloud retail, POS, distribution and field operations</a:t>
            </a:r>
            <a:endParaRPr lang="en-US" sz="1065" dirty="0"/>
          </a:p>
        </p:txBody>
      </p:sp>
      <p:sp>
        <p:nvSpPr>
          <p:cNvPr id="23" name="Text 21"/>
          <p:cNvSpPr/>
          <p:nvPr/>
        </p:nvSpPr>
        <p:spPr>
          <a:xfrm>
            <a:off x="6995160" y="3922776"/>
            <a:ext cx="4334256" cy="493776"/>
          </a:xfrm>
          <a:prstGeom prst="rect">
            <a:avLst/>
          </a:prstGeom>
          <a:noFill/>
          <a:ln/>
        </p:spPr>
        <p:txBody>
          <a:bodyPr wrap="square" lIns="0" tIns="0" rIns="0" bIns="0" rtlCol="0" anchor="ctr">
            <a:normAutofit/>
          </a:bodyPr>
          <a:lstStyle/>
          <a:p>
            <a:pPr marL="0" indent="0" algn="l">
              <a:buNone/>
            </a:pPr>
            <a:r>
              <a:rPr lang="en-US" sz="1075" b="1" dirty="0">
                <a:solidFill>
                  <a:srgbClr val="2563EB"/>
                </a:solidFill>
                <a:latin typeface="Inter" pitchFamily="34" charset="0"/>
                <a:ea typeface="Inter" pitchFamily="34" charset="-122"/>
                <a:cs typeface="Inter" pitchFamily="34" charset="-120"/>
              </a:rPr>
              <a:t>Inter-warehouse rebalancing + landed-cost advice</a:t>
            </a:r>
            <a:endParaRPr lang="en-US" sz="1075" dirty="0"/>
          </a:p>
        </p:txBody>
      </p:sp>
      <p:sp>
        <p:nvSpPr>
          <p:cNvPr id="24" name="Shape 22"/>
          <p:cNvSpPr/>
          <p:nvPr/>
        </p:nvSpPr>
        <p:spPr>
          <a:xfrm>
            <a:off x="649224" y="4553712"/>
            <a:ext cx="10917936" cy="667512"/>
          </a:xfrm>
          <a:prstGeom prst="roundRect">
            <a:avLst>
              <a:gd name="adj" fmla="val 12329"/>
            </a:avLst>
          </a:prstGeom>
          <a:solidFill>
            <a:srgbClr val="EDF2F8"/>
          </a:solidFill>
          <a:ln w="12700">
            <a:solidFill>
              <a:srgbClr val="FFFFFF">
                <a:alpha val="0"/>
              </a:srgbClr>
            </a:solidFill>
            <a:prstDash val="solid"/>
          </a:ln>
        </p:spPr>
      </p:sp>
      <p:sp>
        <p:nvSpPr>
          <p:cNvPr id="25" name="Shape 23"/>
          <p:cNvSpPr/>
          <p:nvPr/>
        </p:nvSpPr>
        <p:spPr>
          <a:xfrm>
            <a:off x="649224" y="4553712"/>
            <a:ext cx="47549" cy="667512"/>
          </a:xfrm>
          <a:prstGeom prst="rect">
            <a:avLst/>
          </a:prstGeom>
          <a:solidFill>
            <a:srgbClr val="518BFF"/>
          </a:solidFill>
          <a:ln w="12700">
            <a:solidFill>
              <a:srgbClr val="FFFFFF">
                <a:alpha val="0"/>
              </a:srgbClr>
            </a:solidFill>
            <a:prstDash val="solid"/>
          </a:ln>
        </p:spPr>
      </p:sp>
      <p:sp>
        <p:nvSpPr>
          <p:cNvPr id="26" name="Text 24"/>
          <p:cNvSpPr/>
          <p:nvPr/>
        </p:nvSpPr>
        <p:spPr>
          <a:xfrm>
            <a:off x="813816" y="4645152"/>
            <a:ext cx="2075688" cy="466344"/>
          </a:xfrm>
          <a:prstGeom prst="rect">
            <a:avLst/>
          </a:prstGeom>
          <a:noFill/>
          <a:ln/>
        </p:spPr>
        <p:txBody>
          <a:bodyPr wrap="square" lIns="0" tIns="0" rIns="0" bIns="0" rtlCol="0" anchor="ctr">
            <a:normAutofit/>
          </a:bodyPr>
          <a:lstStyle/>
          <a:p>
            <a:pPr marL="0" indent="0" algn="l">
              <a:buNone/>
            </a:pPr>
            <a:r>
              <a:rPr lang="en-US" sz="1210" b="1" dirty="0">
                <a:solidFill>
                  <a:srgbClr val="172439"/>
                </a:solidFill>
                <a:latin typeface="Inter" pitchFamily="34" charset="0"/>
                <a:ea typeface="Inter" pitchFamily="34" charset="-122"/>
                <a:cs typeface="Inter" pitchFamily="34" charset="-120"/>
              </a:rPr>
              <a:t>Specta Solutions</a:t>
            </a:r>
            <a:endParaRPr lang="en-US" sz="1210" dirty="0"/>
          </a:p>
        </p:txBody>
      </p:sp>
      <p:sp>
        <p:nvSpPr>
          <p:cNvPr id="27" name="Text 25"/>
          <p:cNvSpPr/>
          <p:nvPr/>
        </p:nvSpPr>
        <p:spPr>
          <a:xfrm>
            <a:off x="3172968" y="4636008"/>
            <a:ext cx="3438144" cy="493776"/>
          </a:xfrm>
          <a:prstGeom prst="rect">
            <a:avLst/>
          </a:prstGeom>
          <a:noFill/>
          <a:ln/>
        </p:spPr>
        <p:txBody>
          <a:bodyPr wrap="square" lIns="0" tIns="0" rIns="0" bIns="0" rtlCol="0" anchor="ctr">
            <a:normAutofit/>
          </a:bodyPr>
          <a:lstStyle/>
          <a:p>
            <a:pPr marL="0" indent="0" algn="l">
              <a:buNone/>
            </a:pPr>
            <a:r>
              <a:rPr lang="en-US" sz="1065" dirty="0">
                <a:solidFill>
                  <a:srgbClr val="677995"/>
                </a:solidFill>
                <a:latin typeface="Inter" pitchFamily="34" charset="0"/>
                <a:ea typeface="Inter" pitchFamily="34" charset="-122"/>
                <a:cs typeface="Inter" pitchFamily="34" charset="-120"/>
              </a:rPr>
              <a:t>Industry-focused manufacturing and supply-chain workflows</a:t>
            </a:r>
            <a:endParaRPr lang="en-US" sz="1065" dirty="0"/>
          </a:p>
        </p:txBody>
      </p:sp>
      <p:sp>
        <p:nvSpPr>
          <p:cNvPr id="28" name="Text 26"/>
          <p:cNvSpPr/>
          <p:nvPr/>
        </p:nvSpPr>
        <p:spPr>
          <a:xfrm>
            <a:off x="6995160" y="4636008"/>
            <a:ext cx="4334256" cy="493776"/>
          </a:xfrm>
          <a:prstGeom prst="rect">
            <a:avLst/>
          </a:prstGeom>
          <a:noFill/>
          <a:ln/>
        </p:spPr>
        <p:txBody>
          <a:bodyPr wrap="square" lIns="0" tIns="0" rIns="0" bIns="0" rtlCol="0" anchor="ctr">
            <a:normAutofit/>
          </a:bodyPr>
          <a:lstStyle/>
          <a:p>
            <a:pPr marL="0" indent="0" algn="l">
              <a:buNone/>
            </a:pPr>
            <a:r>
              <a:rPr lang="en-US" sz="1075" b="1" dirty="0">
                <a:solidFill>
                  <a:srgbClr val="2563EB"/>
                </a:solidFill>
                <a:latin typeface="Inter" pitchFamily="34" charset="0"/>
                <a:ea typeface="Inter" pitchFamily="34" charset="-122"/>
                <a:cs typeface="Inter" pitchFamily="34" charset="-120"/>
              </a:rPr>
              <a:t>Supply-chain what-if simulation</a:t>
            </a:r>
            <a:endParaRPr lang="en-US" sz="1075" dirty="0"/>
          </a:p>
        </p:txBody>
      </p:sp>
      <p:sp>
        <p:nvSpPr>
          <p:cNvPr id="29" name="Shape 27"/>
          <p:cNvSpPr/>
          <p:nvPr/>
        </p:nvSpPr>
        <p:spPr>
          <a:xfrm>
            <a:off x="649224" y="5266944"/>
            <a:ext cx="10917936" cy="667512"/>
          </a:xfrm>
          <a:prstGeom prst="roundRect">
            <a:avLst>
              <a:gd name="adj" fmla="val 12329"/>
            </a:avLst>
          </a:prstGeom>
          <a:solidFill>
            <a:srgbClr val="FFFFFF"/>
          </a:solidFill>
          <a:ln w="12700">
            <a:solidFill>
              <a:srgbClr val="FFFFFF">
                <a:alpha val="0"/>
              </a:srgbClr>
            </a:solidFill>
            <a:prstDash val="solid"/>
          </a:ln>
        </p:spPr>
      </p:sp>
      <p:sp>
        <p:nvSpPr>
          <p:cNvPr id="30" name="Shape 28"/>
          <p:cNvSpPr/>
          <p:nvPr/>
        </p:nvSpPr>
        <p:spPr>
          <a:xfrm>
            <a:off x="649224" y="5266944"/>
            <a:ext cx="47549" cy="667512"/>
          </a:xfrm>
          <a:prstGeom prst="rect">
            <a:avLst/>
          </a:prstGeom>
          <a:solidFill>
            <a:srgbClr val="518BFF"/>
          </a:solidFill>
          <a:ln w="12700">
            <a:solidFill>
              <a:srgbClr val="FFFFFF">
                <a:alpha val="0"/>
              </a:srgbClr>
            </a:solidFill>
            <a:prstDash val="solid"/>
          </a:ln>
        </p:spPr>
      </p:sp>
      <p:sp>
        <p:nvSpPr>
          <p:cNvPr id="31" name="Text 29"/>
          <p:cNvSpPr/>
          <p:nvPr/>
        </p:nvSpPr>
        <p:spPr>
          <a:xfrm>
            <a:off x="813816" y="5358384"/>
            <a:ext cx="2075688" cy="466344"/>
          </a:xfrm>
          <a:prstGeom prst="rect">
            <a:avLst/>
          </a:prstGeom>
          <a:noFill/>
          <a:ln/>
        </p:spPr>
        <p:txBody>
          <a:bodyPr wrap="square" lIns="0" tIns="0" rIns="0" bIns="0" rtlCol="0" anchor="ctr">
            <a:normAutofit/>
          </a:bodyPr>
          <a:lstStyle/>
          <a:p>
            <a:pPr marL="0" indent="0" algn="l">
              <a:buNone/>
            </a:pPr>
            <a:r>
              <a:rPr lang="en-US" sz="1210" b="1" dirty="0">
                <a:solidFill>
                  <a:srgbClr val="172439"/>
                </a:solidFill>
                <a:latin typeface="Inter" pitchFamily="34" charset="0"/>
                <a:ea typeface="Inter" pitchFamily="34" charset="-122"/>
                <a:cs typeface="Inter" pitchFamily="34" charset="-120"/>
              </a:rPr>
              <a:t>ERPNext (local)</a:t>
            </a:r>
            <a:endParaRPr lang="en-US" sz="1210" dirty="0"/>
          </a:p>
        </p:txBody>
      </p:sp>
      <p:sp>
        <p:nvSpPr>
          <p:cNvPr id="32" name="Text 30"/>
          <p:cNvSpPr/>
          <p:nvPr/>
        </p:nvSpPr>
        <p:spPr>
          <a:xfrm>
            <a:off x="3172968" y="5349240"/>
            <a:ext cx="3438144" cy="493776"/>
          </a:xfrm>
          <a:prstGeom prst="rect">
            <a:avLst/>
          </a:prstGeom>
          <a:noFill/>
          <a:ln/>
        </p:spPr>
        <p:txBody>
          <a:bodyPr wrap="square" lIns="0" tIns="0" rIns="0" bIns="0" rtlCol="0" anchor="ctr">
            <a:normAutofit/>
          </a:bodyPr>
          <a:lstStyle/>
          <a:p>
            <a:pPr marL="0" indent="0" algn="l">
              <a:buNone/>
            </a:pPr>
            <a:r>
              <a:rPr lang="en-US" sz="1065" dirty="0">
                <a:solidFill>
                  <a:srgbClr val="677995"/>
                </a:solidFill>
                <a:latin typeface="Inter" pitchFamily="34" charset="0"/>
                <a:ea typeface="Inter" pitchFamily="34" charset="-122"/>
                <a:cs typeface="Inter" pitchFamily="34" charset="-120"/>
              </a:rPr>
              <a:t>Open-source modular and customisable ERP</a:t>
            </a:r>
            <a:endParaRPr lang="en-US" sz="1065" dirty="0"/>
          </a:p>
        </p:txBody>
      </p:sp>
      <p:sp>
        <p:nvSpPr>
          <p:cNvPr id="33" name="Text 31"/>
          <p:cNvSpPr/>
          <p:nvPr/>
        </p:nvSpPr>
        <p:spPr>
          <a:xfrm>
            <a:off x="6995160" y="5349240"/>
            <a:ext cx="4334256" cy="493776"/>
          </a:xfrm>
          <a:prstGeom prst="rect">
            <a:avLst/>
          </a:prstGeom>
          <a:noFill/>
          <a:ln/>
        </p:spPr>
        <p:txBody>
          <a:bodyPr wrap="square" lIns="0" tIns="0" rIns="0" bIns="0" rtlCol="0" anchor="ctr">
            <a:normAutofit/>
          </a:bodyPr>
          <a:lstStyle/>
          <a:p>
            <a:pPr marL="0" indent="0" algn="l">
              <a:buNone/>
            </a:pPr>
            <a:r>
              <a:rPr lang="en-US" sz="1075" b="1" dirty="0">
                <a:solidFill>
                  <a:srgbClr val="2563EB"/>
                </a:solidFill>
                <a:latin typeface="Inter" pitchFamily="34" charset="0"/>
                <a:ea typeface="Inter" pitchFamily="34" charset="-122"/>
                <a:cs typeface="Inter" pitchFamily="34" charset="-120"/>
              </a:rPr>
              <a:t>Separation of exact .NET rules and advisory AI</a:t>
            </a:r>
            <a:endParaRPr lang="en-US" sz="1075" dirty="0"/>
          </a:p>
        </p:txBody>
      </p:sp>
      <p:sp>
        <p:nvSpPr>
          <p:cNvPr id="34" name="Shape 32"/>
          <p:cNvSpPr/>
          <p:nvPr/>
        </p:nvSpPr>
        <p:spPr>
          <a:xfrm>
            <a:off x="658368" y="6071616"/>
            <a:ext cx="10881360" cy="228600"/>
          </a:xfrm>
          <a:prstGeom prst="roundRect">
            <a:avLst>
              <a:gd name="adj" fmla="val 20000"/>
            </a:avLst>
          </a:prstGeom>
          <a:solidFill>
            <a:srgbClr val="EBF1F9"/>
          </a:solidFill>
          <a:ln w="12700">
            <a:solidFill>
              <a:srgbClr val="FFFFFF">
                <a:alpha val="0"/>
              </a:srgbClr>
            </a:solidFill>
            <a:prstDash val="solid"/>
          </a:ln>
        </p:spPr>
      </p:sp>
      <p:sp>
        <p:nvSpPr>
          <p:cNvPr id="35" name="Text 33"/>
          <p:cNvSpPr/>
          <p:nvPr/>
        </p:nvSpPr>
        <p:spPr>
          <a:xfrm>
            <a:off x="804672" y="6080760"/>
            <a:ext cx="10588752" cy="210312"/>
          </a:xfrm>
          <a:prstGeom prst="rect">
            <a:avLst/>
          </a:prstGeom>
          <a:noFill/>
          <a:ln/>
        </p:spPr>
        <p:txBody>
          <a:bodyPr wrap="square" lIns="0" tIns="0" rIns="0" bIns="0" rtlCol="0" anchor="ctr">
            <a:normAutofit/>
          </a:bodyPr>
          <a:lstStyle/>
          <a:p>
            <a:pPr marL="0" indent="0" algn="l">
              <a:buNone/>
            </a:pPr>
            <a:r>
              <a:rPr lang="en-US" sz="855" i="1" dirty="0">
                <a:solidFill>
                  <a:srgbClr val="677995"/>
                </a:solidFill>
                <a:latin typeface="Inter" pitchFamily="34" charset="0"/>
                <a:ea typeface="Inter" pitchFamily="34" charset="-122"/>
                <a:cs typeface="Inter" pitchFamily="34" charset="-120"/>
              </a:rPr>
              <a:t>Comparison claims come from the provided USP document; feature gaps and exclusivity require independent verification.</a:t>
            </a:r>
            <a:endParaRPr lang="en-US" sz="855" dirty="0"/>
          </a:p>
        </p:txBody>
      </p:sp>
      <p:sp>
        <p:nvSpPr>
          <p:cNvPr id="36" name="Shape 34"/>
          <p:cNvSpPr/>
          <p:nvPr/>
        </p:nvSpPr>
        <p:spPr>
          <a:xfrm>
            <a:off x="630936" y="6473952"/>
            <a:ext cx="10936224" cy="0"/>
          </a:xfrm>
          <a:prstGeom prst="line">
            <a:avLst/>
          </a:prstGeom>
          <a:noFill/>
          <a:ln w="8255">
            <a:solidFill>
              <a:srgbClr val="DDE4EC"/>
            </a:solidFill>
            <a:prstDash val="solid"/>
          </a:ln>
        </p:spPr>
      </p:sp>
      <p:sp>
        <p:nvSpPr>
          <p:cNvPr id="37" name="Text 35"/>
          <p:cNvSpPr/>
          <p:nvPr/>
        </p:nvSpPr>
        <p:spPr>
          <a:xfrm>
            <a:off x="640080" y="6496812"/>
            <a:ext cx="9921240" cy="155448"/>
          </a:xfrm>
          <a:prstGeom prst="rect">
            <a:avLst/>
          </a:prstGeom>
          <a:noFill/>
          <a:ln/>
        </p:spPr>
        <p:txBody>
          <a:bodyPr wrap="square" lIns="0" tIns="0" rIns="0" bIns="0" rtlCol="0" anchor="ctr">
            <a:normAutofit/>
          </a:bodyPr>
          <a:lstStyle/>
          <a:p>
            <a:pPr marL="0" indent="0" algn="l">
              <a:buNone/>
            </a:pPr>
            <a:r>
              <a:rPr lang="en-US" sz="770" dirty="0">
                <a:solidFill>
                  <a:srgbClr val="8896A8"/>
                </a:solidFill>
                <a:latin typeface="Inter" pitchFamily="34" charset="0"/>
                <a:ea typeface="Inter" pitchFamily="34" charset="-122"/>
                <a:cs typeface="Inter" pitchFamily="34" charset="-120"/>
              </a:rPr>
              <a:t>Source: Current Systems vs. Proposed Dual-Mode AI ERP USP Comparison §§2–4.</a:t>
            </a:r>
            <a:endParaRPr lang="en-US" sz="770" dirty="0"/>
          </a:p>
        </p:txBody>
      </p:sp>
      <p:sp>
        <p:nvSpPr>
          <p:cNvPr id="38" name="Text 36"/>
          <p:cNvSpPr/>
          <p:nvPr/>
        </p:nvSpPr>
        <p:spPr>
          <a:xfrm>
            <a:off x="10771632" y="6496812"/>
            <a:ext cx="777240" cy="155448"/>
          </a:xfrm>
          <a:prstGeom prst="rect">
            <a:avLst/>
          </a:prstGeom>
          <a:noFill/>
          <a:ln/>
        </p:spPr>
        <p:txBody>
          <a:bodyPr wrap="square" lIns="0" tIns="0" rIns="0" bIns="0" rtlCol="0" anchor="ctr">
            <a:normAutofit/>
          </a:bodyPr>
          <a:lstStyle/>
          <a:p>
            <a:pPr marL="0" indent="0" algn="r">
              <a:buNone/>
            </a:pPr>
            <a:r>
              <a:rPr lang="en-US" sz="840" b="1" dirty="0">
                <a:solidFill>
                  <a:srgbClr val="8896A8"/>
                </a:solidFill>
                <a:latin typeface="Inter" pitchFamily="34" charset="0"/>
                <a:ea typeface="Inter" pitchFamily="34" charset="-122"/>
                <a:cs typeface="Inter" pitchFamily="34" charset="-120"/>
              </a:rPr>
              <a:t>06 / 08</a:t>
            </a:r>
            <a:endParaRPr lang="en-US" sz="84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323"/>
        </a:solidFill>
        <a:effectLst/>
      </p:bgPr>
    </p:bg>
    <p:spTree>
      <p:nvGrpSpPr>
        <p:cNvPr id="1" name=""/>
        <p:cNvGrpSpPr/>
        <p:nvPr/>
      </p:nvGrpSpPr>
      <p:grpSpPr>
        <a:xfrm>
          <a:off x="0" y="0"/>
          <a:ext cx="0" cy="0"/>
          <a:chOff x="0" y="0"/>
          <a:chExt cx="0" cy="0"/>
        </a:xfrm>
      </p:grpSpPr>
      <p:sp>
        <p:nvSpPr>
          <p:cNvPr id="2" name="Text 0"/>
          <p:cNvSpPr/>
          <p:nvPr/>
        </p:nvSpPr>
        <p:spPr>
          <a:xfrm>
            <a:off x="658368" y="429768"/>
            <a:ext cx="10789920" cy="237744"/>
          </a:xfrm>
          <a:prstGeom prst="rect">
            <a:avLst/>
          </a:prstGeom>
          <a:noFill/>
          <a:ln/>
        </p:spPr>
        <p:txBody>
          <a:bodyPr wrap="square" lIns="0" tIns="0" rIns="0" bIns="0" rtlCol="0" anchor="ctr">
            <a:normAutofit/>
          </a:bodyPr>
          <a:lstStyle/>
          <a:p>
            <a:pPr marL="0" indent="0" algn="l">
              <a:buNone/>
            </a:pPr>
            <a:r>
              <a:rPr lang="en-US" sz="930" b="1" kern="0" spc="185" dirty="0">
                <a:solidFill>
                  <a:srgbClr val="2CD7C4"/>
                </a:solidFill>
                <a:latin typeface="Inter" pitchFamily="34" charset="0"/>
                <a:ea typeface="Inter" pitchFamily="34" charset="-122"/>
                <a:cs typeface="Inter" pitchFamily="34" charset="-120"/>
              </a:rPr>
              <a:t>06 / ARCHITECTURE + INTELLIGENCE</a:t>
            </a:r>
            <a:endParaRPr lang="en-US" sz="930" dirty="0"/>
          </a:p>
        </p:txBody>
      </p:sp>
      <p:sp>
        <p:nvSpPr>
          <p:cNvPr id="3" name="Text 1"/>
          <p:cNvSpPr/>
          <p:nvPr/>
        </p:nvSpPr>
        <p:spPr>
          <a:xfrm>
            <a:off x="640080" y="786384"/>
            <a:ext cx="10917936" cy="502920"/>
          </a:xfrm>
          <a:prstGeom prst="rect">
            <a:avLst/>
          </a:prstGeom>
          <a:noFill/>
          <a:ln/>
        </p:spPr>
        <p:txBody>
          <a:bodyPr wrap="square" lIns="0" tIns="0" rIns="0" bIns="0" rtlCol="0" anchor="ctr">
            <a:normAutofit/>
          </a:bodyPr>
          <a:lstStyle/>
          <a:p>
            <a:pPr marL="0" indent="0" algn="l">
              <a:buNone/>
            </a:pPr>
            <a:r>
              <a:rPr lang="en-US" sz="2850" b="1" dirty="0">
                <a:solidFill>
                  <a:srgbClr val="FFFFFF"/>
                </a:solidFill>
                <a:latin typeface="Inter Display" pitchFamily="34" charset="0"/>
                <a:ea typeface="Inter Display" pitchFamily="34" charset="-122"/>
                <a:cs typeface="Inter Display" pitchFamily="34" charset="-120"/>
              </a:rPr>
              <a:t>Two engines. One controlled system.</a:t>
            </a:r>
            <a:endParaRPr lang="en-US" sz="2850" dirty="0"/>
          </a:p>
        </p:txBody>
      </p:sp>
      <p:sp>
        <p:nvSpPr>
          <p:cNvPr id="4" name="Text 2"/>
          <p:cNvSpPr/>
          <p:nvPr/>
        </p:nvSpPr>
        <p:spPr>
          <a:xfrm>
            <a:off x="658368" y="1380744"/>
            <a:ext cx="10826496" cy="338328"/>
          </a:xfrm>
          <a:prstGeom prst="rect">
            <a:avLst/>
          </a:prstGeom>
          <a:noFill/>
          <a:ln/>
        </p:spPr>
        <p:txBody>
          <a:bodyPr wrap="square" lIns="0" tIns="0" rIns="0" bIns="0" rtlCol="0" anchor="ctr">
            <a:normAutofit/>
          </a:bodyPr>
          <a:lstStyle/>
          <a:p>
            <a:pPr marL="0" indent="0" algn="l">
              <a:buNone/>
            </a:pPr>
            <a:r>
              <a:rPr lang="en-US" sz="1250" dirty="0">
                <a:solidFill>
                  <a:srgbClr val="9CADC4"/>
                </a:solidFill>
                <a:latin typeface="Inter" pitchFamily="34" charset="0"/>
                <a:ea typeface="Inter" pitchFamily="34" charset="-122"/>
                <a:cs typeface="Inter" pitchFamily="34" charset="-120"/>
              </a:rPr>
              <a:t>Deterministic .NET operations stay authoritative; Python AI supports decisions without bypassing access controls.</a:t>
            </a:r>
            <a:endParaRPr lang="en-US" sz="1250" dirty="0"/>
          </a:p>
        </p:txBody>
      </p:sp>
      <p:sp>
        <p:nvSpPr>
          <p:cNvPr id="5" name="Shape 3"/>
          <p:cNvSpPr/>
          <p:nvPr/>
        </p:nvSpPr>
        <p:spPr>
          <a:xfrm>
            <a:off x="768096" y="1847088"/>
            <a:ext cx="1728216" cy="301752"/>
          </a:xfrm>
          <a:prstGeom prst="roundRect">
            <a:avLst>
              <a:gd name="adj" fmla="val 42424"/>
            </a:avLst>
          </a:prstGeom>
          <a:solidFill>
            <a:srgbClr val="253C58"/>
          </a:solidFill>
          <a:ln w="12700">
            <a:solidFill>
              <a:srgbClr val="FFFFFF">
                <a:alpha val="0"/>
              </a:srgbClr>
            </a:solidFill>
            <a:prstDash val="solid"/>
          </a:ln>
        </p:spPr>
      </p:sp>
      <p:sp>
        <p:nvSpPr>
          <p:cNvPr id="6" name="Text 4"/>
          <p:cNvSpPr/>
          <p:nvPr/>
        </p:nvSpPr>
        <p:spPr>
          <a:xfrm>
            <a:off x="877824" y="1856232"/>
            <a:ext cx="1508760" cy="283464"/>
          </a:xfrm>
          <a:prstGeom prst="rect">
            <a:avLst/>
          </a:prstGeom>
          <a:noFill/>
          <a:ln/>
        </p:spPr>
        <p:txBody>
          <a:bodyPr wrap="square" lIns="0" tIns="0" rIns="0" bIns="0" rtlCol="0" anchor="ctr">
            <a:normAutofit/>
          </a:bodyPr>
          <a:lstStyle/>
          <a:p>
            <a:pPr marL="0" indent="0" algn="l">
              <a:buNone/>
            </a:pPr>
            <a:r>
              <a:rPr lang="en-US" sz="870" b="1" kern="0" spc="55" dirty="0">
                <a:solidFill>
                  <a:srgbClr val="FFFFFF"/>
                </a:solidFill>
                <a:latin typeface="Inter" pitchFamily="34" charset="0"/>
                <a:ea typeface="Inter" pitchFamily="34" charset="-122"/>
                <a:cs typeface="Inter" pitchFamily="34" charset="-120"/>
              </a:rPr>
              <a:t>APPLICATION MODE</a:t>
            </a:r>
            <a:endParaRPr lang="en-US" sz="870" dirty="0"/>
          </a:p>
        </p:txBody>
      </p:sp>
      <p:sp>
        <p:nvSpPr>
          <p:cNvPr id="7" name="Shape 5"/>
          <p:cNvSpPr/>
          <p:nvPr/>
        </p:nvSpPr>
        <p:spPr>
          <a:xfrm>
            <a:off x="740664" y="2304288"/>
            <a:ext cx="2084832" cy="539496"/>
          </a:xfrm>
          <a:prstGeom prst="roundRect">
            <a:avLst>
              <a:gd name="adj" fmla="val 20339"/>
            </a:avLst>
          </a:prstGeom>
          <a:solidFill>
            <a:srgbClr val="1D3554"/>
          </a:solidFill>
          <a:ln w="10160">
            <a:solidFill>
              <a:srgbClr val="365774"/>
            </a:solidFill>
            <a:prstDash val="solid"/>
          </a:ln>
        </p:spPr>
        <p:txBody>
          <a:bodyPr/>
          <a:lstStyle/>
          <a:p>
            <a:endParaRPr lang="en-US" dirty="0"/>
          </a:p>
        </p:txBody>
      </p:sp>
      <p:pic>
        <p:nvPicPr>
          <p:cNvPr id="8" name="Image 0" descr="/mnt/data/erp_deck_assets/faLayerGroup_518BFF.png"/>
          <p:cNvPicPr>
            <a:picLocks noChangeAspect="1"/>
          </p:cNvPicPr>
          <p:nvPr/>
        </p:nvPicPr>
        <p:blipFill>
          <a:blip r:embed="rId3"/>
          <a:stretch>
            <a:fillRect/>
          </a:stretch>
        </p:blipFill>
        <p:spPr>
          <a:xfrm>
            <a:off x="978408" y="2450592"/>
            <a:ext cx="219456" cy="219456"/>
          </a:xfrm>
          <a:prstGeom prst="rect">
            <a:avLst/>
          </a:prstGeom>
        </p:spPr>
      </p:pic>
      <p:sp>
        <p:nvSpPr>
          <p:cNvPr id="9" name="Text 6"/>
          <p:cNvSpPr/>
          <p:nvPr/>
        </p:nvSpPr>
        <p:spPr>
          <a:xfrm>
            <a:off x="1362456" y="2395728"/>
            <a:ext cx="1558544" cy="411480"/>
          </a:xfrm>
          <a:prstGeom prst="rect">
            <a:avLst/>
          </a:prstGeom>
          <a:noFill/>
          <a:ln/>
        </p:spPr>
        <p:txBody>
          <a:bodyPr wrap="square" lIns="0" tIns="0" rIns="0" bIns="0" rtlCol="0" anchor="ctr">
            <a:normAutofit/>
          </a:bodyPr>
          <a:lstStyle/>
          <a:p>
            <a:pPr marL="0" indent="0" algn="l">
              <a:buNone/>
            </a:pPr>
            <a:r>
              <a:rPr lang="en-US" sz="1435" b="1" dirty="0">
                <a:solidFill>
                  <a:srgbClr val="FFFFFF"/>
                </a:solidFill>
                <a:latin typeface="Inter" pitchFamily="34" charset="0"/>
                <a:ea typeface="Inter" pitchFamily="34" charset="-122"/>
                <a:cs typeface="Inter" pitchFamily="34" charset="-120"/>
              </a:rPr>
              <a:t>Angular Web App          </a:t>
            </a:r>
            <a:endParaRPr lang="en-US" sz="1435" dirty="0"/>
          </a:p>
        </p:txBody>
      </p:sp>
      <p:sp>
        <p:nvSpPr>
          <p:cNvPr id="10" name="Shape 7"/>
          <p:cNvSpPr/>
          <p:nvPr/>
        </p:nvSpPr>
        <p:spPr>
          <a:xfrm>
            <a:off x="3557016" y="2852928"/>
            <a:ext cx="0" cy="320040"/>
          </a:xfrm>
          <a:prstGeom prst="line">
            <a:avLst/>
          </a:prstGeom>
          <a:noFill/>
          <a:ln w="21590">
            <a:solidFill>
              <a:srgbClr val="518BFF"/>
            </a:solidFill>
            <a:prstDash val="solid"/>
            <a:tailEnd type="triangle"/>
          </a:ln>
        </p:spPr>
      </p:sp>
      <p:sp>
        <p:nvSpPr>
          <p:cNvPr id="11" name="Shape 8"/>
          <p:cNvSpPr/>
          <p:nvPr/>
        </p:nvSpPr>
        <p:spPr>
          <a:xfrm>
            <a:off x="740664" y="3172968"/>
            <a:ext cx="5678424" cy="868680"/>
          </a:xfrm>
          <a:prstGeom prst="roundRect">
            <a:avLst>
              <a:gd name="adj" fmla="val 14737"/>
            </a:avLst>
          </a:prstGeom>
          <a:solidFill>
            <a:srgbClr val="214369"/>
          </a:solidFill>
          <a:ln w="10160">
            <a:solidFill>
              <a:srgbClr val="4180B0"/>
            </a:solidFill>
            <a:prstDash val="solid"/>
          </a:ln>
        </p:spPr>
      </p:sp>
      <p:pic>
        <p:nvPicPr>
          <p:cNvPr id="12" name="Image 1" descr="/mnt/data/erp_deck_assets/faGears_2CD7C4.png"/>
          <p:cNvPicPr>
            <a:picLocks noChangeAspect="1"/>
          </p:cNvPicPr>
          <p:nvPr/>
        </p:nvPicPr>
        <p:blipFill>
          <a:blip r:embed="rId4"/>
          <a:stretch>
            <a:fillRect/>
          </a:stretch>
        </p:blipFill>
        <p:spPr>
          <a:xfrm>
            <a:off x="978408" y="3474720"/>
            <a:ext cx="274320" cy="274320"/>
          </a:xfrm>
          <a:prstGeom prst="rect">
            <a:avLst/>
          </a:prstGeom>
        </p:spPr>
      </p:pic>
      <p:sp>
        <p:nvSpPr>
          <p:cNvPr id="13" name="Text 9"/>
          <p:cNvSpPr/>
          <p:nvPr/>
        </p:nvSpPr>
        <p:spPr>
          <a:xfrm>
            <a:off x="1408176" y="3319272"/>
            <a:ext cx="4507992" cy="292608"/>
          </a:xfrm>
          <a:prstGeom prst="rect">
            <a:avLst/>
          </a:prstGeom>
          <a:noFill/>
          <a:ln/>
        </p:spPr>
        <p:txBody>
          <a:bodyPr wrap="square" lIns="0" tIns="0" rIns="0" bIns="0" rtlCol="0" anchor="ctr">
            <a:normAutofit/>
          </a:bodyPr>
          <a:lstStyle/>
          <a:p>
            <a:pPr marL="0" indent="0" algn="l">
              <a:buNone/>
            </a:pPr>
            <a:r>
              <a:rPr lang="en-US" sz="1620" b="1" dirty="0">
                <a:solidFill>
                  <a:srgbClr val="FFFFFF"/>
                </a:solidFill>
                <a:latin typeface="Inter" pitchFamily="34" charset="0"/>
                <a:ea typeface="Inter" pitchFamily="34" charset="-122"/>
                <a:cs typeface="Inter" pitchFamily="34" charset="-120"/>
              </a:rPr>
              <a:t>ASP.NET Core API</a:t>
            </a:r>
            <a:endParaRPr lang="en-US" sz="1620" dirty="0"/>
          </a:p>
        </p:txBody>
      </p:sp>
      <p:sp>
        <p:nvSpPr>
          <p:cNvPr id="14" name="Text 10"/>
          <p:cNvSpPr/>
          <p:nvPr/>
        </p:nvSpPr>
        <p:spPr>
          <a:xfrm>
            <a:off x="1408176" y="3685032"/>
            <a:ext cx="4645152" cy="201168"/>
          </a:xfrm>
          <a:prstGeom prst="rect">
            <a:avLst/>
          </a:prstGeom>
          <a:noFill/>
          <a:ln/>
        </p:spPr>
        <p:txBody>
          <a:bodyPr wrap="square" lIns="0" tIns="0" rIns="0" bIns="0" rtlCol="0" anchor="ctr">
            <a:normAutofit/>
          </a:bodyPr>
          <a:lstStyle/>
          <a:p>
            <a:pPr marL="0" indent="0" algn="l">
              <a:buNone/>
            </a:pPr>
            <a:r>
              <a:rPr lang="en-US" sz="970" dirty="0">
                <a:solidFill>
                  <a:srgbClr val="C5E3F6"/>
                </a:solidFill>
                <a:latin typeface="Inter" pitchFamily="34" charset="0"/>
                <a:ea typeface="Inter" pitchFamily="34" charset="-122"/>
                <a:cs typeface="Inter" pitchFamily="34" charset="-120"/>
              </a:rPr>
              <a:t>Transactions  •  RBAC  •  Entitlements</a:t>
            </a:r>
            <a:endParaRPr lang="en-US" sz="970" dirty="0"/>
          </a:p>
        </p:txBody>
      </p:sp>
      <p:sp>
        <p:nvSpPr>
          <p:cNvPr id="15" name="Shape 11"/>
          <p:cNvSpPr/>
          <p:nvPr/>
        </p:nvSpPr>
        <p:spPr>
          <a:xfrm>
            <a:off x="3557016" y="4050792"/>
            <a:ext cx="0" cy="274320"/>
          </a:xfrm>
          <a:prstGeom prst="line">
            <a:avLst/>
          </a:prstGeom>
          <a:noFill/>
          <a:ln w="16510">
            <a:solidFill>
              <a:srgbClr val="518BFF"/>
            </a:solidFill>
            <a:prstDash val="solid"/>
          </a:ln>
        </p:spPr>
      </p:sp>
      <p:sp>
        <p:nvSpPr>
          <p:cNvPr id="16" name="Shape 12"/>
          <p:cNvSpPr/>
          <p:nvPr/>
        </p:nvSpPr>
        <p:spPr>
          <a:xfrm flipV="1">
            <a:off x="1673352" y="4325112"/>
            <a:ext cx="2979589" cy="18288"/>
          </a:xfrm>
          <a:prstGeom prst="line">
            <a:avLst/>
          </a:prstGeom>
          <a:noFill/>
          <a:ln w="16510">
            <a:solidFill>
              <a:srgbClr val="518BFF"/>
            </a:solidFill>
            <a:prstDash val="solid"/>
          </a:ln>
        </p:spPr>
      </p:sp>
      <p:sp>
        <p:nvSpPr>
          <p:cNvPr id="17" name="Shape 13"/>
          <p:cNvSpPr/>
          <p:nvPr/>
        </p:nvSpPr>
        <p:spPr>
          <a:xfrm>
            <a:off x="1673352" y="4325112"/>
            <a:ext cx="0" cy="210312"/>
          </a:xfrm>
          <a:prstGeom prst="line">
            <a:avLst/>
          </a:prstGeom>
          <a:noFill/>
          <a:ln w="16510">
            <a:solidFill>
              <a:srgbClr val="518BFF"/>
            </a:solidFill>
            <a:prstDash val="solid"/>
          </a:ln>
        </p:spPr>
      </p:sp>
      <p:sp>
        <p:nvSpPr>
          <p:cNvPr id="18" name="Shape 14"/>
          <p:cNvSpPr/>
          <p:nvPr/>
        </p:nvSpPr>
        <p:spPr>
          <a:xfrm>
            <a:off x="758952" y="4617720"/>
            <a:ext cx="1239011" cy="813816"/>
          </a:xfrm>
          <a:prstGeom prst="roundRect">
            <a:avLst>
              <a:gd name="adj" fmla="val 13483"/>
            </a:avLst>
          </a:prstGeom>
          <a:solidFill>
            <a:srgbClr val="152B45"/>
          </a:solidFill>
          <a:ln w="10160">
            <a:solidFill>
              <a:srgbClr val="2A4561"/>
            </a:solidFill>
            <a:prstDash val="solid"/>
          </a:ln>
        </p:spPr>
      </p:sp>
      <p:pic>
        <p:nvPicPr>
          <p:cNvPr id="19" name="Image 2" descr="/mnt/data/erp_deck_assets/faDatabase_2CD7C4.png"/>
          <p:cNvPicPr>
            <a:picLocks noChangeAspect="1"/>
          </p:cNvPicPr>
          <p:nvPr/>
        </p:nvPicPr>
        <p:blipFill>
          <a:blip r:embed="rId5"/>
          <a:stretch>
            <a:fillRect/>
          </a:stretch>
        </p:blipFill>
        <p:spPr>
          <a:xfrm>
            <a:off x="886968" y="4846320"/>
            <a:ext cx="219456" cy="219456"/>
          </a:xfrm>
          <a:prstGeom prst="rect">
            <a:avLst/>
          </a:prstGeom>
        </p:spPr>
      </p:pic>
      <p:sp>
        <p:nvSpPr>
          <p:cNvPr id="20" name="Text 15"/>
          <p:cNvSpPr/>
          <p:nvPr/>
        </p:nvSpPr>
        <p:spPr>
          <a:xfrm>
            <a:off x="1170432" y="4791456"/>
            <a:ext cx="1307592" cy="274320"/>
          </a:xfrm>
          <a:prstGeom prst="rect">
            <a:avLst/>
          </a:prstGeom>
          <a:noFill/>
          <a:ln/>
        </p:spPr>
        <p:txBody>
          <a:bodyPr wrap="square" lIns="0" tIns="0" rIns="0" bIns="0" rtlCol="0" anchor="ctr">
            <a:normAutofit/>
          </a:bodyPr>
          <a:lstStyle/>
          <a:p>
            <a:pPr marL="0" indent="0" algn="l">
              <a:buNone/>
            </a:pPr>
            <a:r>
              <a:rPr lang="en-US" sz="1070" b="1" dirty="0">
                <a:solidFill>
                  <a:srgbClr val="FFFFFF"/>
                </a:solidFill>
                <a:latin typeface="Inter" pitchFamily="34" charset="0"/>
                <a:ea typeface="Inter" pitchFamily="34" charset="-122"/>
                <a:cs typeface="Inter" pitchFamily="34" charset="-120"/>
              </a:rPr>
              <a:t>PlatformDB</a:t>
            </a:r>
            <a:endParaRPr lang="en-US" sz="1070" dirty="0"/>
          </a:p>
        </p:txBody>
      </p:sp>
      <p:sp>
        <p:nvSpPr>
          <p:cNvPr id="21" name="Shape 16"/>
          <p:cNvSpPr/>
          <p:nvPr/>
        </p:nvSpPr>
        <p:spPr>
          <a:xfrm>
            <a:off x="3044952" y="4352544"/>
            <a:ext cx="0" cy="210312"/>
          </a:xfrm>
          <a:prstGeom prst="line">
            <a:avLst/>
          </a:prstGeom>
          <a:noFill/>
          <a:ln w="16510">
            <a:solidFill>
              <a:srgbClr val="518BFF"/>
            </a:solidFill>
            <a:prstDash val="solid"/>
          </a:ln>
        </p:spPr>
      </p:sp>
      <p:sp>
        <p:nvSpPr>
          <p:cNvPr id="22" name="Shape 17"/>
          <p:cNvSpPr/>
          <p:nvPr/>
        </p:nvSpPr>
        <p:spPr>
          <a:xfrm>
            <a:off x="2039112" y="4608576"/>
            <a:ext cx="1435601" cy="813816"/>
          </a:xfrm>
          <a:prstGeom prst="roundRect">
            <a:avLst>
              <a:gd name="adj" fmla="val 13483"/>
            </a:avLst>
          </a:prstGeom>
          <a:solidFill>
            <a:srgbClr val="152B45"/>
          </a:solidFill>
          <a:ln w="10160">
            <a:solidFill>
              <a:srgbClr val="2A4561"/>
            </a:solidFill>
            <a:prstDash val="solid"/>
          </a:ln>
        </p:spPr>
      </p:sp>
      <p:pic>
        <p:nvPicPr>
          <p:cNvPr id="23" name="Image 3" descr="/mnt/data/erp_deck_assets/faDatabase_2CD7C4.png"/>
          <p:cNvPicPr>
            <a:picLocks noChangeAspect="1"/>
          </p:cNvPicPr>
          <p:nvPr/>
        </p:nvPicPr>
        <p:blipFill>
          <a:blip r:embed="rId5"/>
          <a:stretch>
            <a:fillRect/>
          </a:stretch>
        </p:blipFill>
        <p:spPr>
          <a:xfrm>
            <a:off x="2235707" y="4824815"/>
            <a:ext cx="219456" cy="219456"/>
          </a:xfrm>
          <a:prstGeom prst="rect">
            <a:avLst/>
          </a:prstGeom>
        </p:spPr>
      </p:pic>
      <p:sp>
        <p:nvSpPr>
          <p:cNvPr id="24" name="Text 18"/>
          <p:cNvSpPr/>
          <p:nvPr/>
        </p:nvSpPr>
        <p:spPr>
          <a:xfrm>
            <a:off x="2608425" y="4782311"/>
            <a:ext cx="802287" cy="274320"/>
          </a:xfrm>
          <a:prstGeom prst="rect">
            <a:avLst/>
          </a:prstGeom>
          <a:noFill/>
          <a:ln/>
        </p:spPr>
        <p:txBody>
          <a:bodyPr wrap="square" lIns="0" tIns="0" rIns="0" bIns="0" rtlCol="0" anchor="ctr">
            <a:normAutofit/>
          </a:bodyPr>
          <a:lstStyle/>
          <a:p>
            <a:pPr marL="0" indent="0" algn="l">
              <a:buNone/>
            </a:pPr>
            <a:r>
              <a:rPr lang="en-US" sz="1070" b="1" dirty="0">
                <a:solidFill>
                  <a:srgbClr val="FFFFFF"/>
                </a:solidFill>
                <a:latin typeface="Inter" pitchFamily="34" charset="0"/>
                <a:ea typeface="Inter" pitchFamily="34" charset="-122"/>
                <a:cs typeface="Inter" pitchFamily="34" charset="-120"/>
              </a:rPr>
              <a:t>SecurityDB</a:t>
            </a:r>
            <a:endParaRPr lang="en-US" sz="1070" dirty="0"/>
          </a:p>
        </p:txBody>
      </p:sp>
      <p:sp>
        <p:nvSpPr>
          <p:cNvPr id="25" name="Shape 19"/>
          <p:cNvSpPr/>
          <p:nvPr/>
        </p:nvSpPr>
        <p:spPr>
          <a:xfrm>
            <a:off x="4652941" y="4352544"/>
            <a:ext cx="0" cy="210312"/>
          </a:xfrm>
          <a:prstGeom prst="line">
            <a:avLst/>
          </a:prstGeom>
          <a:noFill/>
          <a:ln w="16510">
            <a:solidFill>
              <a:srgbClr val="518BFF"/>
            </a:solidFill>
            <a:prstDash val="solid"/>
          </a:ln>
        </p:spPr>
      </p:sp>
      <p:sp>
        <p:nvSpPr>
          <p:cNvPr id="26" name="Shape 20"/>
          <p:cNvSpPr/>
          <p:nvPr/>
        </p:nvSpPr>
        <p:spPr>
          <a:xfrm>
            <a:off x="3538721" y="4599432"/>
            <a:ext cx="1435601" cy="813816"/>
          </a:xfrm>
          <a:prstGeom prst="roundRect">
            <a:avLst>
              <a:gd name="adj" fmla="val 13483"/>
            </a:avLst>
          </a:prstGeom>
          <a:solidFill>
            <a:srgbClr val="152B45"/>
          </a:solidFill>
          <a:ln w="10160">
            <a:solidFill>
              <a:srgbClr val="2A4561"/>
            </a:solidFill>
            <a:prstDash val="solid"/>
          </a:ln>
        </p:spPr>
      </p:sp>
      <p:pic>
        <p:nvPicPr>
          <p:cNvPr id="27" name="Image 4" descr="/mnt/data/erp_deck_assets/faDatabase_2CD7C4.png"/>
          <p:cNvPicPr>
            <a:picLocks noChangeAspect="1"/>
          </p:cNvPicPr>
          <p:nvPr/>
        </p:nvPicPr>
        <p:blipFill>
          <a:blip r:embed="rId5"/>
          <a:stretch>
            <a:fillRect/>
          </a:stretch>
        </p:blipFill>
        <p:spPr>
          <a:xfrm>
            <a:off x="3650997" y="4813976"/>
            <a:ext cx="219456" cy="219456"/>
          </a:xfrm>
          <a:prstGeom prst="rect">
            <a:avLst/>
          </a:prstGeom>
        </p:spPr>
      </p:pic>
      <p:sp>
        <p:nvSpPr>
          <p:cNvPr id="28" name="Text 21"/>
          <p:cNvSpPr/>
          <p:nvPr/>
        </p:nvSpPr>
        <p:spPr>
          <a:xfrm>
            <a:off x="4043940" y="4809744"/>
            <a:ext cx="745231" cy="274320"/>
          </a:xfrm>
          <a:prstGeom prst="rect">
            <a:avLst/>
          </a:prstGeom>
          <a:noFill/>
          <a:ln/>
        </p:spPr>
        <p:txBody>
          <a:bodyPr wrap="square" lIns="0" tIns="0" rIns="0" bIns="0" rtlCol="0" anchor="ctr">
            <a:normAutofit/>
          </a:bodyPr>
          <a:lstStyle/>
          <a:p>
            <a:pPr marL="0" indent="0" algn="l">
              <a:buNone/>
            </a:pPr>
            <a:r>
              <a:rPr lang="en-US" sz="1070" b="1" dirty="0">
                <a:solidFill>
                  <a:srgbClr val="FFFFFF"/>
                </a:solidFill>
                <a:latin typeface="Inter" pitchFamily="34" charset="0"/>
                <a:ea typeface="Inter" pitchFamily="34" charset="-122"/>
                <a:cs typeface="Inter" pitchFamily="34" charset="-120"/>
              </a:rPr>
              <a:t>DomainDB</a:t>
            </a:r>
            <a:endParaRPr lang="en-US" sz="1070" dirty="0"/>
          </a:p>
        </p:txBody>
      </p:sp>
      <p:sp>
        <p:nvSpPr>
          <p:cNvPr id="29" name="Shape 22"/>
          <p:cNvSpPr/>
          <p:nvPr/>
        </p:nvSpPr>
        <p:spPr>
          <a:xfrm>
            <a:off x="7360920" y="1847088"/>
            <a:ext cx="1591056" cy="301752"/>
          </a:xfrm>
          <a:prstGeom prst="roundRect">
            <a:avLst>
              <a:gd name="adj" fmla="val 42424"/>
            </a:avLst>
          </a:prstGeom>
          <a:solidFill>
            <a:srgbClr val="204346"/>
          </a:solidFill>
          <a:ln w="12700">
            <a:solidFill>
              <a:srgbClr val="FFFFFF">
                <a:alpha val="0"/>
              </a:srgbClr>
            </a:solidFill>
            <a:prstDash val="solid"/>
          </a:ln>
        </p:spPr>
      </p:sp>
      <p:sp>
        <p:nvSpPr>
          <p:cNvPr id="30" name="Text 23"/>
          <p:cNvSpPr/>
          <p:nvPr/>
        </p:nvSpPr>
        <p:spPr>
          <a:xfrm>
            <a:off x="7470648" y="1856232"/>
            <a:ext cx="1371600" cy="283464"/>
          </a:xfrm>
          <a:prstGeom prst="rect">
            <a:avLst/>
          </a:prstGeom>
          <a:noFill/>
          <a:ln/>
        </p:spPr>
        <p:txBody>
          <a:bodyPr wrap="square" lIns="0" tIns="0" rIns="0" bIns="0" rtlCol="0" anchor="ctr">
            <a:normAutofit/>
          </a:bodyPr>
          <a:lstStyle/>
          <a:p>
            <a:pPr marL="0" indent="0" algn="l">
              <a:buNone/>
            </a:pPr>
            <a:r>
              <a:rPr lang="en-US" sz="870" b="1" kern="0" spc="55" dirty="0">
                <a:solidFill>
                  <a:srgbClr val="2CD7C4"/>
                </a:solidFill>
                <a:latin typeface="Inter" pitchFamily="34" charset="0"/>
                <a:ea typeface="Inter" pitchFamily="34" charset="-122"/>
                <a:cs typeface="Inter" pitchFamily="34" charset="-120"/>
              </a:rPr>
              <a:t>AI MODE / FUTURE</a:t>
            </a:r>
            <a:endParaRPr lang="en-US" sz="870" dirty="0"/>
          </a:p>
        </p:txBody>
      </p:sp>
      <p:sp>
        <p:nvSpPr>
          <p:cNvPr id="31" name="Shape 24"/>
          <p:cNvSpPr/>
          <p:nvPr/>
        </p:nvSpPr>
        <p:spPr>
          <a:xfrm>
            <a:off x="6428232" y="3593592"/>
            <a:ext cx="886968" cy="0"/>
          </a:xfrm>
          <a:prstGeom prst="line">
            <a:avLst/>
          </a:prstGeom>
          <a:noFill/>
          <a:ln w="25400">
            <a:solidFill>
              <a:srgbClr val="2CD7C4"/>
            </a:solidFill>
            <a:prstDash val="solid"/>
            <a:tailEnd type="triangle"/>
          </a:ln>
        </p:spPr>
      </p:sp>
      <p:sp>
        <p:nvSpPr>
          <p:cNvPr id="32" name="Shape 25"/>
          <p:cNvSpPr/>
          <p:nvPr/>
        </p:nvSpPr>
        <p:spPr>
          <a:xfrm>
            <a:off x="7351776" y="2322576"/>
            <a:ext cx="4142232" cy="1353312"/>
          </a:xfrm>
          <a:prstGeom prst="roundRect">
            <a:avLst>
              <a:gd name="adj" fmla="val 11486"/>
            </a:avLst>
          </a:prstGeom>
          <a:solidFill>
            <a:srgbClr val="163C45"/>
          </a:solidFill>
          <a:ln w="10160">
            <a:solidFill>
              <a:srgbClr val="327A79"/>
            </a:solidFill>
            <a:prstDash val="solid"/>
          </a:ln>
        </p:spPr>
      </p:sp>
      <p:pic>
        <p:nvPicPr>
          <p:cNvPr id="33" name="Image 5" descr="/mnt/data/erp_deck_assets/faBrain_2CD7C4.png"/>
          <p:cNvPicPr>
            <a:picLocks noChangeAspect="1"/>
          </p:cNvPicPr>
          <p:nvPr/>
        </p:nvPicPr>
        <p:blipFill>
          <a:blip r:embed="rId6"/>
          <a:stretch>
            <a:fillRect/>
          </a:stretch>
        </p:blipFill>
        <p:spPr>
          <a:xfrm>
            <a:off x="7635240" y="2615184"/>
            <a:ext cx="475488" cy="475488"/>
          </a:xfrm>
          <a:prstGeom prst="rect">
            <a:avLst/>
          </a:prstGeom>
        </p:spPr>
      </p:pic>
      <p:sp>
        <p:nvSpPr>
          <p:cNvPr id="34" name="Text 26"/>
          <p:cNvSpPr/>
          <p:nvPr/>
        </p:nvSpPr>
        <p:spPr>
          <a:xfrm>
            <a:off x="8302752" y="2487168"/>
            <a:ext cx="2724912" cy="777240"/>
          </a:xfrm>
          <a:prstGeom prst="rect">
            <a:avLst/>
          </a:prstGeom>
          <a:noFill/>
          <a:ln/>
        </p:spPr>
        <p:txBody>
          <a:bodyPr wrap="square" lIns="0" tIns="0" rIns="0" bIns="0" rtlCol="0" anchor="ctr">
            <a:normAutofit/>
          </a:bodyPr>
          <a:lstStyle/>
          <a:p>
            <a:pPr marL="0" indent="0" algn="l">
              <a:buNone/>
            </a:pPr>
            <a:r>
              <a:rPr lang="en-US" sz="1740" b="1" dirty="0">
                <a:solidFill>
                  <a:srgbClr val="FFFFFF"/>
                </a:solidFill>
                <a:latin typeface="Inter Display" pitchFamily="34" charset="0"/>
                <a:ea typeface="Inter Display" pitchFamily="34" charset="-122"/>
                <a:cs typeface="Inter Display" pitchFamily="34" charset="-120"/>
              </a:rPr>
              <a:t>Python / FastAPI</a:t>
            </a:r>
            <a:endParaRPr lang="en-US" sz="1740" dirty="0"/>
          </a:p>
          <a:p>
            <a:pPr marL="0" indent="0" algn="l">
              <a:buNone/>
            </a:pPr>
            <a:r>
              <a:rPr lang="en-US" sz="1740" b="1" dirty="0">
                <a:solidFill>
                  <a:srgbClr val="FFFFFF"/>
                </a:solidFill>
                <a:latin typeface="Inter Display" pitchFamily="34" charset="0"/>
                <a:ea typeface="Inter Display" pitchFamily="34" charset="-122"/>
                <a:cs typeface="Inter Display" pitchFamily="34" charset="-120"/>
              </a:rPr>
              <a:t>AI Agent Layer</a:t>
            </a:r>
            <a:endParaRPr lang="en-US" sz="1740" dirty="0"/>
          </a:p>
        </p:txBody>
      </p:sp>
      <p:sp>
        <p:nvSpPr>
          <p:cNvPr id="35" name="Shape 27"/>
          <p:cNvSpPr/>
          <p:nvPr/>
        </p:nvSpPr>
        <p:spPr>
          <a:xfrm>
            <a:off x="7351776" y="3886200"/>
            <a:ext cx="4142232" cy="1536192"/>
          </a:xfrm>
          <a:prstGeom prst="roundRect">
            <a:avLst>
              <a:gd name="adj" fmla="val 8333"/>
            </a:avLst>
          </a:prstGeom>
          <a:solidFill>
            <a:srgbClr val="172D40"/>
          </a:solidFill>
          <a:ln w="10160">
            <a:solidFill>
              <a:srgbClr val="2E5266"/>
            </a:solidFill>
            <a:prstDash val="solid"/>
          </a:ln>
        </p:spPr>
      </p:sp>
      <p:sp>
        <p:nvSpPr>
          <p:cNvPr id="36" name="Text 28"/>
          <p:cNvSpPr/>
          <p:nvPr/>
        </p:nvSpPr>
        <p:spPr>
          <a:xfrm>
            <a:off x="7571232" y="4059936"/>
            <a:ext cx="3584448" cy="192024"/>
          </a:xfrm>
          <a:prstGeom prst="rect">
            <a:avLst/>
          </a:prstGeom>
          <a:noFill/>
          <a:ln/>
        </p:spPr>
        <p:txBody>
          <a:bodyPr wrap="square" lIns="0" tIns="0" rIns="0" bIns="0" rtlCol="0" anchor="ctr">
            <a:normAutofit/>
          </a:bodyPr>
          <a:lstStyle/>
          <a:p>
            <a:pPr marL="0" indent="0" algn="l">
              <a:buNone/>
            </a:pPr>
            <a:r>
              <a:rPr lang="en-US" sz="930" b="1" kern="0" spc="72" dirty="0">
                <a:solidFill>
                  <a:srgbClr val="2CD7C4"/>
                </a:solidFill>
                <a:latin typeface="Inter" pitchFamily="34" charset="0"/>
                <a:ea typeface="Inter" pitchFamily="34" charset="-122"/>
                <a:cs typeface="Inter" pitchFamily="34" charset="-120"/>
              </a:rPr>
              <a:t>PROPOSED INSIGHTS</a:t>
            </a:r>
            <a:endParaRPr lang="en-US" sz="930" dirty="0"/>
          </a:p>
        </p:txBody>
      </p:sp>
      <p:sp>
        <p:nvSpPr>
          <p:cNvPr id="37" name="Text 29"/>
          <p:cNvSpPr/>
          <p:nvPr/>
        </p:nvSpPr>
        <p:spPr>
          <a:xfrm>
            <a:off x="7589520" y="4352544"/>
            <a:ext cx="3602736" cy="905256"/>
          </a:xfrm>
          <a:prstGeom prst="rect">
            <a:avLst/>
          </a:prstGeom>
          <a:noFill/>
          <a:ln/>
        </p:spPr>
        <p:txBody>
          <a:bodyPr wrap="square" lIns="0" tIns="0" rIns="0" bIns="0" rtlCol="0" anchor="ctr">
            <a:normAutofit/>
          </a:bodyPr>
          <a:lstStyle/>
          <a:p>
            <a:pPr marL="0" indent="0" algn="l">
              <a:buNone/>
            </a:pPr>
            <a:r>
              <a:rPr lang="en-US" sz="1090" dirty="0">
                <a:solidFill>
                  <a:srgbClr val="FFFFFF"/>
                </a:solidFill>
                <a:latin typeface="Inter" pitchFamily="34" charset="0"/>
                <a:ea typeface="Inter" pitchFamily="34" charset="-122"/>
                <a:cs typeface="Inter" pitchFamily="34" charset="-120"/>
              </a:rPr>
              <a:t>• Shortage prediction + replenishment</a:t>
            </a:r>
            <a:endParaRPr lang="en-US" sz="1090" dirty="0"/>
          </a:p>
          <a:p>
            <a:pPr marL="0" indent="0" algn="l">
              <a:buNone/>
            </a:pPr>
            <a:r>
              <a:rPr lang="en-US" sz="1090" dirty="0">
                <a:solidFill>
                  <a:srgbClr val="FFFFFF"/>
                </a:solidFill>
                <a:latin typeface="Inter" pitchFamily="34" charset="0"/>
                <a:ea typeface="Inter" pitchFamily="34" charset="-122"/>
                <a:cs typeface="Inter" pitchFamily="34" charset="-120"/>
              </a:rPr>
              <a:t>• Purchasing &amp; fulfilment intelligence</a:t>
            </a:r>
            <a:endParaRPr lang="en-US" sz="1090" dirty="0"/>
          </a:p>
          <a:p>
            <a:pPr marL="0" indent="0" algn="l">
              <a:buNone/>
            </a:pPr>
            <a:r>
              <a:rPr lang="en-US" sz="1090" dirty="0">
                <a:solidFill>
                  <a:srgbClr val="FFFFFF"/>
                </a:solidFill>
                <a:latin typeface="Inter" pitchFamily="34" charset="0"/>
                <a:ea typeface="Inter" pitchFamily="34" charset="-122"/>
                <a:cs typeface="Inter" pitchFamily="34" charset="-120"/>
              </a:rPr>
              <a:t>• Profit-leak / what-if USP concepts</a:t>
            </a:r>
            <a:endParaRPr lang="en-US" sz="1090" dirty="0"/>
          </a:p>
        </p:txBody>
      </p:sp>
      <p:sp>
        <p:nvSpPr>
          <p:cNvPr id="38" name="Shape 30"/>
          <p:cNvSpPr/>
          <p:nvPr/>
        </p:nvSpPr>
        <p:spPr>
          <a:xfrm>
            <a:off x="758952" y="5705856"/>
            <a:ext cx="10753344" cy="374904"/>
          </a:xfrm>
          <a:prstGeom prst="roundRect">
            <a:avLst>
              <a:gd name="adj" fmla="val 24390"/>
            </a:avLst>
          </a:prstGeom>
          <a:solidFill>
            <a:srgbClr val="223447"/>
          </a:solidFill>
          <a:ln w="12700">
            <a:solidFill>
              <a:srgbClr val="FFFFFF">
                <a:alpha val="0"/>
              </a:srgbClr>
            </a:solidFill>
            <a:prstDash val="solid"/>
          </a:ln>
        </p:spPr>
      </p:sp>
      <p:pic>
        <p:nvPicPr>
          <p:cNvPr id="39" name="Image 6" descr="/mnt/data/erp_deck_assets/faLock_FFC36A.png"/>
          <p:cNvPicPr>
            <a:picLocks noChangeAspect="1"/>
          </p:cNvPicPr>
          <p:nvPr/>
        </p:nvPicPr>
        <p:blipFill>
          <a:blip r:embed="rId7"/>
          <a:stretch>
            <a:fillRect/>
          </a:stretch>
        </p:blipFill>
        <p:spPr>
          <a:xfrm>
            <a:off x="978408" y="5794553"/>
            <a:ext cx="173736" cy="173736"/>
          </a:xfrm>
          <a:prstGeom prst="rect">
            <a:avLst/>
          </a:prstGeom>
        </p:spPr>
      </p:pic>
      <p:sp>
        <p:nvSpPr>
          <p:cNvPr id="40" name="Text 31"/>
          <p:cNvSpPr/>
          <p:nvPr/>
        </p:nvSpPr>
        <p:spPr>
          <a:xfrm>
            <a:off x="1307592" y="5772607"/>
            <a:ext cx="9866376" cy="219456"/>
          </a:xfrm>
          <a:prstGeom prst="rect">
            <a:avLst/>
          </a:prstGeom>
          <a:noFill/>
          <a:ln/>
        </p:spPr>
        <p:txBody>
          <a:bodyPr wrap="square" lIns="0" tIns="0" rIns="0" bIns="0" rtlCol="0" anchor="ctr">
            <a:normAutofit/>
          </a:bodyPr>
          <a:lstStyle/>
          <a:p>
            <a:pPr marL="0" indent="0" algn="l">
              <a:buNone/>
            </a:pPr>
            <a:r>
              <a:rPr lang="en-US" sz="1055" b="1" dirty="0">
                <a:solidFill>
                  <a:srgbClr val="DFEAF5"/>
                </a:solidFill>
                <a:latin typeface="Inter" pitchFamily="34" charset="0"/>
                <a:ea typeface="Inter" pitchFamily="34" charset="-122"/>
                <a:cs typeface="Inter" pitchFamily="34" charset="-120"/>
              </a:rPr>
              <a:t>AI uses authenticated .NET APIs only   •   Read-only / advisory initially   •   No autonomous business approvals</a:t>
            </a:r>
            <a:endParaRPr lang="en-US" sz="1055" dirty="0"/>
          </a:p>
        </p:txBody>
      </p:sp>
      <p:sp>
        <p:nvSpPr>
          <p:cNvPr id="41" name="Shape 32"/>
          <p:cNvSpPr/>
          <p:nvPr/>
        </p:nvSpPr>
        <p:spPr>
          <a:xfrm>
            <a:off x="630936" y="6473952"/>
            <a:ext cx="10936224" cy="0"/>
          </a:xfrm>
          <a:prstGeom prst="line">
            <a:avLst/>
          </a:prstGeom>
          <a:noFill/>
          <a:ln w="8255">
            <a:solidFill>
              <a:srgbClr val="294059"/>
            </a:solidFill>
            <a:prstDash val="solid"/>
          </a:ln>
        </p:spPr>
      </p:sp>
      <p:sp>
        <p:nvSpPr>
          <p:cNvPr id="42" name="Text 33"/>
          <p:cNvSpPr/>
          <p:nvPr/>
        </p:nvSpPr>
        <p:spPr>
          <a:xfrm>
            <a:off x="640080" y="6496812"/>
            <a:ext cx="9921240" cy="155448"/>
          </a:xfrm>
          <a:prstGeom prst="rect">
            <a:avLst/>
          </a:prstGeom>
          <a:noFill/>
          <a:ln/>
        </p:spPr>
        <p:txBody>
          <a:bodyPr wrap="square" lIns="0" tIns="0" rIns="0" bIns="0" rtlCol="0" anchor="ctr">
            <a:normAutofit/>
          </a:bodyPr>
          <a:lstStyle/>
          <a:p>
            <a:pPr marL="0" indent="0" algn="l">
              <a:buNone/>
            </a:pPr>
            <a:r>
              <a:rPr lang="en-US" sz="770" dirty="0">
                <a:solidFill>
                  <a:srgbClr val="68809C"/>
                </a:solidFill>
                <a:latin typeface="Inter" pitchFamily="34" charset="0"/>
                <a:ea typeface="Inter" pitchFamily="34" charset="-122"/>
                <a:cs typeface="Inter" pitchFamily="34" charset="-120"/>
              </a:rPr>
              <a:t>Source: BRD §§9–10 + USP Comparison §§1, 3. Advanced USP concepts require future scoping.</a:t>
            </a:r>
            <a:endParaRPr lang="en-US" sz="770" dirty="0"/>
          </a:p>
        </p:txBody>
      </p:sp>
      <p:sp>
        <p:nvSpPr>
          <p:cNvPr id="43" name="Text 34"/>
          <p:cNvSpPr/>
          <p:nvPr/>
        </p:nvSpPr>
        <p:spPr>
          <a:xfrm>
            <a:off x="10771632" y="6496812"/>
            <a:ext cx="777240" cy="155448"/>
          </a:xfrm>
          <a:prstGeom prst="rect">
            <a:avLst/>
          </a:prstGeom>
          <a:noFill/>
          <a:ln/>
        </p:spPr>
        <p:txBody>
          <a:bodyPr wrap="square" lIns="0" tIns="0" rIns="0" bIns="0" rtlCol="0" anchor="ctr">
            <a:normAutofit/>
          </a:bodyPr>
          <a:lstStyle/>
          <a:p>
            <a:pPr marL="0" indent="0" algn="r">
              <a:buNone/>
            </a:pPr>
            <a:r>
              <a:rPr lang="en-US" sz="840" b="1" dirty="0">
                <a:solidFill>
                  <a:srgbClr val="68809C"/>
                </a:solidFill>
                <a:latin typeface="Inter" pitchFamily="34" charset="0"/>
                <a:ea typeface="Inter" pitchFamily="34" charset="-122"/>
                <a:cs typeface="Inter" pitchFamily="34" charset="-120"/>
              </a:rPr>
              <a:t>07 / 08</a:t>
            </a:r>
            <a:endParaRPr lang="en-US" sz="840" dirty="0"/>
          </a:p>
        </p:txBody>
      </p:sp>
      <p:sp>
        <p:nvSpPr>
          <p:cNvPr id="44" name="Shape 5">
            <a:extLst>
              <a:ext uri="{FF2B5EF4-FFF2-40B4-BE49-F238E27FC236}">
                <a16:creationId xmlns:a16="http://schemas.microsoft.com/office/drawing/2014/main" id="{0C21949F-9D78-4FBE-AE12-F27B91BE8FD7}"/>
              </a:ext>
            </a:extLst>
          </p:cNvPr>
          <p:cNvSpPr/>
          <p:nvPr/>
        </p:nvSpPr>
        <p:spPr>
          <a:xfrm>
            <a:off x="3108960" y="2313431"/>
            <a:ext cx="2013371" cy="539496"/>
          </a:xfrm>
          <a:prstGeom prst="roundRect">
            <a:avLst>
              <a:gd name="adj" fmla="val 20339"/>
            </a:avLst>
          </a:prstGeom>
          <a:solidFill>
            <a:srgbClr val="1D3554"/>
          </a:solidFill>
          <a:ln w="10160">
            <a:solidFill>
              <a:srgbClr val="365774"/>
            </a:solidFill>
            <a:prstDash val="solid"/>
          </a:ln>
        </p:spPr>
        <p:txBody>
          <a:bodyPr/>
          <a:lstStyle/>
          <a:p>
            <a:r>
              <a:rPr lang="en-US" sz="1400" b="1" dirty="0">
                <a:solidFill>
                  <a:schemeClr val="bg1"/>
                </a:solidFill>
              </a:rPr>
              <a:t>   Flutter</a:t>
            </a:r>
            <a:r>
              <a:rPr lang="en-US" b="1" dirty="0">
                <a:solidFill>
                  <a:schemeClr val="bg1"/>
                </a:solidFill>
              </a:rPr>
              <a:t> </a:t>
            </a:r>
            <a:r>
              <a:rPr lang="en-US" sz="1400" b="1" dirty="0">
                <a:solidFill>
                  <a:schemeClr val="bg1"/>
                </a:solidFill>
              </a:rPr>
              <a:t>Mobile App</a:t>
            </a:r>
          </a:p>
        </p:txBody>
      </p:sp>
      <p:sp>
        <p:nvSpPr>
          <p:cNvPr id="45" name="Shape 7">
            <a:extLst>
              <a:ext uri="{FF2B5EF4-FFF2-40B4-BE49-F238E27FC236}">
                <a16:creationId xmlns:a16="http://schemas.microsoft.com/office/drawing/2014/main" id="{D78B20D9-4E1B-4A3D-9071-79534A1A2288}"/>
              </a:ext>
            </a:extLst>
          </p:cNvPr>
          <p:cNvSpPr/>
          <p:nvPr/>
        </p:nvSpPr>
        <p:spPr>
          <a:xfrm>
            <a:off x="1746504" y="2852928"/>
            <a:ext cx="0" cy="320040"/>
          </a:xfrm>
          <a:prstGeom prst="line">
            <a:avLst/>
          </a:prstGeom>
          <a:noFill/>
          <a:ln w="21590">
            <a:solidFill>
              <a:srgbClr val="518BFF"/>
            </a:solidFill>
            <a:prstDash val="solid"/>
            <a:tailEnd type="triangle"/>
          </a:ln>
        </p:spPr>
      </p:sp>
      <p:sp>
        <p:nvSpPr>
          <p:cNvPr id="46" name="Shape 5">
            <a:extLst>
              <a:ext uri="{FF2B5EF4-FFF2-40B4-BE49-F238E27FC236}">
                <a16:creationId xmlns:a16="http://schemas.microsoft.com/office/drawing/2014/main" id="{34D3711D-58C0-46FC-8758-26535F9A0311}"/>
              </a:ext>
            </a:extLst>
          </p:cNvPr>
          <p:cNvSpPr/>
          <p:nvPr/>
        </p:nvSpPr>
        <p:spPr>
          <a:xfrm>
            <a:off x="5215126" y="2313431"/>
            <a:ext cx="2013371" cy="539496"/>
          </a:xfrm>
          <a:prstGeom prst="roundRect">
            <a:avLst>
              <a:gd name="adj" fmla="val 20339"/>
            </a:avLst>
          </a:prstGeom>
          <a:solidFill>
            <a:srgbClr val="1D3554"/>
          </a:solidFill>
          <a:ln w="10160">
            <a:solidFill>
              <a:srgbClr val="365774"/>
            </a:solidFill>
            <a:prstDash val="solid"/>
          </a:ln>
        </p:spPr>
        <p:txBody>
          <a:bodyPr/>
          <a:lstStyle/>
          <a:p>
            <a:r>
              <a:rPr lang="en-US" sz="1400" b="1" dirty="0">
                <a:solidFill>
                  <a:schemeClr val="bg1"/>
                </a:solidFill>
              </a:rPr>
              <a:t>   WPF  Desktop (Optional)</a:t>
            </a:r>
          </a:p>
        </p:txBody>
      </p:sp>
      <p:sp>
        <p:nvSpPr>
          <p:cNvPr id="47" name="Shape 7">
            <a:extLst>
              <a:ext uri="{FF2B5EF4-FFF2-40B4-BE49-F238E27FC236}">
                <a16:creationId xmlns:a16="http://schemas.microsoft.com/office/drawing/2014/main" id="{7949A913-63F0-4295-BD80-6349F1BBD5DA}"/>
              </a:ext>
            </a:extLst>
          </p:cNvPr>
          <p:cNvSpPr/>
          <p:nvPr/>
        </p:nvSpPr>
        <p:spPr>
          <a:xfrm>
            <a:off x="5925651" y="2863427"/>
            <a:ext cx="0" cy="320040"/>
          </a:xfrm>
          <a:prstGeom prst="line">
            <a:avLst/>
          </a:prstGeom>
          <a:noFill/>
          <a:ln w="21590">
            <a:solidFill>
              <a:srgbClr val="518BFF"/>
            </a:solidFill>
            <a:prstDash val="solid"/>
            <a:tailEnd type="triangle"/>
          </a:ln>
        </p:spPr>
      </p:sp>
      <p:sp>
        <p:nvSpPr>
          <p:cNvPr id="49" name="Shape 20">
            <a:extLst>
              <a:ext uri="{FF2B5EF4-FFF2-40B4-BE49-F238E27FC236}">
                <a16:creationId xmlns:a16="http://schemas.microsoft.com/office/drawing/2014/main" id="{2A1C52C7-E6D0-4513-A1B2-655FFDE0EA6F}"/>
              </a:ext>
            </a:extLst>
          </p:cNvPr>
          <p:cNvSpPr/>
          <p:nvPr/>
        </p:nvSpPr>
        <p:spPr>
          <a:xfrm>
            <a:off x="5417823" y="4588932"/>
            <a:ext cx="1435601" cy="813816"/>
          </a:xfrm>
          <a:prstGeom prst="roundRect">
            <a:avLst>
              <a:gd name="adj" fmla="val 13483"/>
            </a:avLst>
          </a:prstGeom>
          <a:solidFill>
            <a:srgbClr val="152B45"/>
          </a:solidFill>
          <a:ln w="10160">
            <a:solidFill>
              <a:srgbClr val="2A4561"/>
            </a:solidFill>
            <a:prstDash val="solid"/>
          </a:ln>
        </p:spPr>
        <p:txBody>
          <a:bodyPr/>
          <a:lstStyle/>
          <a:p>
            <a:endParaRPr lang="en-US" dirty="0"/>
          </a:p>
        </p:txBody>
      </p:sp>
      <p:pic>
        <p:nvPicPr>
          <p:cNvPr id="50" name="Image 4" descr="/mnt/data/erp_deck_assets/faDatabase_2CD7C4.png">
            <a:extLst>
              <a:ext uri="{FF2B5EF4-FFF2-40B4-BE49-F238E27FC236}">
                <a16:creationId xmlns:a16="http://schemas.microsoft.com/office/drawing/2014/main" id="{D8FADD43-0C2F-4EBE-9ABB-2DBC8BA51DD8}"/>
              </a:ext>
            </a:extLst>
          </p:cNvPr>
          <p:cNvPicPr>
            <a:picLocks noChangeAspect="1"/>
          </p:cNvPicPr>
          <p:nvPr/>
        </p:nvPicPr>
        <p:blipFill>
          <a:blip r:embed="rId5"/>
          <a:stretch>
            <a:fillRect/>
          </a:stretch>
        </p:blipFill>
        <p:spPr>
          <a:xfrm>
            <a:off x="5600700" y="4840563"/>
            <a:ext cx="167470" cy="219456"/>
          </a:xfrm>
          <a:prstGeom prst="rect">
            <a:avLst/>
          </a:prstGeom>
        </p:spPr>
      </p:pic>
      <p:sp>
        <p:nvSpPr>
          <p:cNvPr id="52" name="Text 21">
            <a:extLst>
              <a:ext uri="{FF2B5EF4-FFF2-40B4-BE49-F238E27FC236}">
                <a16:creationId xmlns:a16="http://schemas.microsoft.com/office/drawing/2014/main" id="{6899B832-16BA-482E-84DF-1C53BC300E8B}"/>
              </a:ext>
            </a:extLst>
          </p:cNvPr>
          <p:cNvSpPr/>
          <p:nvPr/>
        </p:nvSpPr>
        <p:spPr>
          <a:xfrm>
            <a:off x="5956226" y="4805172"/>
            <a:ext cx="745231" cy="274320"/>
          </a:xfrm>
          <a:prstGeom prst="rect">
            <a:avLst/>
          </a:prstGeom>
          <a:noFill/>
          <a:ln/>
        </p:spPr>
        <p:txBody>
          <a:bodyPr wrap="square" lIns="0" tIns="0" rIns="0" bIns="0" rtlCol="0" anchor="ctr">
            <a:normAutofit/>
          </a:bodyPr>
          <a:lstStyle/>
          <a:p>
            <a:pPr marL="0" indent="0" algn="l">
              <a:buNone/>
            </a:pPr>
            <a:r>
              <a:rPr lang="en-US" sz="1070" b="1" dirty="0">
                <a:solidFill>
                  <a:srgbClr val="FFFFFF"/>
                </a:solidFill>
                <a:latin typeface="Inter" pitchFamily="34" charset="0"/>
                <a:ea typeface="Inter" pitchFamily="34" charset="-122"/>
                <a:cs typeface="Inter" pitchFamily="34" charset="-120"/>
              </a:rPr>
              <a:t>Vector DB</a:t>
            </a:r>
            <a:endParaRPr lang="en-US" sz="1070" dirty="0"/>
          </a:p>
        </p:txBody>
      </p:sp>
      <p:sp>
        <p:nvSpPr>
          <p:cNvPr id="53" name="Shape 19">
            <a:extLst>
              <a:ext uri="{FF2B5EF4-FFF2-40B4-BE49-F238E27FC236}">
                <a16:creationId xmlns:a16="http://schemas.microsoft.com/office/drawing/2014/main" id="{615572B4-AFF9-4B2A-90A1-1E20D58F8B6C}"/>
              </a:ext>
            </a:extLst>
          </p:cNvPr>
          <p:cNvSpPr/>
          <p:nvPr/>
        </p:nvSpPr>
        <p:spPr>
          <a:xfrm flipH="1">
            <a:off x="6515606" y="3675888"/>
            <a:ext cx="955039" cy="913044"/>
          </a:xfrm>
          <a:prstGeom prst="line">
            <a:avLst/>
          </a:prstGeom>
          <a:noFill/>
          <a:ln w="16510">
            <a:solidFill>
              <a:srgbClr val="518BFF"/>
            </a:solidFill>
            <a:prstDash val="solid"/>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8FC"/>
        </a:solidFill>
        <a:effectLst/>
      </p:bgPr>
    </p:bg>
    <p:spTree>
      <p:nvGrpSpPr>
        <p:cNvPr id="1" name=""/>
        <p:cNvGrpSpPr/>
        <p:nvPr/>
      </p:nvGrpSpPr>
      <p:grpSpPr>
        <a:xfrm>
          <a:off x="0" y="0"/>
          <a:ext cx="0" cy="0"/>
          <a:chOff x="0" y="0"/>
          <a:chExt cx="0" cy="0"/>
        </a:xfrm>
      </p:grpSpPr>
      <p:sp>
        <p:nvSpPr>
          <p:cNvPr id="2" name="Text 0"/>
          <p:cNvSpPr/>
          <p:nvPr/>
        </p:nvSpPr>
        <p:spPr>
          <a:xfrm>
            <a:off x="658368" y="429768"/>
            <a:ext cx="10789920" cy="237744"/>
          </a:xfrm>
          <a:prstGeom prst="rect">
            <a:avLst/>
          </a:prstGeom>
          <a:noFill/>
          <a:ln/>
        </p:spPr>
        <p:txBody>
          <a:bodyPr wrap="square" lIns="0" tIns="0" rIns="0" bIns="0" rtlCol="0" anchor="ctr">
            <a:normAutofit/>
          </a:bodyPr>
          <a:lstStyle/>
          <a:p>
            <a:pPr marL="0" indent="0" algn="l">
              <a:buNone/>
            </a:pPr>
            <a:r>
              <a:rPr lang="en-US" sz="930" b="1" kern="0" spc="185" dirty="0">
                <a:solidFill>
                  <a:srgbClr val="2563EB"/>
                </a:solidFill>
                <a:latin typeface="Inter" pitchFamily="34" charset="0"/>
                <a:ea typeface="Inter" pitchFamily="34" charset="-122"/>
                <a:cs typeface="Inter" pitchFamily="34" charset="-120"/>
              </a:rPr>
              <a:t>07 / DELIVERY STRATEGY</a:t>
            </a:r>
            <a:endParaRPr lang="en-US" sz="930" dirty="0"/>
          </a:p>
        </p:txBody>
      </p:sp>
      <p:sp>
        <p:nvSpPr>
          <p:cNvPr id="3" name="Text 1"/>
          <p:cNvSpPr/>
          <p:nvPr/>
        </p:nvSpPr>
        <p:spPr>
          <a:xfrm>
            <a:off x="640080" y="786384"/>
            <a:ext cx="10917936" cy="502920"/>
          </a:xfrm>
          <a:prstGeom prst="rect">
            <a:avLst/>
          </a:prstGeom>
          <a:noFill/>
          <a:ln/>
        </p:spPr>
        <p:txBody>
          <a:bodyPr wrap="square" lIns="0" tIns="0" rIns="0" bIns="0" rtlCol="0" anchor="ctr">
            <a:normAutofit/>
          </a:bodyPr>
          <a:lstStyle/>
          <a:p>
            <a:pPr marL="0" indent="0" algn="l">
              <a:buNone/>
            </a:pPr>
            <a:r>
              <a:rPr lang="en-US" sz="2850" b="1" dirty="0">
                <a:solidFill>
                  <a:srgbClr val="172439"/>
                </a:solidFill>
                <a:latin typeface="Inter Display" pitchFamily="34" charset="0"/>
                <a:ea typeface="Inter Display" pitchFamily="34" charset="-122"/>
                <a:cs typeface="Inter Display" pitchFamily="34" charset="-120"/>
              </a:rPr>
              <a:t>Build the trusted core. Add intelligence deliberately.</a:t>
            </a:r>
            <a:endParaRPr lang="en-US" sz="2850" dirty="0"/>
          </a:p>
        </p:txBody>
      </p:sp>
      <p:sp>
        <p:nvSpPr>
          <p:cNvPr id="4" name="Text 2"/>
          <p:cNvSpPr/>
          <p:nvPr/>
        </p:nvSpPr>
        <p:spPr>
          <a:xfrm>
            <a:off x="658368" y="1380744"/>
            <a:ext cx="10826496" cy="338328"/>
          </a:xfrm>
          <a:prstGeom prst="rect">
            <a:avLst/>
          </a:prstGeom>
          <a:noFill/>
          <a:ln/>
        </p:spPr>
        <p:txBody>
          <a:bodyPr wrap="square" lIns="0" tIns="0" rIns="0" bIns="0" rtlCol="0" anchor="ctr">
            <a:normAutofit/>
          </a:bodyPr>
          <a:lstStyle/>
          <a:p>
            <a:pPr marL="0" indent="0" algn="l">
              <a:buNone/>
            </a:pPr>
            <a:r>
              <a:rPr lang="en-US" sz="1250" dirty="0">
                <a:solidFill>
                  <a:srgbClr val="677995"/>
                </a:solidFill>
                <a:latin typeface="Inter" pitchFamily="34" charset="0"/>
                <a:ea typeface="Inter" pitchFamily="34" charset="-122"/>
                <a:cs typeface="Inter" pitchFamily="34" charset="-120"/>
              </a:rPr>
              <a:t>The BRD defines an implementation order—not fixed dates or a committed launch schedule.</a:t>
            </a:r>
            <a:endParaRPr lang="en-US" sz="1250" dirty="0"/>
          </a:p>
        </p:txBody>
      </p:sp>
      <p:sp>
        <p:nvSpPr>
          <p:cNvPr id="5" name="Shape 3"/>
          <p:cNvSpPr/>
          <p:nvPr/>
        </p:nvSpPr>
        <p:spPr>
          <a:xfrm>
            <a:off x="1426464" y="2029968"/>
            <a:ext cx="722376" cy="722376"/>
          </a:xfrm>
          <a:prstGeom prst="ellipse">
            <a:avLst/>
          </a:prstGeom>
          <a:solidFill>
            <a:srgbClr val="E7F0FF"/>
          </a:solidFill>
          <a:ln w="12700">
            <a:solidFill>
              <a:srgbClr val="FFFFFF">
                <a:alpha val="0"/>
              </a:srgbClr>
            </a:solidFill>
            <a:prstDash val="solid"/>
          </a:ln>
        </p:spPr>
      </p:sp>
      <p:pic>
        <p:nvPicPr>
          <p:cNvPr id="6" name="Image 0" descr="/mnt/data/erp_deck_assets/faCloud_2563EB.png"/>
          <p:cNvPicPr>
            <a:picLocks noChangeAspect="1"/>
          </p:cNvPicPr>
          <p:nvPr/>
        </p:nvPicPr>
        <p:blipFill>
          <a:blip r:embed="rId3"/>
          <a:stretch>
            <a:fillRect/>
          </a:stretch>
        </p:blipFill>
        <p:spPr>
          <a:xfrm>
            <a:off x="1639519" y="2239366"/>
            <a:ext cx="310896" cy="310896"/>
          </a:xfrm>
          <a:prstGeom prst="rect">
            <a:avLst/>
          </a:prstGeom>
        </p:spPr>
      </p:pic>
      <p:sp>
        <p:nvSpPr>
          <p:cNvPr id="7" name="Text 4"/>
          <p:cNvSpPr/>
          <p:nvPr/>
        </p:nvSpPr>
        <p:spPr>
          <a:xfrm>
            <a:off x="914400" y="2852928"/>
            <a:ext cx="1746504" cy="219456"/>
          </a:xfrm>
          <a:prstGeom prst="rect">
            <a:avLst/>
          </a:prstGeom>
          <a:noFill/>
          <a:ln/>
        </p:spPr>
        <p:txBody>
          <a:bodyPr wrap="square" lIns="0" tIns="0" rIns="0" bIns="0" rtlCol="0" anchor="ctr">
            <a:normAutofit/>
          </a:bodyPr>
          <a:lstStyle/>
          <a:p>
            <a:pPr marL="0" indent="0" algn="ctr">
              <a:buNone/>
            </a:pPr>
            <a:r>
              <a:rPr lang="en-US" sz="970" b="1" kern="0" spc="60" dirty="0">
                <a:solidFill>
                  <a:srgbClr val="2563EB"/>
                </a:solidFill>
                <a:latin typeface="Inter" pitchFamily="34" charset="0"/>
                <a:ea typeface="Inter" pitchFamily="34" charset="-122"/>
                <a:cs typeface="Inter" pitchFamily="34" charset="-120"/>
              </a:rPr>
              <a:t>01</a:t>
            </a:r>
            <a:endParaRPr lang="en-US" sz="970" dirty="0"/>
          </a:p>
        </p:txBody>
      </p:sp>
      <p:sp>
        <p:nvSpPr>
          <p:cNvPr id="8" name="Text 5"/>
          <p:cNvSpPr/>
          <p:nvPr/>
        </p:nvSpPr>
        <p:spPr>
          <a:xfrm>
            <a:off x="804672" y="3127248"/>
            <a:ext cx="1965960" cy="292608"/>
          </a:xfrm>
          <a:prstGeom prst="rect">
            <a:avLst/>
          </a:prstGeom>
          <a:noFill/>
          <a:ln/>
        </p:spPr>
        <p:txBody>
          <a:bodyPr wrap="square" lIns="0" tIns="0" rIns="0" bIns="0" rtlCol="0" anchor="ctr">
            <a:normAutofit/>
          </a:bodyPr>
          <a:lstStyle/>
          <a:p>
            <a:pPr marL="0" indent="0" algn="ctr">
              <a:buNone/>
            </a:pPr>
            <a:r>
              <a:rPr lang="en-US" sz="1530" b="1" dirty="0">
                <a:solidFill>
                  <a:srgbClr val="172439"/>
                </a:solidFill>
                <a:latin typeface="Inter Display" pitchFamily="34" charset="0"/>
                <a:ea typeface="Inter Display" pitchFamily="34" charset="-122"/>
                <a:cs typeface="Inter Display" pitchFamily="34" charset="-120"/>
              </a:rPr>
              <a:t>SaaS</a:t>
            </a:r>
            <a:endParaRPr lang="en-US" sz="1530" dirty="0"/>
          </a:p>
        </p:txBody>
      </p:sp>
      <p:sp>
        <p:nvSpPr>
          <p:cNvPr id="9" name="Text 6"/>
          <p:cNvSpPr/>
          <p:nvPr/>
        </p:nvSpPr>
        <p:spPr>
          <a:xfrm>
            <a:off x="786384" y="3502152"/>
            <a:ext cx="2002536" cy="310896"/>
          </a:xfrm>
          <a:prstGeom prst="rect">
            <a:avLst/>
          </a:prstGeom>
          <a:noFill/>
          <a:ln/>
        </p:spPr>
        <p:txBody>
          <a:bodyPr wrap="square" lIns="0" tIns="0" rIns="0" bIns="0" rtlCol="0" anchor="ctr">
            <a:normAutofit/>
          </a:bodyPr>
          <a:lstStyle/>
          <a:p>
            <a:pPr marL="0" indent="0" algn="ctr">
              <a:buNone/>
            </a:pPr>
            <a:r>
              <a:rPr lang="en-US" sz="1020" dirty="0">
                <a:solidFill>
                  <a:srgbClr val="677995"/>
                </a:solidFill>
                <a:latin typeface="Inter" pitchFamily="34" charset="0"/>
                <a:ea typeface="Inter" pitchFamily="34" charset="-122"/>
                <a:cs typeface="Inter" pitchFamily="34" charset="-120"/>
              </a:rPr>
              <a:t>Tenant + security</a:t>
            </a:r>
            <a:endParaRPr lang="en-US" sz="1020" dirty="0"/>
          </a:p>
        </p:txBody>
      </p:sp>
      <p:sp>
        <p:nvSpPr>
          <p:cNvPr id="10" name="Shape 7"/>
          <p:cNvSpPr/>
          <p:nvPr/>
        </p:nvSpPr>
        <p:spPr>
          <a:xfrm>
            <a:off x="2267712" y="2386584"/>
            <a:ext cx="731520" cy="0"/>
          </a:xfrm>
          <a:prstGeom prst="line">
            <a:avLst/>
          </a:prstGeom>
          <a:noFill/>
          <a:ln w="19685">
            <a:solidFill>
              <a:srgbClr val="518BFF"/>
            </a:solidFill>
            <a:prstDash val="solid"/>
            <a:tailEnd type="triangle"/>
          </a:ln>
        </p:spPr>
      </p:sp>
      <p:sp>
        <p:nvSpPr>
          <p:cNvPr id="11" name="Shape 8"/>
          <p:cNvSpPr/>
          <p:nvPr/>
        </p:nvSpPr>
        <p:spPr>
          <a:xfrm>
            <a:off x="3730752" y="2029968"/>
            <a:ext cx="722376" cy="722376"/>
          </a:xfrm>
          <a:prstGeom prst="ellipse">
            <a:avLst/>
          </a:prstGeom>
          <a:solidFill>
            <a:srgbClr val="E7F0FF"/>
          </a:solidFill>
          <a:ln w="12700">
            <a:solidFill>
              <a:srgbClr val="FFFFFF">
                <a:alpha val="0"/>
              </a:srgbClr>
            </a:solidFill>
            <a:prstDash val="solid"/>
          </a:ln>
        </p:spPr>
      </p:sp>
      <p:pic>
        <p:nvPicPr>
          <p:cNvPr id="12" name="Image 1" descr="/mnt/data/erp_deck_assets/faCreditCard_2563EB.png"/>
          <p:cNvPicPr>
            <a:picLocks noChangeAspect="1"/>
          </p:cNvPicPr>
          <p:nvPr/>
        </p:nvPicPr>
        <p:blipFill>
          <a:blip r:embed="rId4"/>
          <a:stretch>
            <a:fillRect/>
          </a:stretch>
        </p:blipFill>
        <p:spPr>
          <a:xfrm>
            <a:off x="3943807" y="2239366"/>
            <a:ext cx="310896" cy="310896"/>
          </a:xfrm>
          <a:prstGeom prst="rect">
            <a:avLst/>
          </a:prstGeom>
        </p:spPr>
      </p:pic>
      <p:sp>
        <p:nvSpPr>
          <p:cNvPr id="13" name="Text 9"/>
          <p:cNvSpPr/>
          <p:nvPr/>
        </p:nvSpPr>
        <p:spPr>
          <a:xfrm>
            <a:off x="3218688" y="2852928"/>
            <a:ext cx="1746504" cy="219456"/>
          </a:xfrm>
          <a:prstGeom prst="rect">
            <a:avLst/>
          </a:prstGeom>
          <a:noFill/>
          <a:ln/>
        </p:spPr>
        <p:txBody>
          <a:bodyPr wrap="square" lIns="0" tIns="0" rIns="0" bIns="0" rtlCol="0" anchor="ctr">
            <a:normAutofit/>
          </a:bodyPr>
          <a:lstStyle/>
          <a:p>
            <a:pPr marL="0" indent="0" algn="ctr">
              <a:buNone/>
            </a:pPr>
            <a:r>
              <a:rPr lang="en-US" sz="970" b="1" kern="0" spc="60" dirty="0">
                <a:solidFill>
                  <a:srgbClr val="2563EB"/>
                </a:solidFill>
                <a:latin typeface="Inter" pitchFamily="34" charset="0"/>
                <a:ea typeface="Inter" pitchFamily="34" charset="-122"/>
                <a:cs typeface="Inter" pitchFamily="34" charset="-120"/>
              </a:rPr>
              <a:t>02</a:t>
            </a:r>
            <a:endParaRPr lang="en-US" sz="970" dirty="0"/>
          </a:p>
        </p:txBody>
      </p:sp>
      <p:sp>
        <p:nvSpPr>
          <p:cNvPr id="14" name="Text 10"/>
          <p:cNvSpPr/>
          <p:nvPr/>
        </p:nvSpPr>
        <p:spPr>
          <a:xfrm>
            <a:off x="3108960" y="3127248"/>
            <a:ext cx="1965960" cy="292608"/>
          </a:xfrm>
          <a:prstGeom prst="rect">
            <a:avLst/>
          </a:prstGeom>
          <a:noFill/>
          <a:ln/>
        </p:spPr>
        <p:txBody>
          <a:bodyPr wrap="square" lIns="0" tIns="0" rIns="0" bIns="0" rtlCol="0" anchor="ctr">
            <a:normAutofit/>
          </a:bodyPr>
          <a:lstStyle/>
          <a:p>
            <a:pPr marL="0" indent="0" algn="ctr">
              <a:buNone/>
            </a:pPr>
            <a:r>
              <a:rPr lang="en-US" sz="1530" b="1" dirty="0">
                <a:solidFill>
                  <a:srgbClr val="172439"/>
                </a:solidFill>
                <a:latin typeface="Inter Display" pitchFamily="34" charset="0"/>
                <a:ea typeface="Inter Display" pitchFamily="34" charset="-122"/>
                <a:cs typeface="Inter Display" pitchFamily="34" charset="-120"/>
              </a:rPr>
              <a:t>Subscriptions</a:t>
            </a:r>
            <a:endParaRPr lang="en-US" sz="1530" dirty="0"/>
          </a:p>
        </p:txBody>
      </p:sp>
      <p:sp>
        <p:nvSpPr>
          <p:cNvPr id="15" name="Text 11"/>
          <p:cNvSpPr/>
          <p:nvPr/>
        </p:nvSpPr>
        <p:spPr>
          <a:xfrm>
            <a:off x="3090672" y="3502152"/>
            <a:ext cx="2002536" cy="310896"/>
          </a:xfrm>
          <a:prstGeom prst="rect">
            <a:avLst/>
          </a:prstGeom>
          <a:noFill/>
          <a:ln/>
        </p:spPr>
        <p:txBody>
          <a:bodyPr wrap="square" lIns="0" tIns="0" rIns="0" bIns="0" rtlCol="0" anchor="ctr">
            <a:normAutofit/>
          </a:bodyPr>
          <a:lstStyle/>
          <a:p>
            <a:pPr marL="0" indent="0" algn="ctr">
              <a:buNone/>
            </a:pPr>
            <a:r>
              <a:rPr lang="en-US" sz="1020" dirty="0">
                <a:solidFill>
                  <a:srgbClr val="677995"/>
                </a:solidFill>
                <a:latin typeface="Inter" pitchFamily="34" charset="0"/>
                <a:ea typeface="Inter" pitchFamily="34" charset="-122"/>
                <a:cs typeface="Inter" pitchFamily="34" charset="-120"/>
              </a:rPr>
              <a:t>Plans + access</a:t>
            </a:r>
            <a:endParaRPr lang="en-US" sz="1020" dirty="0"/>
          </a:p>
        </p:txBody>
      </p:sp>
      <p:sp>
        <p:nvSpPr>
          <p:cNvPr id="16" name="Shape 12"/>
          <p:cNvSpPr/>
          <p:nvPr/>
        </p:nvSpPr>
        <p:spPr>
          <a:xfrm>
            <a:off x="4572000" y="2386584"/>
            <a:ext cx="731520" cy="0"/>
          </a:xfrm>
          <a:prstGeom prst="line">
            <a:avLst/>
          </a:prstGeom>
          <a:noFill/>
          <a:ln w="19685">
            <a:solidFill>
              <a:srgbClr val="518BFF"/>
            </a:solidFill>
            <a:prstDash val="solid"/>
            <a:tailEnd type="triangle"/>
          </a:ln>
        </p:spPr>
      </p:sp>
      <p:sp>
        <p:nvSpPr>
          <p:cNvPr id="17" name="Shape 13"/>
          <p:cNvSpPr/>
          <p:nvPr/>
        </p:nvSpPr>
        <p:spPr>
          <a:xfrm>
            <a:off x="6035040" y="2029968"/>
            <a:ext cx="722376" cy="722376"/>
          </a:xfrm>
          <a:prstGeom prst="ellipse">
            <a:avLst/>
          </a:prstGeom>
          <a:solidFill>
            <a:srgbClr val="E7F0FF"/>
          </a:solidFill>
          <a:ln w="12700">
            <a:solidFill>
              <a:srgbClr val="FFFFFF">
                <a:alpha val="0"/>
              </a:srgbClr>
            </a:solidFill>
            <a:prstDash val="solid"/>
          </a:ln>
        </p:spPr>
      </p:sp>
      <p:pic>
        <p:nvPicPr>
          <p:cNvPr id="18" name="Image 2" descr="/mnt/data/erp_deck_assets/faCartShopping_2563EB.png"/>
          <p:cNvPicPr>
            <a:picLocks noChangeAspect="1"/>
          </p:cNvPicPr>
          <p:nvPr/>
        </p:nvPicPr>
        <p:blipFill>
          <a:blip r:embed="rId5"/>
          <a:stretch>
            <a:fillRect/>
          </a:stretch>
        </p:blipFill>
        <p:spPr>
          <a:xfrm>
            <a:off x="6248095" y="2239366"/>
            <a:ext cx="310896" cy="310896"/>
          </a:xfrm>
          <a:prstGeom prst="rect">
            <a:avLst/>
          </a:prstGeom>
        </p:spPr>
      </p:pic>
      <p:sp>
        <p:nvSpPr>
          <p:cNvPr id="19" name="Text 14"/>
          <p:cNvSpPr/>
          <p:nvPr/>
        </p:nvSpPr>
        <p:spPr>
          <a:xfrm>
            <a:off x="5522976" y="2852928"/>
            <a:ext cx="1746504" cy="219456"/>
          </a:xfrm>
          <a:prstGeom prst="rect">
            <a:avLst/>
          </a:prstGeom>
          <a:noFill/>
          <a:ln/>
        </p:spPr>
        <p:txBody>
          <a:bodyPr wrap="square" lIns="0" tIns="0" rIns="0" bIns="0" rtlCol="0" anchor="ctr">
            <a:normAutofit/>
          </a:bodyPr>
          <a:lstStyle/>
          <a:p>
            <a:pPr marL="0" indent="0" algn="ctr">
              <a:buNone/>
            </a:pPr>
            <a:r>
              <a:rPr lang="en-US" sz="970" b="1" kern="0" spc="60" dirty="0">
                <a:solidFill>
                  <a:srgbClr val="2563EB"/>
                </a:solidFill>
                <a:latin typeface="Inter" pitchFamily="34" charset="0"/>
                <a:ea typeface="Inter" pitchFamily="34" charset="-122"/>
                <a:cs typeface="Inter" pitchFamily="34" charset="-120"/>
              </a:rPr>
              <a:t>03</a:t>
            </a:r>
            <a:endParaRPr lang="en-US" sz="970" dirty="0"/>
          </a:p>
        </p:txBody>
      </p:sp>
      <p:sp>
        <p:nvSpPr>
          <p:cNvPr id="20" name="Text 15"/>
          <p:cNvSpPr/>
          <p:nvPr/>
        </p:nvSpPr>
        <p:spPr>
          <a:xfrm>
            <a:off x="5413248" y="3127248"/>
            <a:ext cx="1965960" cy="292608"/>
          </a:xfrm>
          <a:prstGeom prst="rect">
            <a:avLst/>
          </a:prstGeom>
          <a:noFill/>
          <a:ln/>
        </p:spPr>
        <p:txBody>
          <a:bodyPr wrap="square" lIns="0" tIns="0" rIns="0" bIns="0" rtlCol="0" anchor="ctr">
            <a:normAutofit/>
          </a:bodyPr>
          <a:lstStyle/>
          <a:p>
            <a:pPr marL="0" indent="0" algn="ctr">
              <a:buNone/>
            </a:pPr>
            <a:r>
              <a:rPr lang="en-US" sz="1530" b="1" dirty="0">
                <a:solidFill>
                  <a:srgbClr val="172439"/>
                </a:solidFill>
                <a:latin typeface="Inter Display" pitchFamily="34" charset="0"/>
                <a:ea typeface="Inter Display" pitchFamily="34" charset="-122"/>
                <a:cs typeface="Inter Display" pitchFamily="34" charset="-120"/>
              </a:rPr>
              <a:t>Purchasing</a:t>
            </a:r>
            <a:endParaRPr lang="en-US" sz="1530" dirty="0"/>
          </a:p>
        </p:txBody>
      </p:sp>
      <p:sp>
        <p:nvSpPr>
          <p:cNvPr id="21" name="Text 16"/>
          <p:cNvSpPr/>
          <p:nvPr/>
        </p:nvSpPr>
        <p:spPr>
          <a:xfrm>
            <a:off x="5394960" y="3502152"/>
            <a:ext cx="2002536" cy="310896"/>
          </a:xfrm>
          <a:prstGeom prst="rect">
            <a:avLst/>
          </a:prstGeom>
          <a:noFill/>
          <a:ln/>
        </p:spPr>
        <p:txBody>
          <a:bodyPr wrap="square" lIns="0" tIns="0" rIns="0" bIns="0" rtlCol="0" anchor="ctr">
            <a:normAutofit/>
          </a:bodyPr>
          <a:lstStyle/>
          <a:p>
            <a:pPr marL="0" indent="0" algn="ctr">
              <a:buNone/>
            </a:pPr>
            <a:r>
              <a:rPr lang="en-US" sz="1020" dirty="0">
                <a:solidFill>
                  <a:srgbClr val="677995"/>
                </a:solidFill>
                <a:latin typeface="Inter" pitchFamily="34" charset="0"/>
                <a:ea typeface="Inter" pitchFamily="34" charset="-122"/>
                <a:cs typeface="Inter" pitchFamily="34" charset="-120"/>
              </a:rPr>
              <a:t>Suppliers + GRN</a:t>
            </a:r>
            <a:endParaRPr lang="en-US" sz="1020" dirty="0"/>
          </a:p>
        </p:txBody>
      </p:sp>
      <p:sp>
        <p:nvSpPr>
          <p:cNvPr id="22" name="Shape 17"/>
          <p:cNvSpPr/>
          <p:nvPr/>
        </p:nvSpPr>
        <p:spPr>
          <a:xfrm>
            <a:off x="6876288" y="2386584"/>
            <a:ext cx="731520" cy="0"/>
          </a:xfrm>
          <a:prstGeom prst="line">
            <a:avLst/>
          </a:prstGeom>
          <a:noFill/>
          <a:ln w="19685">
            <a:solidFill>
              <a:srgbClr val="518BFF"/>
            </a:solidFill>
            <a:prstDash val="solid"/>
            <a:tailEnd type="triangle"/>
          </a:ln>
        </p:spPr>
      </p:sp>
      <p:sp>
        <p:nvSpPr>
          <p:cNvPr id="23" name="Shape 18"/>
          <p:cNvSpPr/>
          <p:nvPr/>
        </p:nvSpPr>
        <p:spPr>
          <a:xfrm>
            <a:off x="8339328" y="2029968"/>
            <a:ext cx="722376" cy="722376"/>
          </a:xfrm>
          <a:prstGeom prst="ellipse">
            <a:avLst/>
          </a:prstGeom>
          <a:solidFill>
            <a:srgbClr val="E7F0FF"/>
          </a:solidFill>
          <a:ln w="12700">
            <a:solidFill>
              <a:srgbClr val="FFFFFF">
                <a:alpha val="0"/>
              </a:srgbClr>
            </a:solidFill>
            <a:prstDash val="solid"/>
          </a:ln>
        </p:spPr>
      </p:sp>
      <p:pic>
        <p:nvPicPr>
          <p:cNvPr id="24" name="Image 3" descr="/mnt/data/erp_deck_assets/faWarehouse_2563EB.png"/>
          <p:cNvPicPr>
            <a:picLocks noChangeAspect="1"/>
          </p:cNvPicPr>
          <p:nvPr/>
        </p:nvPicPr>
        <p:blipFill>
          <a:blip r:embed="rId6"/>
          <a:stretch>
            <a:fillRect/>
          </a:stretch>
        </p:blipFill>
        <p:spPr>
          <a:xfrm>
            <a:off x="8552383" y="2239366"/>
            <a:ext cx="310896" cy="310896"/>
          </a:xfrm>
          <a:prstGeom prst="rect">
            <a:avLst/>
          </a:prstGeom>
        </p:spPr>
      </p:pic>
      <p:sp>
        <p:nvSpPr>
          <p:cNvPr id="25" name="Text 19"/>
          <p:cNvSpPr/>
          <p:nvPr/>
        </p:nvSpPr>
        <p:spPr>
          <a:xfrm>
            <a:off x="7827264" y="2852928"/>
            <a:ext cx="1746504" cy="219456"/>
          </a:xfrm>
          <a:prstGeom prst="rect">
            <a:avLst/>
          </a:prstGeom>
          <a:noFill/>
          <a:ln/>
        </p:spPr>
        <p:txBody>
          <a:bodyPr wrap="square" lIns="0" tIns="0" rIns="0" bIns="0" rtlCol="0" anchor="ctr">
            <a:normAutofit/>
          </a:bodyPr>
          <a:lstStyle/>
          <a:p>
            <a:pPr marL="0" indent="0" algn="ctr">
              <a:buNone/>
            </a:pPr>
            <a:r>
              <a:rPr lang="en-US" sz="970" b="1" kern="0" spc="60" dirty="0">
                <a:solidFill>
                  <a:srgbClr val="2563EB"/>
                </a:solidFill>
                <a:latin typeface="Inter" pitchFamily="34" charset="0"/>
                <a:ea typeface="Inter" pitchFamily="34" charset="-122"/>
                <a:cs typeface="Inter" pitchFamily="34" charset="-120"/>
              </a:rPr>
              <a:t>04</a:t>
            </a:r>
            <a:endParaRPr lang="en-US" sz="970" dirty="0"/>
          </a:p>
        </p:txBody>
      </p:sp>
      <p:sp>
        <p:nvSpPr>
          <p:cNvPr id="26" name="Text 20"/>
          <p:cNvSpPr/>
          <p:nvPr/>
        </p:nvSpPr>
        <p:spPr>
          <a:xfrm>
            <a:off x="7717536" y="3127248"/>
            <a:ext cx="1965960" cy="292608"/>
          </a:xfrm>
          <a:prstGeom prst="rect">
            <a:avLst/>
          </a:prstGeom>
          <a:noFill/>
          <a:ln/>
        </p:spPr>
        <p:txBody>
          <a:bodyPr wrap="square" lIns="0" tIns="0" rIns="0" bIns="0" rtlCol="0" anchor="ctr">
            <a:normAutofit/>
          </a:bodyPr>
          <a:lstStyle/>
          <a:p>
            <a:pPr marL="0" indent="0" algn="ctr">
              <a:buNone/>
            </a:pPr>
            <a:r>
              <a:rPr lang="en-US" sz="1530" b="1" dirty="0">
                <a:solidFill>
                  <a:srgbClr val="172439"/>
                </a:solidFill>
                <a:latin typeface="Inter Display" pitchFamily="34" charset="0"/>
                <a:ea typeface="Inter Display" pitchFamily="34" charset="-122"/>
                <a:cs typeface="Inter Display" pitchFamily="34" charset="-120"/>
              </a:rPr>
              <a:t>Inventory</a:t>
            </a:r>
            <a:endParaRPr lang="en-US" sz="1530" dirty="0"/>
          </a:p>
        </p:txBody>
      </p:sp>
      <p:sp>
        <p:nvSpPr>
          <p:cNvPr id="27" name="Text 21"/>
          <p:cNvSpPr/>
          <p:nvPr/>
        </p:nvSpPr>
        <p:spPr>
          <a:xfrm>
            <a:off x="7699248" y="3502152"/>
            <a:ext cx="2002536" cy="310896"/>
          </a:xfrm>
          <a:prstGeom prst="rect">
            <a:avLst/>
          </a:prstGeom>
          <a:noFill/>
          <a:ln/>
        </p:spPr>
        <p:txBody>
          <a:bodyPr wrap="square" lIns="0" tIns="0" rIns="0" bIns="0" rtlCol="0" anchor="ctr">
            <a:normAutofit/>
          </a:bodyPr>
          <a:lstStyle/>
          <a:p>
            <a:pPr marL="0" indent="0" algn="ctr">
              <a:buNone/>
            </a:pPr>
            <a:r>
              <a:rPr lang="en-US" sz="1020" dirty="0">
                <a:solidFill>
                  <a:srgbClr val="677995"/>
                </a:solidFill>
                <a:latin typeface="Inter" pitchFamily="34" charset="0"/>
                <a:ea typeface="Inter" pitchFamily="34" charset="-122"/>
                <a:cs typeface="Inter" pitchFamily="34" charset="-120"/>
              </a:rPr>
              <a:t>Warehouses + ledger</a:t>
            </a:r>
            <a:endParaRPr lang="en-US" sz="1020" dirty="0"/>
          </a:p>
        </p:txBody>
      </p:sp>
      <p:sp>
        <p:nvSpPr>
          <p:cNvPr id="28" name="Shape 22"/>
          <p:cNvSpPr/>
          <p:nvPr/>
        </p:nvSpPr>
        <p:spPr>
          <a:xfrm>
            <a:off x="9180576" y="2386584"/>
            <a:ext cx="731520" cy="0"/>
          </a:xfrm>
          <a:prstGeom prst="line">
            <a:avLst/>
          </a:prstGeom>
          <a:noFill/>
          <a:ln w="19685">
            <a:solidFill>
              <a:srgbClr val="518BFF"/>
            </a:solidFill>
            <a:prstDash val="solid"/>
            <a:tailEnd type="triangle"/>
          </a:ln>
        </p:spPr>
      </p:sp>
      <p:sp>
        <p:nvSpPr>
          <p:cNvPr id="29" name="Shape 23"/>
          <p:cNvSpPr/>
          <p:nvPr/>
        </p:nvSpPr>
        <p:spPr>
          <a:xfrm>
            <a:off x="10643616" y="2029968"/>
            <a:ext cx="722376" cy="722376"/>
          </a:xfrm>
          <a:prstGeom prst="ellipse">
            <a:avLst/>
          </a:prstGeom>
          <a:solidFill>
            <a:srgbClr val="DFF8F2"/>
          </a:solidFill>
          <a:ln w="12700">
            <a:solidFill>
              <a:srgbClr val="FFFFFF">
                <a:alpha val="0"/>
              </a:srgbClr>
            </a:solidFill>
            <a:prstDash val="solid"/>
          </a:ln>
        </p:spPr>
      </p:sp>
      <p:pic>
        <p:nvPicPr>
          <p:cNvPr id="30" name="Image 4" descr="/mnt/data/erp_deck_assets/faArrowTrendUp_2CD7C4.png"/>
          <p:cNvPicPr>
            <a:picLocks noChangeAspect="1"/>
          </p:cNvPicPr>
          <p:nvPr/>
        </p:nvPicPr>
        <p:blipFill>
          <a:blip r:embed="rId7"/>
          <a:stretch>
            <a:fillRect/>
          </a:stretch>
        </p:blipFill>
        <p:spPr>
          <a:xfrm>
            <a:off x="10856671" y="2239366"/>
            <a:ext cx="310896" cy="310896"/>
          </a:xfrm>
          <a:prstGeom prst="rect">
            <a:avLst/>
          </a:prstGeom>
        </p:spPr>
      </p:pic>
      <p:sp>
        <p:nvSpPr>
          <p:cNvPr id="31" name="Text 24"/>
          <p:cNvSpPr/>
          <p:nvPr/>
        </p:nvSpPr>
        <p:spPr>
          <a:xfrm>
            <a:off x="10131552" y="2852928"/>
            <a:ext cx="1746504" cy="219456"/>
          </a:xfrm>
          <a:prstGeom prst="rect">
            <a:avLst/>
          </a:prstGeom>
          <a:noFill/>
          <a:ln/>
        </p:spPr>
        <p:txBody>
          <a:bodyPr wrap="square" lIns="0" tIns="0" rIns="0" bIns="0" rtlCol="0" anchor="ctr">
            <a:normAutofit/>
          </a:bodyPr>
          <a:lstStyle/>
          <a:p>
            <a:pPr marL="0" indent="0" algn="ctr">
              <a:buNone/>
            </a:pPr>
            <a:r>
              <a:rPr lang="en-US" sz="970" b="1" kern="0" spc="60" dirty="0">
                <a:solidFill>
                  <a:srgbClr val="2563EB"/>
                </a:solidFill>
                <a:latin typeface="Inter" pitchFamily="34" charset="0"/>
                <a:ea typeface="Inter" pitchFamily="34" charset="-122"/>
                <a:cs typeface="Inter" pitchFamily="34" charset="-120"/>
              </a:rPr>
              <a:t>05</a:t>
            </a:r>
            <a:endParaRPr lang="en-US" sz="970" dirty="0"/>
          </a:p>
        </p:txBody>
      </p:sp>
      <p:sp>
        <p:nvSpPr>
          <p:cNvPr id="32" name="Text 25"/>
          <p:cNvSpPr/>
          <p:nvPr/>
        </p:nvSpPr>
        <p:spPr>
          <a:xfrm>
            <a:off x="10021824" y="3127248"/>
            <a:ext cx="1965960" cy="292608"/>
          </a:xfrm>
          <a:prstGeom prst="rect">
            <a:avLst/>
          </a:prstGeom>
          <a:noFill/>
          <a:ln/>
        </p:spPr>
        <p:txBody>
          <a:bodyPr wrap="square" lIns="0" tIns="0" rIns="0" bIns="0" rtlCol="0" anchor="ctr">
            <a:normAutofit/>
          </a:bodyPr>
          <a:lstStyle/>
          <a:p>
            <a:pPr marL="0" indent="0" algn="ctr">
              <a:buNone/>
            </a:pPr>
            <a:r>
              <a:rPr lang="en-US" sz="1530" b="1" dirty="0">
                <a:solidFill>
                  <a:srgbClr val="172439"/>
                </a:solidFill>
                <a:latin typeface="Inter Display" pitchFamily="34" charset="0"/>
                <a:ea typeface="Inter Display" pitchFamily="34" charset="-122"/>
                <a:cs typeface="Inter Display" pitchFamily="34" charset="-120"/>
              </a:rPr>
              <a:t>Sales</a:t>
            </a:r>
            <a:endParaRPr lang="en-US" sz="1530" dirty="0"/>
          </a:p>
        </p:txBody>
      </p:sp>
      <p:sp>
        <p:nvSpPr>
          <p:cNvPr id="33" name="Text 26"/>
          <p:cNvSpPr/>
          <p:nvPr/>
        </p:nvSpPr>
        <p:spPr>
          <a:xfrm>
            <a:off x="10003536" y="3502152"/>
            <a:ext cx="2002536" cy="310896"/>
          </a:xfrm>
          <a:prstGeom prst="rect">
            <a:avLst/>
          </a:prstGeom>
          <a:noFill/>
          <a:ln/>
        </p:spPr>
        <p:txBody>
          <a:bodyPr wrap="square" lIns="0" tIns="0" rIns="0" bIns="0" rtlCol="0" anchor="ctr">
            <a:normAutofit/>
          </a:bodyPr>
          <a:lstStyle/>
          <a:p>
            <a:pPr marL="0" indent="0" algn="ctr">
              <a:buNone/>
            </a:pPr>
            <a:r>
              <a:rPr lang="en-US" sz="1020" dirty="0">
                <a:solidFill>
                  <a:srgbClr val="677995"/>
                </a:solidFill>
                <a:latin typeface="Inter" pitchFamily="34" charset="0"/>
                <a:ea typeface="Inter" pitchFamily="34" charset="-122"/>
                <a:cs typeface="Inter" pitchFamily="34" charset="-120"/>
              </a:rPr>
              <a:t>Orders + dispatch</a:t>
            </a:r>
            <a:endParaRPr lang="en-US" sz="1020" dirty="0"/>
          </a:p>
        </p:txBody>
      </p:sp>
      <p:sp>
        <p:nvSpPr>
          <p:cNvPr id="34" name="Shape 27"/>
          <p:cNvSpPr/>
          <p:nvPr/>
        </p:nvSpPr>
        <p:spPr>
          <a:xfrm>
            <a:off x="768096" y="4160520"/>
            <a:ext cx="10744200" cy="758952"/>
          </a:xfrm>
          <a:prstGeom prst="roundRect">
            <a:avLst>
              <a:gd name="adj" fmla="val 18072"/>
            </a:avLst>
          </a:prstGeom>
          <a:solidFill>
            <a:srgbClr val="E7F6F3"/>
          </a:solidFill>
          <a:ln w="10160">
            <a:solidFill>
              <a:srgbClr val="CEEDE8"/>
            </a:solidFill>
            <a:prstDash val="solid"/>
          </a:ln>
        </p:spPr>
      </p:sp>
      <p:sp>
        <p:nvSpPr>
          <p:cNvPr id="35" name="Shape 28"/>
          <p:cNvSpPr/>
          <p:nvPr/>
        </p:nvSpPr>
        <p:spPr>
          <a:xfrm>
            <a:off x="950976" y="4379976"/>
            <a:ext cx="658368" cy="301752"/>
          </a:xfrm>
          <a:prstGeom prst="roundRect">
            <a:avLst>
              <a:gd name="adj" fmla="val 42424"/>
            </a:avLst>
          </a:prstGeom>
          <a:solidFill>
            <a:srgbClr val="214E50"/>
          </a:solidFill>
          <a:ln w="12700">
            <a:solidFill>
              <a:srgbClr val="FFFFFF">
                <a:alpha val="0"/>
              </a:srgbClr>
            </a:solidFill>
            <a:prstDash val="solid"/>
          </a:ln>
        </p:spPr>
      </p:sp>
      <p:sp>
        <p:nvSpPr>
          <p:cNvPr id="36" name="Text 29"/>
          <p:cNvSpPr/>
          <p:nvPr/>
        </p:nvSpPr>
        <p:spPr>
          <a:xfrm>
            <a:off x="1060704" y="4389120"/>
            <a:ext cx="438912" cy="283464"/>
          </a:xfrm>
          <a:prstGeom prst="rect">
            <a:avLst/>
          </a:prstGeom>
          <a:noFill/>
          <a:ln/>
        </p:spPr>
        <p:txBody>
          <a:bodyPr wrap="square" lIns="0" tIns="0" rIns="0" bIns="0" rtlCol="0" anchor="ctr">
            <a:normAutofit/>
          </a:bodyPr>
          <a:lstStyle/>
          <a:p>
            <a:pPr marL="0" indent="0" algn="l">
              <a:buNone/>
            </a:pPr>
            <a:r>
              <a:rPr lang="en-US" sz="860" b="1" kern="0" spc="55" dirty="0">
                <a:solidFill>
                  <a:srgbClr val="2CD7C4"/>
                </a:solidFill>
                <a:latin typeface="Inter" pitchFamily="34" charset="0"/>
                <a:ea typeface="Inter" pitchFamily="34" charset="-122"/>
                <a:cs typeface="Inter" pitchFamily="34" charset="-120"/>
              </a:rPr>
              <a:t>LATER</a:t>
            </a:r>
            <a:endParaRPr lang="en-US" sz="860" dirty="0"/>
          </a:p>
        </p:txBody>
      </p:sp>
      <p:sp>
        <p:nvSpPr>
          <p:cNvPr id="37" name="Text 30"/>
          <p:cNvSpPr/>
          <p:nvPr/>
        </p:nvSpPr>
        <p:spPr>
          <a:xfrm>
            <a:off x="1737360" y="4325112"/>
            <a:ext cx="9107424" cy="265176"/>
          </a:xfrm>
          <a:prstGeom prst="rect">
            <a:avLst/>
          </a:prstGeom>
          <a:noFill/>
          <a:ln/>
        </p:spPr>
        <p:txBody>
          <a:bodyPr wrap="square" lIns="0" tIns="0" rIns="0" bIns="0" rtlCol="0" anchor="ctr">
            <a:normAutofit/>
          </a:bodyPr>
          <a:lstStyle/>
          <a:p>
            <a:pPr marL="0" indent="0" algn="l">
              <a:buNone/>
            </a:pPr>
            <a:r>
              <a:rPr lang="en-US" sz="1135" b="1" dirty="0">
                <a:solidFill>
                  <a:srgbClr val="172439"/>
                </a:solidFill>
                <a:latin typeface="Inter" pitchFamily="34" charset="0"/>
                <a:ea typeface="Inter" pitchFamily="34" charset="-122"/>
                <a:cs typeface="Inter" pitchFamily="34" charset="-120"/>
              </a:rPr>
              <a:t>Shared AI foundation → Assistant → Shortage / replenishment intelligence → broader agents</a:t>
            </a:r>
            <a:endParaRPr lang="en-US" sz="1135" dirty="0"/>
          </a:p>
        </p:txBody>
      </p:sp>
      <p:sp>
        <p:nvSpPr>
          <p:cNvPr id="38" name="Text 31"/>
          <p:cNvSpPr/>
          <p:nvPr/>
        </p:nvSpPr>
        <p:spPr>
          <a:xfrm>
            <a:off x="1746504" y="4626864"/>
            <a:ext cx="8942832" cy="182880"/>
          </a:xfrm>
          <a:prstGeom prst="rect">
            <a:avLst/>
          </a:prstGeom>
          <a:noFill/>
          <a:ln/>
        </p:spPr>
        <p:txBody>
          <a:bodyPr wrap="square" lIns="0" tIns="0" rIns="0" bIns="0" rtlCol="0" anchor="ctr">
            <a:normAutofit/>
          </a:bodyPr>
          <a:lstStyle/>
          <a:p>
            <a:pPr marL="0" indent="0" algn="l">
              <a:buNone/>
            </a:pPr>
            <a:r>
              <a:rPr lang="en-US" sz="965" dirty="0">
                <a:solidFill>
                  <a:srgbClr val="677995"/>
                </a:solidFill>
                <a:latin typeface="Inter" pitchFamily="34" charset="0"/>
                <a:ea typeface="Inter" pitchFamily="34" charset="-122"/>
                <a:cs typeface="Inter" pitchFamily="34" charset="-120"/>
              </a:rPr>
              <a:t>Optional Manufacturing module is added according to readiness and subscription entitlement.</a:t>
            </a:r>
            <a:endParaRPr lang="en-US" sz="965" dirty="0"/>
          </a:p>
        </p:txBody>
      </p:sp>
      <p:sp>
        <p:nvSpPr>
          <p:cNvPr id="39" name="Shape 32"/>
          <p:cNvSpPr/>
          <p:nvPr/>
        </p:nvSpPr>
        <p:spPr>
          <a:xfrm>
            <a:off x="768096" y="5157216"/>
            <a:ext cx="3419856" cy="521208"/>
          </a:xfrm>
          <a:prstGeom prst="roundRect">
            <a:avLst>
              <a:gd name="adj" fmla="val 21053"/>
            </a:avLst>
          </a:prstGeom>
          <a:solidFill>
            <a:srgbClr val="FFFFFF"/>
          </a:solidFill>
          <a:ln w="10160">
            <a:solidFill>
              <a:srgbClr val="DFE7EF"/>
            </a:solidFill>
            <a:prstDash val="solid"/>
          </a:ln>
        </p:spPr>
      </p:sp>
      <p:pic>
        <p:nvPicPr>
          <p:cNvPr id="40" name="Image 5" descr="/mnt/data/erp_deck_assets/faCheckDouble_2CD7C4.png"/>
          <p:cNvPicPr>
            <a:picLocks noChangeAspect="1"/>
          </p:cNvPicPr>
          <p:nvPr/>
        </p:nvPicPr>
        <p:blipFill>
          <a:blip r:embed="rId8"/>
          <a:stretch>
            <a:fillRect/>
          </a:stretch>
        </p:blipFill>
        <p:spPr>
          <a:xfrm>
            <a:off x="914400" y="5312664"/>
            <a:ext cx="210312" cy="210312"/>
          </a:xfrm>
          <a:prstGeom prst="rect">
            <a:avLst/>
          </a:prstGeom>
        </p:spPr>
      </p:pic>
      <p:sp>
        <p:nvSpPr>
          <p:cNvPr id="41" name="Text 33"/>
          <p:cNvSpPr/>
          <p:nvPr/>
        </p:nvSpPr>
        <p:spPr>
          <a:xfrm>
            <a:off x="1225296" y="5266944"/>
            <a:ext cx="914400" cy="146304"/>
          </a:xfrm>
          <a:prstGeom prst="rect">
            <a:avLst/>
          </a:prstGeom>
          <a:noFill/>
          <a:ln/>
        </p:spPr>
        <p:txBody>
          <a:bodyPr wrap="square" lIns="0" tIns="0" rIns="0" bIns="0" rtlCol="0" anchor="ctr">
            <a:normAutofit/>
          </a:bodyPr>
          <a:lstStyle/>
          <a:p>
            <a:pPr marL="0" indent="0" algn="l">
              <a:buNone/>
            </a:pPr>
            <a:r>
              <a:rPr lang="en-US" sz="870" b="1" kern="0" spc="40" dirty="0">
                <a:solidFill>
                  <a:srgbClr val="2563EB"/>
                </a:solidFill>
                <a:latin typeface="Inter" pitchFamily="34" charset="0"/>
                <a:ea typeface="Inter" pitchFamily="34" charset="-122"/>
                <a:cs typeface="Inter" pitchFamily="34" charset="-120"/>
              </a:rPr>
              <a:t>SECURITY</a:t>
            </a:r>
            <a:endParaRPr lang="en-US" sz="870" dirty="0"/>
          </a:p>
        </p:txBody>
      </p:sp>
      <p:sp>
        <p:nvSpPr>
          <p:cNvPr id="42" name="Text 34"/>
          <p:cNvSpPr/>
          <p:nvPr/>
        </p:nvSpPr>
        <p:spPr>
          <a:xfrm>
            <a:off x="1225296" y="5468112"/>
            <a:ext cx="2807208" cy="173736"/>
          </a:xfrm>
          <a:prstGeom prst="rect">
            <a:avLst/>
          </a:prstGeom>
          <a:noFill/>
          <a:ln/>
        </p:spPr>
        <p:txBody>
          <a:bodyPr wrap="square" lIns="0" tIns="0" rIns="0" bIns="0" rtlCol="0" anchor="ctr">
            <a:normAutofit/>
          </a:bodyPr>
          <a:lstStyle/>
          <a:p>
            <a:pPr marL="0" indent="0" algn="l">
              <a:buNone/>
            </a:pPr>
            <a:r>
              <a:rPr lang="en-US" sz="950" dirty="0">
                <a:solidFill>
                  <a:srgbClr val="172439"/>
                </a:solidFill>
                <a:latin typeface="Inter" pitchFamily="34" charset="0"/>
                <a:ea typeface="Inter" pitchFamily="34" charset="-122"/>
                <a:cs typeface="Inter" pitchFamily="34" charset="-120"/>
              </a:rPr>
              <a:t>Tenant, company and branch isolation</a:t>
            </a:r>
            <a:endParaRPr lang="en-US" sz="950" dirty="0"/>
          </a:p>
        </p:txBody>
      </p:sp>
      <p:sp>
        <p:nvSpPr>
          <p:cNvPr id="43" name="Shape 35"/>
          <p:cNvSpPr/>
          <p:nvPr/>
        </p:nvSpPr>
        <p:spPr>
          <a:xfrm>
            <a:off x="4425696" y="5157216"/>
            <a:ext cx="3419856" cy="521208"/>
          </a:xfrm>
          <a:prstGeom prst="roundRect">
            <a:avLst>
              <a:gd name="adj" fmla="val 21053"/>
            </a:avLst>
          </a:prstGeom>
          <a:solidFill>
            <a:srgbClr val="FFFFFF"/>
          </a:solidFill>
          <a:ln w="10160">
            <a:solidFill>
              <a:srgbClr val="DFE7EF"/>
            </a:solidFill>
            <a:prstDash val="solid"/>
          </a:ln>
        </p:spPr>
      </p:sp>
      <p:pic>
        <p:nvPicPr>
          <p:cNvPr id="44" name="Image 6" descr="/mnt/data/erp_deck_assets/faCheckDouble_2CD7C4.png"/>
          <p:cNvPicPr>
            <a:picLocks noChangeAspect="1"/>
          </p:cNvPicPr>
          <p:nvPr/>
        </p:nvPicPr>
        <p:blipFill>
          <a:blip r:embed="rId8"/>
          <a:stretch>
            <a:fillRect/>
          </a:stretch>
        </p:blipFill>
        <p:spPr>
          <a:xfrm>
            <a:off x="4572000" y="5312664"/>
            <a:ext cx="210312" cy="210312"/>
          </a:xfrm>
          <a:prstGeom prst="rect">
            <a:avLst/>
          </a:prstGeom>
        </p:spPr>
      </p:pic>
      <p:sp>
        <p:nvSpPr>
          <p:cNvPr id="45" name="Text 36"/>
          <p:cNvSpPr/>
          <p:nvPr/>
        </p:nvSpPr>
        <p:spPr>
          <a:xfrm>
            <a:off x="4882896" y="5266944"/>
            <a:ext cx="914400" cy="146304"/>
          </a:xfrm>
          <a:prstGeom prst="rect">
            <a:avLst/>
          </a:prstGeom>
          <a:noFill/>
          <a:ln/>
        </p:spPr>
        <p:txBody>
          <a:bodyPr wrap="square" lIns="0" tIns="0" rIns="0" bIns="0" rtlCol="0" anchor="ctr">
            <a:normAutofit/>
          </a:bodyPr>
          <a:lstStyle/>
          <a:p>
            <a:pPr marL="0" indent="0" algn="l">
              <a:buNone/>
            </a:pPr>
            <a:r>
              <a:rPr lang="en-US" sz="870" b="1" kern="0" spc="40" dirty="0">
                <a:solidFill>
                  <a:srgbClr val="2563EB"/>
                </a:solidFill>
                <a:latin typeface="Inter" pitchFamily="34" charset="0"/>
                <a:ea typeface="Inter" pitchFamily="34" charset="-122"/>
                <a:cs typeface="Inter" pitchFamily="34" charset="-120"/>
              </a:rPr>
              <a:t>OPERATIONS</a:t>
            </a:r>
            <a:endParaRPr lang="en-US" sz="870" dirty="0"/>
          </a:p>
        </p:txBody>
      </p:sp>
      <p:sp>
        <p:nvSpPr>
          <p:cNvPr id="46" name="Text 37"/>
          <p:cNvSpPr/>
          <p:nvPr/>
        </p:nvSpPr>
        <p:spPr>
          <a:xfrm>
            <a:off x="4882896" y="5468112"/>
            <a:ext cx="2807208" cy="173736"/>
          </a:xfrm>
          <a:prstGeom prst="rect">
            <a:avLst/>
          </a:prstGeom>
          <a:noFill/>
          <a:ln/>
        </p:spPr>
        <p:txBody>
          <a:bodyPr wrap="square" lIns="0" tIns="0" rIns="0" bIns="0" rtlCol="0" anchor="ctr">
            <a:normAutofit/>
          </a:bodyPr>
          <a:lstStyle/>
          <a:p>
            <a:pPr marL="0" indent="0" algn="l">
              <a:buNone/>
            </a:pPr>
            <a:r>
              <a:rPr lang="en-US" sz="950" dirty="0">
                <a:solidFill>
                  <a:srgbClr val="172439"/>
                </a:solidFill>
                <a:latin typeface="Inter" pitchFamily="34" charset="0"/>
                <a:ea typeface="Inter" pitchFamily="34" charset="-122"/>
                <a:cs typeface="Inter" pitchFamily="34" charset="-120"/>
              </a:rPr>
              <a:t>Traceable stock, goods receipt and orders</a:t>
            </a:r>
            <a:endParaRPr lang="en-US" sz="950" dirty="0"/>
          </a:p>
        </p:txBody>
      </p:sp>
      <p:sp>
        <p:nvSpPr>
          <p:cNvPr id="47" name="Shape 38"/>
          <p:cNvSpPr/>
          <p:nvPr/>
        </p:nvSpPr>
        <p:spPr>
          <a:xfrm>
            <a:off x="8083296" y="5157216"/>
            <a:ext cx="3419856" cy="521208"/>
          </a:xfrm>
          <a:prstGeom prst="roundRect">
            <a:avLst>
              <a:gd name="adj" fmla="val 21053"/>
            </a:avLst>
          </a:prstGeom>
          <a:solidFill>
            <a:srgbClr val="FFFFFF"/>
          </a:solidFill>
          <a:ln w="10160">
            <a:solidFill>
              <a:srgbClr val="DFE7EF"/>
            </a:solidFill>
            <a:prstDash val="solid"/>
          </a:ln>
        </p:spPr>
      </p:sp>
      <p:pic>
        <p:nvPicPr>
          <p:cNvPr id="48" name="Image 7" descr="/mnt/data/erp_deck_assets/faCheckDouble_2CD7C4.png"/>
          <p:cNvPicPr>
            <a:picLocks noChangeAspect="1"/>
          </p:cNvPicPr>
          <p:nvPr/>
        </p:nvPicPr>
        <p:blipFill>
          <a:blip r:embed="rId8"/>
          <a:stretch>
            <a:fillRect/>
          </a:stretch>
        </p:blipFill>
        <p:spPr>
          <a:xfrm>
            <a:off x="8229600" y="5312664"/>
            <a:ext cx="210312" cy="210312"/>
          </a:xfrm>
          <a:prstGeom prst="rect">
            <a:avLst/>
          </a:prstGeom>
        </p:spPr>
      </p:pic>
      <p:sp>
        <p:nvSpPr>
          <p:cNvPr id="49" name="Text 39"/>
          <p:cNvSpPr/>
          <p:nvPr/>
        </p:nvSpPr>
        <p:spPr>
          <a:xfrm>
            <a:off x="8540496" y="5266944"/>
            <a:ext cx="914400" cy="146304"/>
          </a:xfrm>
          <a:prstGeom prst="rect">
            <a:avLst/>
          </a:prstGeom>
          <a:noFill/>
          <a:ln/>
        </p:spPr>
        <p:txBody>
          <a:bodyPr wrap="square" lIns="0" tIns="0" rIns="0" bIns="0" rtlCol="0" anchor="ctr">
            <a:normAutofit/>
          </a:bodyPr>
          <a:lstStyle/>
          <a:p>
            <a:pPr marL="0" indent="0" algn="l">
              <a:buNone/>
            </a:pPr>
            <a:r>
              <a:rPr lang="en-US" sz="870" b="1" kern="0" spc="40" dirty="0">
                <a:solidFill>
                  <a:srgbClr val="2563EB"/>
                </a:solidFill>
                <a:latin typeface="Inter" pitchFamily="34" charset="0"/>
                <a:ea typeface="Inter" pitchFamily="34" charset="-122"/>
                <a:cs typeface="Inter" pitchFamily="34" charset="-120"/>
              </a:rPr>
              <a:t>AI CONTROL</a:t>
            </a:r>
            <a:endParaRPr lang="en-US" sz="870" dirty="0"/>
          </a:p>
        </p:txBody>
      </p:sp>
      <p:sp>
        <p:nvSpPr>
          <p:cNvPr id="50" name="Text 40"/>
          <p:cNvSpPr/>
          <p:nvPr/>
        </p:nvSpPr>
        <p:spPr>
          <a:xfrm>
            <a:off x="8540496" y="5468112"/>
            <a:ext cx="2807208" cy="173736"/>
          </a:xfrm>
          <a:prstGeom prst="rect">
            <a:avLst/>
          </a:prstGeom>
          <a:noFill/>
          <a:ln/>
        </p:spPr>
        <p:txBody>
          <a:bodyPr wrap="square" lIns="0" tIns="0" rIns="0" bIns="0" rtlCol="0" anchor="ctr">
            <a:normAutofit/>
          </a:bodyPr>
          <a:lstStyle/>
          <a:p>
            <a:pPr marL="0" indent="0" algn="l">
              <a:buNone/>
            </a:pPr>
            <a:r>
              <a:rPr lang="en-US" sz="950" dirty="0">
                <a:solidFill>
                  <a:srgbClr val="172439"/>
                </a:solidFill>
                <a:latin typeface="Inter" pitchFamily="34" charset="0"/>
                <a:ea typeface="Inter" pitchFamily="34" charset="-122"/>
                <a:cs typeface="Inter" pitchFamily="34" charset="-120"/>
              </a:rPr>
              <a:t>Permissions and human approvals preserved</a:t>
            </a:r>
            <a:endParaRPr lang="en-US" sz="950" dirty="0"/>
          </a:p>
        </p:txBody>
      </p:sp>
      <p:sp>
        <p:nvSpPr>
          <p:cNvPr id="51" name="Shape 41"/>
          <p:cNvSpPr/>
          <p:nvPr/>
        </p:nvSpPr>
        <p:spPr>
          <a:xfrm>
            <a:off x="758952" y="5843016"/>
            <a:ext cx="10762488" cy="448056"/>
          </a:xfrm>
          <a:prstGeom prst="roundRect">
            <a:avLst>
              <a:gd name="adj" fmla="val 20408"/>
            </a:avLst>
          </a:prstGeom>
          <a:solidFill>
            <a:srgbClr val="223959"/>
          </a:solidFill>
          <a:ln w="12700">
            <a:solidFill>
              <a:srgbClr val="FFFFFF">
                <a:alpha val="0"/>
              </a:srgbClr>
            </a:solidFill>
            <a:prstDash val="solid"/>
          </a:ln>
        </p:spPr>
      </p:sp>
      <p:sp>
        <p:nvSpPr>
          <p:cNvPr id="52" name="Text 42"/>
          <p:cNvSpPr/>
          <p:nvPr/>
        </p:nvSpPr>
        <p:spPr>
          <a:xfrm>
            <a:off x="987552" y="5943600"/>
            <a:ext cx="10277856" cy="265176"/>
          </a:xfrm>
          <a:prstGeom prst="rect">
            <a:avLst/>
          </a:prstGeom>
          <a:noFill/>
          <a:ln/>
        </p:spPr>
        <p:txBody>
          <a:bodyPr wrap="square" lIns="0" tIns="0" rIns="0" bIns="0" rtlCol="0" anchor="ctr">
            <a:normAutofit/>
          </a:bodyPr>
          <a:lstStyle/>
          <a:p>
            <a:pPr marL="0" indent="0" algn="ctr">
              <a:buNone/>
            </a:pPr>
            <a:r>
              <a:rPr lang="en-US" sz="1600" b="1" dirty="0">
                <a:solidFill>
                  <a:srgbClr val="FFFFFF"/>
                </a:solidFill>
                <a:latin typeface="Inter Display" pitchFamily="34" charset="0"/>
                <a:ea typeface="Inter Display" pitchFamily="34" charset="-122"/>
                <a:cs typeface="Inter Display" pitchFamily="34" charset="-120"/>
              </a:rPr>
              <a:t>Reliable operations first. Smarter decisions next.</a:t>
            </a:r>
            <a:endParaRPr lang="en-US" sz="1600" dirty="0"/>
          </a:p>
        </p:txBody>
      </p:sp>
      <p:sp>
        <p:nvSpPr>
          <p:cNvPr id="53" name="Shape 43"/>
          <p:cNvSpPr/>
          <p:nvPr/>
        </p:nvSpPr>
        <p:spPr>
          <a:xfrm>
            <a:off x="630936" y="6473952"/>
            <a:ext cx="10936224" cy="0"/>
          </a:xfrm>
          <a:prstGeom prst="line">
            <a:avLst/>
          </a:prstGeom>
          <a:noFill/>
          <a:ln w="8255">
            <a:solidFill>
              <a:srgbClr val="DDE4EC"/>
            </a:solidFill>
            <a:prstDash val="solid"/>
          </a:ln>
        </p:spPr>
      </p:sp>
      <p:sp>
        <p:nvSpPr>
          <p:cNvPr id="54" name="Text 44"/>
          <p:cNvSpPr/>
          <p:nvPr/>
        </p:nvSpPr>
        <p:spPr>
          <a:xfrm>
            <a:off x="640080" y="6496812"/>
            <a:ext cx="9921240" cy="155448"/>
          </a:xfrm>
          <a:prstGeom prst="rect">
            <a:avLst/>
          </a:prstGeom>
          <a:noFill/>
          <a:ln/>
        </p:spPr>
        <p:txBody>
          <a:bodyPr wrap="square" lIns="0" tIns="0" rIns="0" bIns="0" rtlCol="0" anchor="ctr">
            <a:normAutofit/>
          </a:bodyPr>
          <a:lstStyle/>
          <a:p>
            <a:pPr marL="0" indent="0" algn="l">
              <a:buNone/>
            </a:pPr>
            <a:r>
              <a:rPr lang="en-US" sz="770" dirty="0">
                <a:solidFill>
                  <a:srgbClr val="8896A8"/>
                </a:solidFill>
                <a:latin typeface="Inter" pitchFamily="34" charset="0"/>
                <a:ea typeface="Inter" pitchFamily="34" charset="-122"/>
                <a:cs typeface="Inter" pitchFamily="34" charset="-120"/>
              </a:rPr>
              <a:t>Source: BRD §§11–13. Initial exclusions include finance/GL, payroll and autonomous AI execution.</a:t>
            </a:r>
            <a:endParaRPr lang="en-US" sz="770" dirty="0"/>
          </a:p>
        </p:txBody>
      </p:sp>
      <p:sp>
        <p:nvSpPr>
          <p:cNvPr id="55" name="Text 45"/>
          <p:cNvSpPr/>
          <p:nvPr/>
        </p:nvSpPr>
        <p:spPr>
          <a:xfrm>
            <a:off x="10771632" y="6496812"/>
            <a:ext cx="777240" cy="155448"/>
          </a:xfrm>
          <a:prstGeom prst="rect">
            <a:avLst/>
          </a:prstGeom>
          <a:noFill/>
          <a:ln/>
        </p:spPr>
        <p:txBody>
          <a:bodyPr wrap="square" lIns="0" tIns="0" rIns="0" bIns="0" rtlCol="0" anchor="ctr">
            <a:normAutofit/>
          </a:bodyPr>
          <a:lstStyle/>
          <a:p>
            <a:pPr marL="0" indent="0" algn="r">
              <a:buNone/>
            </a:pPr>
            <a:r>
              <a:rPr lang="en-US" sz="840" b="1" dirty="0">
                <a:solidFill>
                  <a:srgbClr val="8896A8"/>
                </a:solidFill>
                <a:latin typeface="Inter" pitchFamily="34" charset="0"/>
                <a:ea typeface="Inter" pitchFamily="34" charset="-122"/>
                <a:cs typeface="Inter" pitchFamily="34" charset="-120"/>
              </a:rPr>
              <a:t>08 / 08</a:t>
            </a:r>
            <a:endParaRPr lang="en-US" sz="84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Inter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TotalTime>
  <Words>1687</Words>
  <Application>Microsoft Office PowerPoint</Application>
  <PresentationFormat>Widescreen</PresentationFormat>
  <Paragraphs>199</Paragraphs>
  <Slides>8</Slides>
  <Notes>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Calibri</vt:lpstr>
      <vt:lpstr>Inter</vt:lpstr>
      <vt:lpstr>Inter Display</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Project Proposal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AI-Powered Multi-Tenant ERP SaaS — Concept &amp; Differentiation</dc:title>
  <dc:subject>Eight-slide presentation based on the supplied BRD and competitor USP documents</dc:subject>
  <dc:creator>OpenAI</dc:creator>
  <cp:lastModifiedBy>Ptmanathan Ratnadeepak</cp:lastModifiedBy>
  <cp:revision>10</cp:revision>
  <dcterms:created xsi:type="dcterms:W3CDTF">2026-10-15T19:19:03Z</dcterms:created>
  <dcterms:modified xsi:type="dcterms:W3CDTF">2026-10-16T05:53:43Z</dcterms:modified>
</cp:coreProperties>
</file>